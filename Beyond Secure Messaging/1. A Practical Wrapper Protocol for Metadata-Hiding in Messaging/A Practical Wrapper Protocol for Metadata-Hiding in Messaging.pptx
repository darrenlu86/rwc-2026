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514" r:id="rId3"/>
    <p:sldId id="517" r:id="rId4"/>
    <p:sldId id="510" r:id="rId5"/>
    <p:sldId id="511" r:id="rId6"/>
    <p:sldId id="504" r:id="rId7"/>
    <p:sldId id="505" r:id="rId8"/>
    <p:sldId id="441" r:id="rId9"/>
    <p:sldId id="508" r:id="rId10"/>
    <p:sldId id="513" r:id="rId11"/>
    <p:sldId id="492" r:id="rId12"/>
    <p:sldId id="495" r:id="rId13"/>
    <p:sldId id="486" r:id="rId14"/>
    <p:sldId id="518" r:id="rId15"/>
    <p:sldId id="515" r:id="rId16"/>
    <p:sldId id="484" r:id="rId17"/>
    <p:sldId id="496" r:id="rId18"/>
  </p:sldIdLst>
  <p:sldSz cx="12192000" cy="6858000"/>
  <p:notesSz cx="6858000" cy="9144000"/>
  <p:custDataLst>
    <p:tags r:id="rId2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F1C8"/>
    <a:srgbClr val="FF6C4F"/>
    <a:srgbClr val="FFFFFF"/>
    <a:srgbClr val="FF7F0E"/>
    <a:srgbClr val="A6A6A6"/>
    <a:srgbClr val="46ADEC"/>
    <a:srgbClr val="FFAC00"/>
    <a:srgbClr val="FFC000"/>
    <a:srgbClr val="F68904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6185" autoAdjust="0"/>
  </p:normalViewPr>
  <p:slideViewPr>
    <p:cSldViewPr snapToGrid="0">
      <p:cViewPr varScale="1">
        <p:scale>
          <a:sx n="56" d="100"/>
          <a:sy n="56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7B4EF3-C7E1-4D91-A283-90B11F3B85C3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3C7B2B-524A-4607-BAFF-B750359925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878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C7B2B-524A-4607-BAFF-B750359925D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06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54B4F-FDBF-AE68-68C5-6088DB90E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A37BA71-39E0-A7C4-B798-97208D5B3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061164B-E36B-9DA7-530B-011D8E3D6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Server doesn’t have key, cannot read content</a:t>
            </a:r>
          </a:p>
          <a:p>
            <a:pPr marL="171450" indent="-171450">
              <a:buFontTx/>
              <a:buChar char="-"/>
            </a:pPr>
            <a:r>
              <a:rPr lang="en-US" dirty="0"/>
              <a:t>But can: collect metadata – e.g., when ciphertext arrives, who sender/receiver, how frequent comm</a:t>
            </a:r>
          </a:p>
          <a:p>
            <a:pPr marL="171450" indent="-171450">
              <a:buFontTx/>
              <a:buChar char="-"/>
            </a:pPr>
            <a:r>
              <a:rPr lang="en-US" dirty="0"/>
              <a:t>Can already reveal personal information about the users or even about the context which users might want to keep private </a:t>
            </a:r>
            <a:r>
              <a:rPr lang="en-US" dirty="0">
                <a:sym typeface="Wingdings" panose="05000000000000000000" pitchFamily="2" charset="2"/>
              </a:rPr>
              <a:t> hide metadata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Can be information that routing protocol needs (where to forward the ciphertext to)</a:t>
            </a:r>
          </a:p>
          <a:p>
            <a:pPr marL="171450" indent="-171450">
              <a:buFontTx/>
              <a:buChar char="-"/>
            </a:pPr>
            <a:r>
              <a:rPr lang="en-US" dirty="0"/>
              <a:t>We look at metadata on c level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0B17B9-15BF-0E18-1163-EA00A2B20F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C7B2B-524A-4607-BAFF-B750359925D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59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AEABD-2DE1-2044-AC59-E8359564B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3E2AC49-34EF-9FA7-1F7E-B800D5041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AAA6BF6-FBDB-76F5-97C3-B76E67BC4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There is metadata here already </a:t>
            </a:r>
          </a:p>
          <a:p>
            <a:pPr marL="171450" indent="-171450">
              <a:buFontTx/>
              <a:buChar char="-"/>
            </a:pPr>
            <a:r>
              <a:rPr lang="en-US" dirty="0"/>
              <a:t>Illustrate: Only c (no metadata) anonymously from Alex to Blakes messenger </a:t>
            </a:r>
          </a:p>
          <a:p>
            <a:pPr marL="171450" indent="-171450">
              <a:buFontTx/>
              <a:buChar char="-"/>
            </a:pPr>
            <a:r>
              <a:rPr lang="en-US" dirty="0"/>
              <a:t>Thing: Blake has many contacts and with each of these contacts shares a different key</a:t>
            </a:r>
          </a:p>
          <a:p>
            <a:pPr marL="171450" indent="-171450">
              <a:buFontTx/>
              <a:buChar char="-"/>
            </a:pPr>
            <a:r>
              <a:rPr lang="en-US" dirty="0"/>
              <a:t>If there is no context for the ciphertext, B doesn’t know which key to use for decryption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That’s why metadata</a:t>
            </a:r>
          </a:p>
          <a:p>
            <a:pPr marL="171450" indent="-171450">
              <a:buFontTx/>
              <a:buChar char="-"/>
            </a:pPr>
            <a:r>
              <a:rPr lang="en-US" dirty="0"/>
              <a:t>Only by seeing this, the server can already infer information about the senders communication patterns</a:t>
            </a:r>
          </a:p>
          <a:p>
            <a:pPr marL="171450" indent="-171450">
              <a:buFontTx/>
              <a:buChar char="-"/>
            </a:pPr>
            <a:r>
              <a:rPr lang="en-US" dirty="0"/>
              <a:t>That’s what we want to hide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AE00123-2242-4699-0E85-A298413D41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C7B2B-524A-4607-BAFF-B750359925D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215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17D9E-A11B-27F1-9ABD-081A7807C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8D30EC4-6E60-3095-396B-CEE41D2DA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D27BA09-60A8-3734-D9E1-518674456F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Strong adversary model inspired by confidentiality guarantees of modern messengers</a:t>
            </a:r>
          </a:p>
          <a:p>
            <a:pPr marL="171450" indent="-171450">
              <a:buFontTx/>
              <a:buChar char="-"/>
            </a:pPr>
            <a:r>
              <a:rPr lang="en-US" dirty="0"/>
              <a:t>Adversary controls network</a:t>
            </a:r>
          </a:p>
          <a:p>
            <a:pPr marL="171450" indent="-171450">
              <a:buFontTx/>
              <a:buChar char="-"/>
            </a:pPr>
            <a:r>
              <a:rPr lang="en-US" dirty="0"/>
              <a:t>Temporary leak user keys modeling side channel leakage, device confiscation, malware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A2180DE-7345-D352-65FF-6AF8F02F02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C7B2B-524A-4607-BAFF-B750359925D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582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DF065-6A2C-EB8D-9BC1-7B2B2AD88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FE75182-3C2A-2792-6637-39B2C121C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B7F4A7B-89D5-3427-C059-200A62C92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This is not a static label, but new for each ciphertext (otherwise trivially determine messages sent with the same key)</a:t>
            </a:r>
          </a:p>
          <a:p>
            <a:pPr marL="171450" indent="-171450">
              <a:buFontTx/>
              <a:buChar char="-"/>
            </a:pPr>
            <a:r>
              <a:rPr lang="en-US" dirty="0"/>
              <a:t>Our approach improves on all of this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0D3152A-C7F2-95FC-6AE2-5F5577D63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C7B2B-524A-4607-BAFF-B750359925D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6903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BACF8-C4DE-32BF-F8F1-2C3AC082A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29F32DE-3C66-56D3-D287-460EB4E43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460592B-12B5-9BC4-BE4C-A2617CE3F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Idea is to wrap ciphertext and metadata of underlying messaging protocol to make the resulting ciphertext anonymous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2186ED0-EF70-50F7-920F-46CA65CF2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C7B2B-524A-4607-BAFF-B750359925D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0774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A0A0C-51F3-BEC0-7E25-FB6677D66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86C37DD-1D2D-9CA3-2968-55EC0CB5C4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90F49DD-C3AB-8B6A-293A-017718246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Matches sender keys:</a:t>
            </a:r>
          </a:p>
          <a:p>
            <a:pPr marL="171450" indent="-171450">
              <a:buFontTx/>
              <a:buChar char="-"/>
            </a:pPr>
            <a:r>
              <a:rPr lang="en-US" dirty="0"/>
              <a:t>Produces a constant-size ciphertext for the group</a:t>
            </a:r>
          </a:p>
          <a:p>
            <a:pPr marL="171450" indent="-171450">
              <a:buFontTx/>
              <a:buChar char="-"/>
            </a:pPr>
            <a:r>
              <a:rPr lang="en-US" dirty="0"/>
              <a:t>(have a chain of symmetric keys for the entire group, don’t need to encrypt for each member individually)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A52A97-472D-2142-A4DE-88586E1AED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C7B2B-524A-4607-BAFF-B750359925D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664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D38A8-179B-AE93-8423-5F78E91DF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CEFD7F1-B09A-6329-2276-8E1F9F574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B9C85DD-4644-B0F7-08F9-F2E2D1BCD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5CA7D4C-20F1-A269-7D27-9C8AC308B0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C7B2B-524A-4607-BAFF-B750359925D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7428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76148-C015-8F5F-4100-DA617E07F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4D5A48D-C7C6-2811-E996-87F4100BD5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DC9F3BC-EEA0-DE83-E8F8-E51172826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AD11FF-A265-9D76-9922-E30DFF234A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C7B2B-524A-4607-BAFF-B750359925D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6968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F50E0-A5B5-CA80-7E26-2475BB755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BB5219B-8E1A-21E5-3457-841B9FBF1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E5037C0-FB69-1A73-D52B-A219212D4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F5F739B-4882-3E1F-F02E-DC79C4DA1B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C7B2B-524A-4607-BAFF-B750359925D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3105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D82BF-39A5-D95A-7978-004D9387F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D4BEC6C-8E2C-75BF-5972-A5DD24D31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79CDC45-031F-205B-503E-2E4F554DE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B4C310E-2B4B-4E99-CBC2-1F583F5CA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C7B2B-524A-4607-BAFF-B750359925D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0646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F14D1-C96D-A181-6920-F8C3ADE77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A006235-E4D7-C95E-2B2D-EDD3ACD3D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315A17B-187D-DCB2-F739-6FE946E9E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A493B3-D2F8-565E-7355-80660AE649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C7B2B-524A-4607-BAFF-B750359925D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6200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C1B20-37C7-7953-20EE-582407BEF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E07D4FC-6B3B-E14D-A75B-71E694E8F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F2F47D6-9C4D-2E34-1E02-EA9DCF2CA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Keep skipped key (must)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if ahead key comes in?</a:t>
            </a:r>
          </a:p>
          <a:p>
            <a:pPr marL="171450" indent="-171450">
              <a:buFontTx/>
              <a:buChar char="-"/>
            </a:pPr>
            <a:r>
              <a:rPr lang="en-US" dirty="0"/>
              <a:t>Can trial derive</a:t>
            </a:r>
          </a:p>
          <a:p>
            <a:pPr marL="171450" indent="-171450">
              <a:buFontTx/>
              <a:buChar char="-"/>
            </a:pPr>
            <a:r>
              <a:rPr lang="en-US" dirty="0"/>
              <a:t>But this opens door for DoS</a:t>
            </a:r>
          </a:p>
          <a:p>
            <a:pPr marL="171450" indent="-171450">
              <a:buFontTx/>
              <a:buChar char="-"/>
            </a:pPr>
            <a:r>
              <a:rPr lang="en-US" dirty="0"/>
              <a:t>Thus: pre-compute tags</a:t>
            </a:r>
          </a:p>
          <a:p>
            <a:pPr marL="171450" indent="-171450">
              <a:buFontTx/>
              <a:buChar char="-"/>
            </a:pPr>
            <a:r>
              <a:rPr lang="en-US" dirty="0"/>
              <a:t>This is responsible for the large storage</a:t>
            </a:r>
          </a:p>
          <a:p>
            <a:pPr marL="171450" indent="-171450">
              <a:buFontTx/>
              <a:buChar char="-"/>
            </a:pPr>
            <a:r>
              <a:rPr lang="en-US" dirty="0"/>
              <a:t>Make this more efficient? Decide on incoming whether the ciphertext should be receivable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EDAD951-51F0-D29B-8697-C87AE4203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C7B2B-524A-4607-BAFF-B750359925D1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8408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C8AB1-DD40-E712-9B49-EA8F88201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FF895DF-E540-9790-2B93-504E1D496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D9FB760-F368-4C8E-C586-603FCAFDD5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For each potential sender a chain key</a:t>
            </a:r>
          </a:p>
          <a:p>
            <a:pPr marL="171450" indent="-171450">
              <a:buFontTx/>
              <a:buChar char="-"/>
            </a:pPr>
            <a:r>
              <a:rPr lang="en-US" dirty="0"/>
              <a:t>1000 users: 2 million key computations</a:t>
            </a:r>
          </a:p>
          <a:p>
            <a:pPr marL="171450" indent="-171450">
              <a:buFontTx/>
              <a:buChar char="-"/>
            </a:pPr>
            <a:r>
              <a:rPr lang="en-US" dirty="0"/>
              <a:t>Add visual to show there is one chain key per user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Keep skipped key (must)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if ahead key comes in?</a:t>
            </a:r>
          </a:p>
          <a:p>
            <a:pPr marL="171450" indent="-171450">
              <a:buFontTx/>
              <a:buChar char="-"/>
            </a:pPr>
            <a:r>
              <a:rPr lang="en-US" dirty="0"/>
              <a:t>Can trial derive</a:t>
            </a:r>
          </a:p>
          <a:p>
            <a:pPr marL="171450" indent="-171450">
              <a:buFontTx/>
              <a:buChar char="-"/>
            </a:pPr>
            <a:r>
              <a:rPr lang="en-US" dirty="0"/>
              <a:t>But this opens door for DoS</a:t>
            </a:r>
          </a:p>
          <a:p>
            <a:pPr marL="171450" indent="-171450">
              <a:buFontTx/>
              <a:buChar char="-"/>
            </a:pPr>
            <a:r>
              <a:rPr lang="en-US" dirty="0"/>
              <a:t>Thus: pre-compute tags</a:t>
            </a:r>
          </a:p>
          <a:p>
            <a:pPr marL="171450" indent="-171450">
              <a:buFontTx/>
              <a:buChar char="-"/>
            </a:pPr>
            <a:r>
              <a:rPr lang="en-US" dirty="0"/>
              <a:t>This is responsible for the large storage</a:t>
            </a:r>
          </a:p>
          <a:p>
            <a:pPr marL="171450" indent="-171450">
              <a:buFontTx/>
              <a:buChar char="-"/>
            </a:pPr>
            <a:r>
              <a:rPr lang="en-US" dirty="0"/>
              <a:t>Make this more efficient? Decide on incoming whether the ciphertext should be receivable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AA4637B-AB50-7CFA-C705-908995E2CD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C7B2B-524A-4607-BAFF-B750359925D1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6348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50AFA-662B-E055-326E-E0582B105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6573971-5D63-9366-8751-8D7EAFDC1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8B0F069-F646-1FA7-2549-9C5BD44D1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For which user is the tag receivable is the question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If it is positive, know how to proceed</a:t>
            </a:r>
          </a:p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6859D36-D2AF-DF0F-0E65-62BA90C499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C7B2B-524A-4607-BAFF-B750359925D1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1364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CFFD0-B1B1-17F4-61FA-6D96E286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2ED5644-6F26-3CEC-1090-3777F2D15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735531B-F42B-05ED-9A8E-E1D687258D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20E7DD-53E9-9926-3D23-673AB6334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C7B2B-524A-4607-BAFF-B750359925D1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5319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08597-2A39-70FB-4B7D-0558E21B8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2430335-BEC0-D818-576C-1C9DA81D18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8E9FD79-F6EC-EB96-87D8-355348F30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0C3AFBF-4A0E-F1CA-A998-95CEF752AE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C7B2B-524A-4607-BAFF-B750359925D1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37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3DF396-0F20-5BCC-602E-3B41932D0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C79FA10-251B-A3E1-B48B-66249CC23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820E20-4300-A963-864C-FE997462F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C7583-CB26-49E2-AC58-AB582FF84D10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095501-C423-2B38-C4A4-101380317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F49231-CB97-C87D-4B94-434F19AFF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2496-7381-4690-96BF-C723469386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0940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62E15F-C97B-B282-8AAE-DDEC93904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8D3491-2FF9-BE8E-9BB3-A7AB18031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58AB39-EC3E-4AED-36E4-AC7744BDA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C7583-CB26-49E2-AC58-AB582FF84D10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08F6F5-1721-96C5-8114-704CB24D7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1AA1A6-AF1C-531F-CB42-810ACD4D2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75319"/>
            <a:ext cx="2743200" cy="365125"/>
          </a:xfrm>
        </p:spPr>
        <p:txBody>
          <a:bodyPr/>
          <a:lstStyle>
            <a:lvl1pPr>
              <a:defRPr sz="1600"/>
            </a:lvl1pPr>
          </a:lstStyle>
          <a:p>
            <a:fld id="{36952496-7381-4690-96BF-C7234693860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1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B08F79-AFA7-29FF-615E-2A65B3B16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7A4C0ED-C596-77F2-A594-6B377688A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F7B561F-088E-85AF-E301-5E582B96E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C7583-CB26-49E2-AC58-AB582FF84D10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610F12-13FC-54D2-FCDD-2F865433F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4E24DD-63EA-6EBF-F076-F39851354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2496-7381-4690-96BF-C723469386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7514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7CBF97-ED15-905F-770B-A90030E10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15CEC3-772C-0996-AB1B-AC9DE51E53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07CC4AB-9B7B-7F8B-B586-3E5C72B9E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F39093D-D5A7-BA71-B92A-57985AB97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C7583-CB26-49E2-AC58-AB582FF84D10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88432C5-C986-3E7B-E307-0176789CC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E7B27A2-653E-D814-EA4F-549536CEA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2496-7381-4690-96BF-C723469386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4147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AF8497-07CE-2021-7765-F9370581D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22AF5D-2D58-1681-F341-6FCCDF2E4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9DF1EC5-9D06-4CD4-95B9-CD9541D8B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5B72F10-AB04-B05F-78E9-4E13BF973A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D28078B-0AB3-4683-D74F-28C5ACBB17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59473DA-6714-3330-85ED-58C05D7E6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C7583-CB26-49E2-AC58-AB582FF84D10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212F6D3-AA86-65CD-5453-17041F1EF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73B5AF6-4443-FF82-AD1A-13A58A4D8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2496-7381-4690-96BF-C723469386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4486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FFE6AB-B5F1-9B9D-395F-35D74858D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166FE13-A767-5E05-6F68-D62CFB82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C7583-CB26-49E2-AC58-AB582FF84D10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1CE9C40-6608-46B9-33CE-77D11495F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1D3C1C-5BD4-54AF-1389-C30CED5F5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2496-7381-4690-96BF-C723469386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6263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5A396C2-BF04-0916-C176-D45489DB5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C7583-CB26-49E2-AC58-AB582FF84D10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5EB6BE4-F710-D1D6-B5AF-8850E70FA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1AB51D6-ACF3-4FB3-B566-912FF001F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2496-7381-4690-96BF-C723469386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6651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E43AE0-9DE4-07A0-5852-E6DCBB9BC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D64277-349C-547D-C2B8-999B96B29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C1587A-ADC6-F124-3CF3-112C01A401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108BF41-98A3-E0E6-2985-F2A12BDB2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C7583-CB26-49E2-AC58-AB582FF84D10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CFCF2B2-220D-73EB-04EA-617D63D8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A0AF83D-0D83-BDBB-1881-F72933694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2496-7381-4690-96BF-C723469386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5999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95B2E-022C-A082-D1C9-DE9AE190A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F27B1AE-87AE-C14D-66C8-31F27CE4AE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F4B4077-9A1E-7636-268B-3A4532045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F3A0EE4-66F5-68BA-4A7D-6E47EC01A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C7583-CB26-49E2-AC58-AB582FF84D10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344FD6-3A79-3A75-581A-2492D07F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50CDB54-A1C8-B114-D835-ACCEFB19F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2496-7381-4690-96BF-C723469386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7224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5AE360-93DC-EFBD-C3DD-BD3B9F6B5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D4523DA-5BD5-D5DA-11B1-FB7498755C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54717F-0FFE-6C81-8C1E-5F06C0F8F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C7583-CB26-49E2-AC58-AB582FF84D10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143782-6306-726F-01CC-B0E69496C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7CB8BD-C019-0F05-2E86-E7700B14D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2496-7381-4690-96BF-C723469386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8520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CE5671D-577B-0946-1043-0E309465EF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A465E2D-7B8E-3F0B-EECE-69E62DF124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DC9E02-0A27-B747-B7DD-39349AB05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C7583-CB26-49E2-AC58-AB582FF84D10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11AAF3-807D-55C2-DB76-1E288296D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111644-861D-08D0-1691-BCF44125F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2496-7381-4690-96BF-C723469386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082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6D08A65-7427-6EC2-CA48-582466989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1C1E96-1C19-6F9E-FCA0-A04AE8F29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689A4A-85D2-A9D1-9BA6-81171F4CA4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C7583-CB26-49E2-AC58-AB582FF84D10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E299DE-3D2A-39D3-8EF7-ADCD452041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F1BDD5-3C05-567D-F325-D86F4CEEF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952496-7381-4690-96BF-C723469386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1739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4.pn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16.svg"/><Relationship Id="rId5" Type="http://schemas.openxmlformats.org/officeDocument/2006/relationships/image" Target="../media/image3.png"/><Relationship Id="rId10" Type="http://schemas.openxmlformats.org/officeDocument/2006/relationships/image" Target="../media/image15.pn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5.svg"/><Relationship Id="rId5" Type="http://schemas.openxmlformats.org/officeDocument/2006/relationships/image" Target="../media/image3.png"/><Relationship Id="rId10" Type="http://schemas.openxmlformats.org/officeDocument/2006/relationships/image" Target="../media/image4.png"/><Relationship Id="rId4" Type="http://schemas.openxmlformats.org/officeDocument/2006/relationships/image" Target="../media/image2.svg"/><Relationship Id="rId9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5.svg"/><Relationship Id="rId5" Type="http://schemas.openxmlformats.org/officeDocument/2006/relationships/image" Target="../media/image3.png"/><Relationship Id="rId10" Type="http://schemas.openxmlformats.org/officeDocument/2006/relationships/image" Target="../media/image4.png"/><Relationship Id="rId4" Type="http://schemas.openxmlformats.org/officeDocument/2006/relationships/image" Target="../media/image2.svg"/><Relationship Id="rId9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26" Type="http://schemas.openxmlformats.org/officeDocument/2006/relationships/image" Target="../media/image50.png"/><Relationship Id="rId21" Type="http://schemas.openxmlformats.org/officeDocument/2006/relationships/image" Target="../media/image45.png"/><Relationship Id="rId7" Type="http://schemas.openxmlformats.org/officeDocument/2006/relationships/image" Target="../media/image31.png"/><Relationship Id="rId12" Type="http://schemas.openxmlformats.org/officeDocument/2006/relationships/image" Target="../media/image23.png"/><Relationship Id="rId17" Type="http://schemas.openxmlformats.org/officeDocument/2006/relationships/image" Target="../media/image41.png"/><Relationship Id="rId25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29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5.png"/><Relationship Id="rId24" Type="http://schemas.openxmlformats.org/officeDocument/2006/relationships/image" Target="../media/image48.png"/><Relationship Id="rId32" Type="http://schemas.openxmlformats.org/officeDocument/2006/relationships/image" Target="../media/image7.sv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28" Type="http://schemas.openxmlformats.org/officeDocument/2006/relationships/image" Target="../media/image52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31" Type="http://schemas.openxmlformats.org/officeDocument/2006/relationships/image" Target="../media/image6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Relationship Id="rId22" Type="http://schemas.openxmlformats.org/officeDocument/2006/relationships/image" Target="../media/image19.png"/><Relationship Id="rId27" Type="http://schemas.openxmlformats.org/officeDocument/2006/relationships/image" Target="../media/image51.png"/><Relationship Id="rId30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13" Type="http://schemas.openxmlformats.org/officeDocument/2006/relationships/image" Target="../media/image26.png"/><Relationship Id="rId18" Type="http://schemas.openxmlformats.org/officeDocument/2006/relationships/image" Target="../media/image5.svg"/><Relationship Id="rId3" Type="http://schemas.openxmlformats.org/officeDocument/2006/relationships/image" Target="../media/image140.png"/><Relationship Id="rId21" Type="http://schemas.openxmlformats.org/officeDocument/2006/relationships/image" Target="../media/image30.png"/><Relationship Id="rId7" Type="http://schemas.openxmlformats.org/officeDocument/2006/relationships/image" Target="../media/image18.png"/><Relationship Id="rId12" Type="http://schemas.openxmlformats.org/officeDocument/2006/relationships/image" Target="../media/image24.png"/><Relationship Id="rId17" Type="http://schemas.openxmlformats.org/officeDocument/2006/relationships/image" Target="../media/image4.png"/><Relationship Id="rId25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9.png"/><Relationship Id="rId20" Type="http://schemas.openxmlformats.org/officeDocument/2006/relationships/image" Target="../media/image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11" Type="http://schemas.openxmlformats.org/officeDocument/2006/relationships/image" Target="../media/image21.png"/><Relationship Id="rId24" Type="http://schemas.openxmlformats.org/officeDocument/2006/relationships/image" Target="../media/image46.png"/><Relationship Id="rId5" Type="http://schemas.openxmlformats.org/officeDocument/2006/relationships/image" Target="../media/image16.pn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19" Type="http://schemas.openxmlformats.org/officeDocument/2006/relationships/image" Target="../media/image6.png"/><Relationship Id="rId4" Type="http://schemas.openxmlformats.org/officeDocument/2006/relationships/image" Target="../media/image150.png"/><Relationship Id="rId9" Type="http://schemas.openxmlformats.org/officeDocument/2006/relationships/image" Target="../media/image20.png"/><Relationship Id="rId14" Type="http://schemas.openxmlformats.org/officeDocument/2006/relationships/image" Target="../media/image27.png"/><Relationship Id="rId22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4.png"/><Relationship Id="rId18" Type="http://schemas.openxmlformats.org/officeDocument/2006/relationships/image" Target="../media/image63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1.png"/><Relationship Id="rId17" Type="http://schemas.openxmlformats.org/officeDocument/2006/relationships/image" Target="../media/image62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0.png"/><Relationship Id="rId5" Type="http://schemas.openxmlformats.org/officeDocument/2006/relationships/image" Target="../media/image55.png"/><Relationship Id="rId15" Type="http://schemas.openxmlformats.org/officeDocument/2006/relationships/image" Target="../media/image6.png"/><Relationship Id="rId10" Type="http://schemas.openxmlformats.org/officeDocument/2006/relationships/image" Target="../media/image19.png"/><Relationship Id="rId19" Type="http://schemas.openxmlformats.org/officeDocument/2006/relationships/image" Target="../media/image64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6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6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7" Type="http://schemas.openxmlformats.org/officeDocument/2006/relationships/image" Target="../media/image6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19.png"/><Relationship Id="rId4" Type="http://schemas.openxmlformats.org/officeDocument/2006/relationships/image" Target="../media/image1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76.png"/><Relationship Id="rId5" Type="http://schemas.openxmlformats.org/officeDocument/2006/relationships/image" Target="../media/image72.png"/><Relationship Id="rId10" Type="http://schemas.openxmlformats.org/officeDocument/2006/relationships/image" Target="../media/image63.svg"/><Relationship Id="rId4" Type="http://schemas.openxmlformats.org/officeDocument/2006/relationships/image" Target="../media/image71.png"/><Relationship Id="rId9" Type="http://schemas.openxmlformats.org/officeDocument/2006/relationships/image" Target="../media/image6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5.png"/><Relationship Id="rId3" Type="http://schemas.openxmlformats.org/officeDocument/2006/relationships/image" Target="../media/image62.png"/><Relationship Id="rId7" Type="http://schemas.openxmlformats.org/officeDocument/2006/relationships/image" Target="../media/image72.png"/><Relationship Id="rId12" Type="http://schemas.openxmlformats.org/officeDocument/2006/relationships/image" Target="../media/image7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11" Type="http://schemas.openxmlformats.org/officeDocument/2006/relationships/image" Target="../media/image78.png"/><Relationship Id="rId5" Type="http://schemas.openxmlformats.org/officeDocument/2006/relationships/image" Target="../media/image70.png"/><Relationship Id="rId15" Type="http://schemas.openxmlformats.org/officeDocument/2006/relationships/image" Target="../media/image81.png"/><Relationship Id="rId10" Type="http://schemas.openxmlformats.org/officeDocument/2006/relationships/image" Target="../media/image77.png"/><Relationship Id="rId4" Type="http://schemas.openxmlformats.org/officeDocument/2006/relationships/image" Target="../media/image63.svg"/><Relationship Id="rId9" Type="http://schemas.openxmlformats.org/officeDocument/2006/relationships/image" Target="../media/image74.png"/><Relationship Id="rId14" Type="http://schemas.openxmlformats.org/officeDocument/2006/relationships/image" Target="../media/image8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13" Type="http://schemas.openxmlformats.org/officeDocument/2006/relationships/image" Target="../media/image122.png"/><Relationship Id="rId3" Type="http://schemas.openxmlformats.org/officeDocument/2006/relationships/image" Target="../media/image62.png"/><Relationship Id="rId7" Type="http://schemas.openxmlformats.org/officeDocument/2006/relationships/image" Target="../media/image128.png"/><Relationship Id="rId12" Type="http://schemas.openxmlformats.org/officeDocument/2006/relationships/image" Target="../media/image121.png"/><Relationship Id="rId17" Type="http://schemas.openxmlformats.org/officeDocument/2006/relationships/image" Target="../media/image127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20.png"/><Relationship Id="rId5" Type="http://schemas.openxmlformats.org/officeDocument/2006/relationships/image" Target="../media/image118.png"/><Relationship Id="rId15" Type="http://schemas.openxmlformats.org/officeDocument/2006/relationships/image" Target="../media/image125.png"/><Relationship Id="rId10" Type="http://schemas.openxmlformats.org/officeDocument/2006/relationships/image" Target="../media/image611.png"/><Relationship Id="rId4" Type="http://schemas.openxmlformats.org/officeDocument/2006/relationships/image" Target="../media/image63.svg"/><Relationship Id="rId9" Type="http://schemas.openxmlformats.org/officeDocument/2006/relationships/image" Target="../media/image131.png"/><Relationship Id="rId14" Type="http://schemas.openxmlformats.org/officeDocument/2006/relationships/image" Target="../media/image12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0.png"/><Relationship Id="rId13" Type="http://schemas.openxmlformats.org/officeDocument/2006/relationships/image" Target="../media/image19.png"/><Relationship Id="rId18" Type="http://schemas.openxmlformats.org/officeDocument/2006/relationships/image" Target="../media/image820.png"/><Relationship Id="rId3" Type="http://schemas.openxmlformats.org/officeDocument/2006/relationships/image" Target="../media/image82.png"/><Relationship Id="rId21" Type="http://schemas.openxmlformats.org/officeDocument/2006/relationships/image" Target="../media/image63.svg"/><Relationship Id="rId7" Type="http://schemas.openxmlformats.org/officeDocument/2006/relationships/image" Target="../media/image720.png"/><Relationship Id="rId12" Type="http://schemas.openxmlformats.org/officeDocument/2006/relationships/image" Target="../media/image770.png"/><Relationship Id="rId17" Type="http://schemas.openxmlformats.org/officeDocument/2006/relationships/image" Target="../media/image85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84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0.png"/><Relationship Id="rId11" Type="http://schemas.openxmlformats.org/officeDocument/2006/relationships/image" Target="../media/image760.png"/><Relationship Id="rId5" Type="http://schemas.openxmlformats.org/officeDocument/2006/relationships/image" Target="../media/image700.png"/><Relationship Id="rId15" Type="http://schemas.openxmlformats.org/officeDocument/2006/relationships/image" Target="../media/image83.png"/><Relationship Id="rId10" Type="http://schemas.openxmlformats.org/officeDocument/2006/relationships/image" Target="../media/image750.png"/><Relationship Id="rId19" Type="http://schemas.openxmlformats.org/officeDocument/2006/relationships/image" Target="../media/image830.png"/><Relationship Id="rId4" Type="http://schemas.openxmlformats.org/officeDocument/2006/relationships/image" Target="../media/image690.png"/><Relationship Id="rId9" Type="http://schemas.openxmlformats.org/officeDocument/2006/relationships/image" Target="../media/image740.png"/><Relationship Id="rId14" Type="http://schemas.openxmlformats.org/officeDocument/2006/relationships/image" Target="../media/image7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A3D5A2-187A-86E7-8108-E0A4D112A3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748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de-DE" dirty="0"/>
              <a:t>A </a:t>
            </a:r>
            <a:r>
              <a:rPr lang="de-DE" dirty="0" err="1"/>
              <a:t>Practical</a:t>
            </a:r>
            <a:r>
              <a:rPr lang="de-DE" dirty="0"/>
              <a:t> Wrapper Protocol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Metadata-Hiding</a:t>
            </a:r>
            <a:r>
              <a:rPr lang="de-DE" dirty="0"/>
              <a:t> in Messaging </a:t>
            </a:r>
            <a:endParaRPr lang="en-US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7386B5C-A527-C421-3185-CE5551E404FB}"/>
              </a:ext>
            </a:extLst>
          </p:cNvPr>
          <p:cNvSpPr txBox="1"/>
          <p:nvPr/>
        </p:nvSpPr>
        <p:spPr>
          <a:xfrm>
            <a:off x="-525481" y="3390083"/>
            <a:ext cx="45274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u="sng" dirty="0"/>
              <a:t>Lea Thiemt</a:t>
            </a:r>
          </a:p>
          <a:p>
            <a:pPr algn="ctr"/>
            <a:r>
              <a:rPr lang="en-US" sz="2400" dirty="0"/>
              <a:t>FAU Erlangen-Nürnberg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C907415-0F87-B6C1-F8A6-673F951530C4}"/>
              </a:ext>
            </a:extLst>
          </p:cNvPr>
          <p:cNvSpPr txBox="1"/>
          <p:nvPr/>
        </p:nvSpPr>
        <p:spPr>
          <a:xfrm>
            <a:off x="2585852" y="3390083"/>
            <a:ext cx="60979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Paul Rösler</a:t>
            </a:r>
          </a:p>
          <a:p>
            <a:pPr algn="ctr"/>
            <a:r>
              <a:rPr lang="en-US" sz="2400" dirty="0"/>
              <a:t>FAU Erlangen-Nürnberg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C66F2C7-CFF7-C459-8014-E2D43D61C9B3}"/>
              </a:ext>
            </a:extLst>
          </p:cNvPr>
          <p:cNvSpPr txBox="1"/>
          <p:nvPr/>
        </p:nvSpPr>
        <p:spPr>
          <a:xfrm>
            <a:off x="7664533" y="3390083"/>
            <a:ext cx="45274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Alexander Bienstock</a:t>
            </a:r>
          </a:p>
          <a:p>
            <a:pPr algn="ctr"/>
            <a:r>
              <a:rPr lang="en-US" sz="2400" dirty="0"/>
              <a:t>J.P. Morgan AI Research and J.P.</a:t>
            </a:r>
          </a:p>
          <a:p>
            <a:pPr algn="ctr"/>
            <a:r>
              <a:rPr lang="en-US" sz="2400" dirty="0"/>
              <a:t>Morgan </a:t>
            </a:r>
            <a:r>
              <a:rPr lang="en-US" sz="2400" dirty="0" err="1"/>
              <a:t>AlgoCRYPT</a:t>
            </a:r>
            <a:r>
              <a:rPr lang="en-US" sz="2400" dirty="0"/>
              <a:t> </a:t>
            </a:r>
            <a:r>
              <a:rPr lang="en-US" sz="2400" dirty="0" err="1"/>
              <a:t>CoE</a:t>
            </a:r>
            <a:endParaRPr lang="en-US" sz="24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2013E86-AB60-4DB9-9C2C-19822ADA981D}"/>
              </a:ext>
            </a:extLst>
          </p:cNvPr>
          <p:cNvSpPr txBox="1"/>
          <p:nvPr/>
        </p:nvSpPr>
        <p:spPr>
          <a:xfrm>
            <a:off x="507670" y="5135412"/>
            <a:ext cx="60979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Rolfe Schmidt</a:t>
            </a:r>
          </a:p>
          <a:p>
            <a:pPr algn="ctr"/>
            <a:r>
              <a:rPr lang="en-US" sz="2400" dirty="0"/>
              <a:t>Signal Messenger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FAA40C0-22DF-BDF5-F467-A43B405A932E}"/>
              </a:ext>
            </a:extLst>
          </p:cNvPr>
          <p:cNvSpPr txBox="1"/>
          <p:nvPr/>
        </p:nvSpPr>
        <p:spPr>
          <a:xfrm>
            <a:off x="5180610" y="5135412"/>
            <a:ext cx="60979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Yevgeniy </a:t>
            </a:r>
            <a:r>
              <a:rPr lang="en-US" sz="2400" dirty="0" err="1"/>
              <a:t>Dodis</a:t>
            </a:r>
            <a:endParaRPr lang="en-US" sz="2400" dirty="0"/>
          </a:p>
          <a:p>
            <a:pPr algn="ctr"/>
            <a:r>
              <a:rPr lang="en-US" sz="2400" dirty="0"/>
              <a:t>New York University</a:t>
            </a:r>
          </a:p>
        </p:txBody>
      </p:sp>
    </p:spTree>
    <p:extLst>
      <p:ext uri="{BB962C8B-B14F-4D97-AF65-F5344CB8AC3E}">
        <p14:creationId xmlns:p14="http://schemas.microsoft.com/office/powerpoint/2010/main" val="1611359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FDC95-4A87-A671-FA7A-42C6C5382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rafik 77">
            <a:extLst>
              <a:ext uri="{FF2B5EF4-FFF2-40B4-BE49-F238E27FC236}">
                <a16:creationId xmlns:a16="http://schemas.microsoft.com/office/drawing/2014/main" id="{DA1247EF-55BA-ECC6-C3CC-C42B6C3C48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34505" y="2964044"/>
            <a:ext cx="1762232" cy="1762232"/>
          </a:xfrm>
          <a:prstGeom prst="rect">
            <a:avLst/>
          </a:prstGeom>
        </p:spPr>
      </p:pic>
      <p:pic>
        <p:nvPicPr>
          <p:cNvPr id="75" name="Grafik 74">
            <a:extLst>
              <a:ext uri="{FF2B5EF4-FFF2-40B4-BE49-F238E27FC236}">
                <a16:creationId xmlns:a16="http://schemas.microsoft.com/office/drawing/2014/main" id="{D79378BE-F161-3A78-CB61-736382FAE1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09" y="2964044"/>
            <a:ext cx="1762232" cy="176223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37072DA-B82A-A027-87BB-88AB740DE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9"/>
            <a:ext cx="10515600" cy="1325563"/>
          </a:xfrm>
        </p:spPr>
        <p:txBody>
          <a:bodyPr/>
          <a:lstStyle/>
          <a:p>
            <a:r>
              <a:rPr lang="en-US" dirty="0"/>
              <a:t>Online Messaging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F521DCF-95DA-BB2C-AAA7-16666E73F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21BE-5AB5-4051-B4BD-CDC64C855B3D}" type="slidenum">
              <a:rPr lang="en-US" smtClean="0"/>
              <a:t>2</a:t>
            </a:fld>
            <a:endParaRPr lang="en-US" dirty="0"/>
          </a:p>
        </p:txBody>
      </p:sp>
      <p:pic>
        <p:nvPicPr>
          <p:cNvPr id="6" name="Grafik 5" descr="Ein Bild, das Metallwaren, Schlüssel enthält.&#10;&#10;Automatisch generierte Beschreibung">
            <a:extLst>
              <a:ext uri="{FF2B5EF4-FFF2-40B4-BE49-F238E27FC236}">
                <a16:creationId xmlns:a16="http://schemas.microsoft.com/office/drawing/2014/main" id="{0727892C-1C9C-6C59-8AB9-C5F268E520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5563" y="3845160"/>
            <a:ext cx="422013" cy="422013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8F87DB6E-1301-2D19-6F64-961B23C241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93556" y="1711952"/>
            <a:ext cx="1224554" cy="1224554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B8FFBE2F-25CE-21C2-9431-976547C5323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0287" y="1577401"/>
            <a:ext cx="1288864" cy="1288864"/>
          </a:xfrm>
          <a:prstGeom prst="rect">
            <a:avLst/>
          </a:prstGeom>
        </p:spPr>
      </p:pic>
      <p:sp>
        <p:nvSpPr>
          <p:cNvPr id="23" name="Ellipse 22">
            <a:extLst>
              <a:ext uri="{FF2B5EF4-FFF2-40B4-BE49-F238E27FC236}">
                <a16:creationId xmlns:a16="http://schemas.microsoft.com/office/drawing/2014/main" id="{2849F24F-408B-ABA2-43D7-BCC80CCC3126}"/>
              </a:ext>
            </a:extLst>
          </p:cNvPr>
          <p:cNvSpPr/>
          <p:nvPr/>
        </p:nvSpPr>
        <p:spPr>
          <a:xfrm>
            <a:off x="4641130" y="3379612"/>
            <a:ext cx="430240" cy="67437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7931188-989B-670E-1353-A60B6177301D}"/>
              </a:ext>
            </a:extLst>
          </p:cNvPr>
          <p:cNvSpPr/>
          <p:nvPr/>
        </p:nvSpPr>
        <p:spPr>
          <a:xfrm>
            <a:off x="3886619" y="3379612"/>
            <a:ext cx="995047" cy="6743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E40C95DB-807D-4346-4E8A-6D0C42690726}"/>
              </a:ext>
            </a:extLst>
          </p:cNvPr>
          <p:cNvSpPr/>
          <p:nvPr/>
        </p:nvSpPr>
        <p:spPr>
          <a:xfrm>
            <a:off x="3706064" y="3379612"/>
            <a:ext cx="430240" cy="67437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5F88CEE4-6AB6-3A73-5566-2EB480638070}"/>
              </a:ext>
            </a:extLst>
          </p:cNvPr>
          <p:cNvSpPr txBox="1"/>
          <p:nvPr/>
        </p:nvSpPr>
        <p:spPr>
          <a:xfrm>
            <a:off x="500608" y="3365039"/>
            <a:ext cx="914400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Hi, Blake!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078434DF-0902-E318-1F1B-B7A402914DCD}"/>
              </a:ext>
            </a:extLst>
          </p:cNvPr>
          <p:cNvSpPr txBox="1"/>
          <p:nvPr/>
        </p:nvSpPr>
        <p:spPr>
          <a:xfrm>
            <a:off x="5469464" y="3365039"/>
            <a:ext cx="1246444" cy="7078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5f8ac9134d</a:t>
            </a:r>
            <a:endParaRPr lang="en-US" sz="2000" dirty="0"/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D874CAA7-8A12-8071-D539-5062FC773DC9}"/>
              </a:ext>
            </a:extLst>
          </p:cNvPr>
          <p:cNvCxnSpPr>
            <a:cxnSpLocks/>
          </p:cNvCxnSpPr>
          <p:nvPr/>
        </p:nvCxnSpPr>
        <p:spPr>
          <a:xfrm>
            <a:off x="1527428" y="3716797"/>
            <a:ext cx="729184" cy="1293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DF069DED-827B-6795-F820-060FF99C0B56}"/>
              </a:ext>
            </a:extLst>
          </p:cNvPr>
          <p:cNvSpPr txBox="1"/>
          <p:nvPr/>
        </p:nvSpPr>
        <p:spPr>
          <a:xfrm>
            <a:off x="1518227" y="3349650"/>
            <a:ext cx="724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Enc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95ABE2C8-E468-73E2-C203-8C17E2EA4974}"/>
              </a:ext>
            </a:extLst>
          </p:cNvPr>
          <p:cNvSpPr/>
          <p:nvPr/>
        </p:nvSpPr>
        <p:spPr>
          <a:xfrm>
            <a:off x="5279760" y="1212851"/>
            <a:ext cx="1630096" cy="31780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C119C7A8-F51C-9F54-16EE-C9595D899B39}"/>
              </a:ext>
            </a:extLst>
          </p:cNvPr>
          <p:cNvCxnSpPr>
            <a:cxnSpLocks/>
            <a:endCxn id="8" idx="6"/>
          </p:cNvCxnSpPr>
          <p:nvPr/>
        </p:nvCxnSpPr>
        <p:spPr>
          <a:xfrm>
            <a:off x="3615728" y="3716797"/>
            <a:ext cx="520576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BE74006C-BA44-1BA4-536F-00DFB7FD8564}"/>
              </a:ext>
            </a:extLst>
          </p:cNvPr>
          <p:cNvCxnSpPr>
            <a:cxnSpLocks/>
          </p:cNvCxnSpPr>
          <p:nvPr/>
        </p:nvCxnSpPr>
        <p:spPr>
          <a:xfrm flipV="1">
            <a:off x="5082709" y="3716797"/>
            <a:ext cx="287900" cy="892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Ellipse 49">
            <a:extLst>
              <a:ext uri="{FF2B5EF4-FFF2-40B4-BE49-F238E27FC236}">
                <a16:creationId xmlns:a16="http://schemas.microsoft.com/office/drawing/2014/main" id="{39CB8E82-F0F5-6620-490A-26B0824538A2}"/>
              </a:ext>
            </a:extLst>
          </p:cNvPr>
          <p:cNvSpPr/>
          <p:nvPr/>
        </p:nvSpPr>
        <p:spPr>
          <a:xfrm>
            <a:off x="8003780" y="3381797"/>
            <a:ext cx="430240" cy="67437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23C851E6-2A65-18AB-5F6F-C002561CA775}"/>
              </a:ext>
            </a:extLst>
          </p:cNvPr>
          <p:cNvSpPr/>
          <p:nvPr/>
        </p:nvSpPr>
        <p:spPr>
          <a:xfrm>
            <a:off x="7180747" y="3381797"/>
            <a:ext cx="1061820" cy="6743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27375154-2C8C-8714-8E78-52AB1F87F816}"/>
              </a:ext>
            </a:extLst>
          </p:cNvPr>
          <p:cNvSpPr/>
          <p:nvPr/>
        </p:nvSpPr>
        <p:spPr>
          <a:xfrm>
            <a:off x="7000191" y="3381797"/>
            <a:ext cx="430240" cy="67437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48608A35-8AB6-F721-2DEC-328EB71C6151}"/>
              </a:ext>
            </a:extLst>
          </p:cNvPr>
          <p:cNvCxnSpPr>
            <a:cxnSpLocks/>
            <a:endCxn id="52" idx="6"/>
          </p:cNvCxnSpPr>
          <p:nvPr/>
        </p:nvCxnSpPr>
        <p:spPr>
          <a:xfrm flipV="1">
            <a:off x="6828328" y="3718982"/>
            <a:ext cx="602103" cy="892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5BBE4783-53F8-EE08-1340-4D94F1AB8B5F}"/>
              </a:ext>
            </a:extLst>
          </p:cNvPr>
          <p:cNvCxnSpPr>
            <a:cxnSpLocks/>
          </p:cNvCxnSpPr>
          <p:nvPr/>
        </p:nvCxnSpPr>
        <p:spPr>
          <a:xfrm>
            <a:off x="8434020" y="3719874"/>
            <a:ext cx="310013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Grafik 56" descr="Ein Bild, das Metallwaren, Schlüssel enthält.&#10;&#10;Automatisch generierte Beschreibung">
            <a:extLst>
              <a:ext uri="{FF2B5EF4-FFF2-40B4-BE49-F238E27FC236}">
                <a16:creationId xmlns:a16="http://schemas.microsoft.com/office/drawing/2014/main" id="{7234FFAB-840C-2C72-5E19-AD404C5707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9746" y="3845160"/>
            <a:ext cx="422013" cy="422013"/>
          </a:xfrm>
          <a:prstGeom prst="rect">
            <a:avLst/>
          </a:prstGeom>
        </p:spPr>
      </p:pic>
      <p:sp>
        <p:nvSpPr>
          <p:cNvPr id="59" name="Textfeld 58">
            <a:extLst>
              <a:ext uri="{FF2B5EF4-FFF2-40B4-BE49-F238E27FC236}">
                <a16:creationId xmlns:a16="http://schemas.microsoft.com/office/drawing/2014/main" id="{A3F43D24-393E-061A-B64D-5DFE75F256DF}"/>
              </a:ext>
            </a:extLst>
          </p:cNvPr>
          <p:cNvSpPr txBox="1"/>
          <p:nvPr/>
        </p:nvSpPr>
        <p:spPr>
          <a:xfrm>
            <a:off x="10958421" y="3365039"/>
            <a:ext cx="914400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Hi, Blake!</a:t>
            </a:r>
          </a:p>
        </p:txBody>
      </p: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14B77B15-0A88-68BF-9C80-6696FBF264AF}"/>
              </a:ext>
            </a:extLst>
          </p:cNvPr>
          <p:cNvCxnSpPr>
            <a:cxnSpLocks/>
          </p:cNvCxnSpPr>
          <p:nvPr/>
        </p:nvCxnSpPr>
        <p:spPr>
          <a:xfrm flipV="1">
            <a:off x="10122634" y="3716797"/>
            <a:ext cx="737001" cy="3077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56358082-7A24-A0DF-0619-97281CA2A9A9}"/>
              </a:ext>
            </a:extLst>
          </p:cNvPr>
          <p:cNvSpPr txBox="1"/>
          <p:nvPr/>
        </p:nvSpPr>
        <p:spPr>
          <a:xfrm>
            <a:off x="10172410" y="3349650"/>
            <a:ext cx="724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</a:t>
            </a:r>
          </a:p>
        </p:txBody>
      </p:sp>
      <p:sp>
        <p:nvSpPr>
          <p:cNvPr id="62" name="Textfeld 61" hidden="1">
            <a:extLst>
              <a:ext uri="{FF2B5EF4-FFF2-40B4-BE49-F238E27FC236}">
                <a16:creationId xmlns:a16="http://schemas.microsoft.com/office/drawing/2014/main" id="{635629A8-5022-B18E-42A3-22A584B39403}"/>
              </a:ext>
            </a:extLst>
          </p:cNvPr>
          <p:cNvSpPr txBox="1"/>
          <p:nvPr/>
        </p:nvSpPr>
        <p:spPr>
          <a:xfrm>
            <a:off x="5469463" y="2348484"/>
            <a:ext cx="1246443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/>
              <a:t>Header:</a:t>
            </a:r>
          </a:p>
          <a:p>
            <a:pPr algn="ctr"/>
            <a:r>
              <a:rPr lang="pt-BR" sz="2000" dirty="0"/>
              <a:t>Seq.Num</a:t>
            </a:r>
          </a:p>
          <a:p>
            <a:pPr algn="ctr"/>
            <a:r>
              <a:rPr lang="pt-BR" sz="2000" dirty="0"/>
              <a:t>ID...</a:t>
            </a:r>
            <a:endParaRPr lang="en-US" sz="2000" dirty="0"/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013387D7-80B6-EF61-896A-18F929C2C150}"/>
              </a:ext>
            </a:extLst>
          </p:cNvPr>
          <p:cNvSpPr txBox="1"/>
          <p:nvPr/>
        </p:nvSpPr>
        <p:spPr>
          <a:xfrm>
            <a:off x="2287584" y="3365039"/>
            <a:ext cx="1246444" cy="7078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5f8ac9134d</a:t>
            </a:r>
            <a:endParaRPr lang="en-US" sz="2000" dirty="0"/>
          </a:p>
        </p:txBody>
      </p:sp>
      <p:sp>
        <p:nvSpPr>
          <p:cNvPr id="64" name="Textfeld 63" hidden="1">
            <a:extLst>
              <a:ext uri="{FF2B5EF4-FFF2-40B4-BE49-F238E27FC236}">
                <a16:creationId xmlns:a16="http://schemas.microsoft.com/office/drawing/2014/main" id="{798DBE23-5EED-CAF3-895A-78D891AB0F74}"/>
              </a:ext>
            </a:extLst>
          </p:cNvPr>
          <p:cNvSpPr txBox="1"/>
          <p:nvPr/>
        </p:nvSpPr>
        <p:spPr>
          <a:xfrm>
            <a:off x="2287583" y="2348484"/>
            <a:ext cx="1246443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/>
              <a:t>Header:</a:t>
            </a:r>
          </a:p>
          <a:p>
            <a:pPr algn="ctr"/>
            <a:r>
              <a:rPr lang="pt-BR" sz="2000" dirty="0"/>
              <a:t>Seq.Num</a:t>
            </a:r>
          </a:p>
          <a:p>
            <a:pPr algn="ctr"/>
            <a:r>
              <a:rPr lang="pt-BR" sz="2000" dirty="0"/>
              <a:t>ID...</a:t>
            </a:r>
            <a:endParaRPr lang="en-US" sz="2000" dirty="0"/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5D608DE6-6AAC-08B5-F61A-984064C3012D}"/>
              </a:ext>
            </a:extLst>
          </p:cNvPr>
          <p:cNvSpPr txBox="1"/>
          <p:nvPr/>
        </p:nvSpPr>
        <p:spPr>
          <a:xfrm>
            <a:off x="8795144" y="3365039"/>
            <a:ext cx="1246444" cy="7078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5f8ac9134d</a:t>
            </a:r>
            <a:endParaRPr lang="en-US" sz="2000" dirty="0"/>
          </a:p>
        </p:txBody>
      </p:sp>
      <p:sp>
        <p:nvSpPr>
          <p:cNvPr id="66" name="Textfeld 65" hidden="1">
            <a:extLst>
              <a:ext uri="{FF2B5EF4-FFF2-40B4-BE49-F238E27FC236}">
                <a16:creationId xmlns:a16="http://schemas.microsoft.com/office/drawing/2014/main" id="{7AC52417-C491-1854-E1A3-8BD5F7BA8F36}"/>
              </a:ext>
            </a:extLst>
          </p:cNvPr>
          <p:cNvSpPr txBox="1"/>
          <p:nvPr/>
        </p:nvSpPr>
        <p:spPr>
          <a:xfrm>
            <a:off x="8795143" y="2348484"/>
            <a:ext cx="1246443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/>
              <a:t>Header:</a:t>
            </a:r>
          </a:p>
          <a:p>
            <a:pPr algn="ctr"/>
            <a:r>
              <a:rPr lang="pt-BR" sz="2000" dirty="0"/>
              <a:t>Seq.Num</a:t>
            </a:r>
          </a:p>
          <a:p>
            <a:pPr algn="ctr"/>
            <a:r>
              <a:rPr lang="pt-BR" sz="2000" dirty="0"/>
              <a:t>ID...</a:t>
            </a:r>
            <a:endParaRPr lang="en-US" sz="2000" dirty="0"/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8EE1619B-763B-0D34-726B-3C311D0E2DDB}"/>
              </a:ext>
            </a:extLst>
          </p:cNvPr>
          <p:cNvSpPr txBox="1"/>
          <p:nvPr/>
        </p:nvSpPr>
        <p:spPr>
          <a:xfrm>
            <a:off x="5624337" y="897097"/>
            <a:ext cx="936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Server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48AF91B0-8FEF-6048-3C19-A42EF750D892}"/>
              </a:ext>
            </a:extLst>
          </p:cNvPr>
          <p:cNvSpPr txBox="1"/>
          <p:nvPr/>
        </p:nvSpPr>
        <p:spPr>
          <a:xfrm>
            <a:off x="4180245" y="3531239"/>
            <a:ext cx="724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TLS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310003EF-FEC2-2978-551B-AD4BA6C2E816}"/>
              </a:ext>
            </a:extLst>
          </p:cNvPr>
          <p:cNvSpPr txBox="1"/>
          <p:nvPr/>
        </p:nvSpPr>
        <p:spPr>
          <a:xfrm>
            <a:off x="7526276" y="3533424"/>
            <a:ext cx="724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TLS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CE583CA-BA79-65FF-BBA3-256DC66B87AA}"/>
              </a:ext>
            </a:extLst>
          </p:cNvPr>
          <p:cNvSpPr txBox="1"/>
          <p:nvPr/>
        </p:nvSpPr>
        <p:spPr>
          <a:xfrm>
            <a:off x="2287584" y="2348722"/>
            <a:ext cx="1246443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/>
              <a:t>Header:</a:t>
            </a:r>
          </a:p>
          <a:p>
            <a:pPr algn="ctr"/>
            <a:r>
              <a:rPr lang="pt-BR" sz="2000" dirty="0"/>
              <a:t>Seq.Num</a:t>
            </a:r>
          </a:p>
          <a:p>
            <a:pPr algn="ctr"/>
            <a:r>
              <a:rPr lang="pt-BR" sz="2000" dirty="0"/>
              <a:t>ID...</a:t>
            </a:r>
            <a:endParaRPr lang="en-US" sz="200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3C85D83-78A1-AD69-21D3-28122C505E2E}"/>
              </a:ext>
            </a:extLst>
          </p:cNvPr>
          <p:cNvSpPr txBox="1"/>
          <p:nvPr/>
        </p:nvSpPr>
        <p:spPr>
          <a:xfrm>
            <a:off x="8795144" y="2348722"/>
            <a:ext cx="1246443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/>
              <a:t>Header:</a:t>
            </a:r>
          </a:p>
          <a:p>
            <a:pPr algn="ctr"/>
            <a:r>
              <a:rPr lang="pt-BR" sz="2000" dirty="0"/>
              <a:t>Seq.Num</a:t>
            </a:r>
          </a:p>
          <a:p>
            <a:pPr algn="ctr"/>
            <a:r>
              <a:rPr lang="pt-BR" sz="2000" dirty="0"/>
              <a:t>ID...</a:t>
            </a:r>
            <a:endParaRPr lang="en-US" sz="2000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80CCE07-2E25-9202-46F9-1416A3998FA2}"/>
              </a:ext>
            </a:extLst>
          </p:cNvPr>
          <p:cNvSpPr txBox="1"/>
          <p:nvPr/>
        </p:nvSpPr>
        <p:spPr>
          <a:xfrm>
            <a:off x="2287584" y="1332732"/>
            <a:ext cx="1246443" cy="1015663"/>
          </a:xfrm>
          <a:prstGeom prst="rect">
            <a:avLst/>
          </a:prstGeom>
          <a:solidFill>
            <a:srgbClr val="C2F1C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/>
              <a:t>TransportHeader:</a:t>
            </a:r>
          </a:p>
          <a:p>
            <a:pPr algn="ctr"/>
            <a:r>
              <a:rPr lang="en-US" sz="2000" dirty="0" err="1"/>
              <a:t>src,dst</a:t>
            </a:r>
            <a:r>
              <a:rPr lang="en-US" sz="2000" dirty="0"/>
              <a:t>…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5C68848-6D53-8A40-36EB-610BC7B702D3}"/>
              </a:ext>
            </a:extLst>
          </p:cNvPr>
          <p:cNvSpPr txBox="1"/>
          <p:nvPr/>
        </p:nvSpPr>
        <p:spPr>
          <a:xfrm>
            <a:off x="8795144" y="1332732"/>
            <a:ext cx="1246443" cy="1015663"/>
          </a:xfrm>
          <a:prstGeom prst="rect">
            <a:avLst/>
          </a:prstGeom>
          <a:solidFill>
            <a:srgbClr val="C2F1C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/>
              <a:t>TransportHeader:</a:t>
            </a:r>
          </a:p>
          <a:p>
            <a:pPr algn="ctr"/>
            <a:r>
              <a:rPr lang="en-US" sz="2000" dirty="0" err="1"/>
              <a:t>src,dst</a:t>
            </a:r>
            <a:r>
              <a:rPr lang="en-US" sz="2000" dirty="0"/>
              <a:t>…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F96739C3-FFBA-C6C0-15F6-4D2C31EE8FC1}"/>
              </a:ext>
            </a:extLst>
          </p:cNvPr>
          <p:cNvSpPr txBox="1"/>
          <p:nvPr/>
        </p:nvSpPr>
        <p:spPr>
          <a:xfrm>
            <a:off x="5469465" y="2348722"/>
            <a:ext cx="1246443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/>
              <a:t>Header:</a:t>
            </a:r>
          </a:p>
          <a:p>
            <a:pPr algn="ctr"/>
            <a:r>
              <a:rPr lang="pt-BR" sz="2000" dirty="0"/>
              <a:t>Seq.Num</a:t>
            </a:r>
          </a:p>
          <a:p>
            <a:pPr algn="ctr"/>
            <a:r>
              <a:rPr lang="pt-BR" sz="2000" dirty="0"/>
              <a:t>ID...</a:t>
            </a:r>
            <a:endParaRPr lang="en-US" sz="20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6A31F82B-DBD9-E710-E7C7-19E867CE950A}"/>
              </a:ext>
            </a:extLst>
          </p:cNvPr>
          <p:cNvSpPr txBox="1"/>
          <p:nvPr/>
        </p:nvSpPr>
        <p:spPr>
          <a:xfrm>
            <a:off x="5469465" y="1332732"/>
            <a:ext cx="1246443" cy="1015663"/>
          </a:xfrm>
          <a:prstGeom prst="rect">
            <a:avLst/>
          </a:prstGeom>
          <a:solidFill>
            <a:srgbClr val="C2F1C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/>
              <a:t>TransportHeader:</a:t>
            </a:r>
          </a:p>
          <a:p>
            <a:pPr algn="ctr"/>
            <a:r>
              <a:rPr lang="en-US" sz="2000" dirty="0" err="1"/>
              <a:t>src,dst</a:t>
            </a:r>
            <a:r>
              <a:rPr lang="en-US" sz="20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0684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9" grpId="0" animBg="1"/>
      <p:bldP spid="8" grpId="0" animBg="1"/>
      <p:bldP spid="28" grpId="0" animBg="1"/>
      <p:bldP spid="35" grpId="0"/>
      <p:bldP spid="37" grpId="0" animBg="1"/>
      <p:bldP spid="50" grpId="0" animBg="1"/>
      <p:bldP spid="51" grpId="0" animBg="1"/>
      <p:bldP spid="52" grpId="0" animBg="1"/>
      <p:bldP spid="61" grpId="0"/>
      <p:bldP spid="62" grpId="0" animBg="1"/>
      <p:bldP spid="63" grpId="0" animBg="1"/>
      <p:bldP spid="64" grpId="0" animBg="1"/>
      <p:bldP spid="65" grpId="0" animBg="1"/>
      <p:bldP spid="66" grpId="0" animBg="1"/>
      <p:bldP spid="67" grpId="0"/>
      <p:bldP spid="69" grpId="0"/>
      <p:bldP spid="71" grpId="0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2AF69-0D3C-371E-2E58-81149BC54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rafik 77">
            <a:extLst>
              <a:ext uri="{FF2B5EF4-FFF2-40B4-BE49-F238E27FC236}">
                <a16:creationId xmlns:a16="http://schemas.microsoft.com/office/drawing/2014/main" id="{A08AFD6C-0CB4-BAD2-94C5-67199D7304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34505" y="2964044"/>
            <a:ext cx="1762232" cy="1762232"/>
          </a:xfrm>
          <a:prstGeom prst="rect">
            <a:avLst/>
          </a:prstGeom>
        </p:spPr>
      </p:pic>
      <p:pic>
        <p:nvPicPr>
          <p:cNvPr id="75" name="Grafik 74">
            <a:extLst>
              <a:ext uri="{FF2B5EF4-FFF2-40B4-BE49-F238E27FC236}">
                <a16:creationId xmlns:a16="http://schemas.microsoft.com/office/drawing/2014/main" id="{7FB63415-C6E4-77E9-0F9E-B7735D9764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09" y="2964044"/>
            <a:ext cx="1762232" cy="176223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408AB17-4FB4-9734-0A07-828C043AC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9"/>
            <a:ext cx="10515600" cy="1325563"/>
          </a:xfrm>
        </p:spPr>
        <p:txBody>
          <a:bodyPr/>
          <a:lstStyle/>
          <a:p>
            <a:r>
              <a:rPr lang="en-US" dirty="0"/>
              <a:t>Online Messaging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297C5C0-9257-A7CA-75CD-13F095F1F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21BE-5AB5-4051-B4BD-CDC64C855B3D}" type="slidenum">
              <a:rPr lang="en-US" smtClean="0"/>
              <a:t>3</a:t>
            </a:fld>
            <a:endParaRPr lang="en-US" dirty="0"/>
          </a:p>
        </p:txBody>
      </p:sp>
      <p:pic>
        <p:nvPicPr>
          <p:cNvPr id="6" name="Grafik 5" descr="Ein Bild, das Metallwaren, Schlüssel enthält.&#10;&#10;Automatisch generierte Beschreibung">
            <a:extLst>
              <a:ext uri="{FF2B5EF4-FFF2-40B4-BE49-F238E27FC236}">
                <a16:creationId xmlns:a16="http://schemas.microsoft.com/office/drawing/2014/main" id="{F2E3630E-DF79-AD03-5559-F37DFADC89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5563" y="3845160"/>
            <a:ext cx="422013" cy="422013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50446B79-606B-3D97-2309-3B3A61C54C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93556" y="1711952"/>
            <a:ext cx="1224554" cy="1224554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A84FC064-FB09-03B6-7BDB-773E9E9ECF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0287" y="1577401"/>
            <a:ext cx="1288864" cy="1288864"/>
          </a:xfrm>
          <a:prstGeom prst="rect">
            <a:avLst/>
          </a:prstGeom>
        </p:spPr>
      </p:pic>
      <p:sp>
        <p:nvSpPr>
          <p:cNvPr id="23" name="Ellipse 22">
            <a:extLst>
              <a:ext uri="{FF2B5EF4-FFF2-40B4-BE49-F238E27FC236}">
                <a16:creationId xmlns:a16="http://schemas.microsoft.com/office/drawing/2014/main" id="{142B3FC2-96F7-9E6F-572B-F1BA393CDD1F}"/>
              </a:ext>
            </a:extLst>
          </p:cNvPr>
          <p:cNvSpPr/>
          <p:nvPr/>
        </p:nvSpPr>
        <p:spPr>
          <a:xfrm>
            <a:off x="4641130" y="3379612"/>
            <a:ext cx="430240" cy="67437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003B866-FC77-4F3C-6FB6-69B18E311861}"/>
              </a:ext>
            </a:extLst>
          </p:cNvPr>
          <p:cNvSpPr/>
          <p:nvPr/>
        </p:nvSpPr>
        <p:spPr>
          <a:xfrm>
            <a:off x="3886619" y="3379612"/>
            <a:ext cx="995047" cy="6743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BDD324A6-E37B-69C4-CC8D-1816A898C88A}"/>
              </a:ext>
            </a:extLst>
          </p:cNvPr>
          <p:cNvSpPr/>
          <p:nvPr/>
        </p:nvSpPr>
        <p:spPr>
          <a:xfrm>
            <a:off x="3706064" y="3379612"/>
            <a:ext cx="430240" cy="67437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C8D5F325-54FE-22CF-520E-5C7343363451}"/>
              </a:ext>
            </a:extLst>
          </p:cNvPr>
          <p:cNvSpPr txBox="1"/>
          <p:nvPr/>
        </p:nvSpPr>
        <p:spPr>
          <a:xfrm>
            <a:off x="500608" y="3365039"/>
            <a:ext cx="914400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Hi, Blake!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4FB842D5-8970-4170-56A7-A48F9EEBD08A}"/>
              </a:ext>
            </a:extLst>
          </p:cNvPr>
          <p:cNvSpPr txBox="1"/>
          <p:nvPr/>
        </p:nvSpPr>
        <p:spPr>
          <a:xfrm>
            <a:off x="5469464" y="3365039"/>
            <a:ext cx="1246444" cy="7078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5f8ac9134d</a:t>
            </a:r>
            <a:endParaRPr lang="en-US" sz="2000" dirty="0"/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068BBF33-4C77-3E96-2C0D-C3E99C2888D1}"/>
              </a:ext>
            </a:extLst>
          </p:cNvPr>
          <p:cNvCxnSpPr>
            <a:cxnSpLocks/>
          </p:cNvCxnSpPr>
          <p:nvPr/>
        </p:nvCxnSpPr>
        <p:spPr>
          <a:xfrm>
            <a:off x="1527428" y="3716797"/>
            <a:ext cx="729184" cy="1293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846CAF14-5088-ECE3-1767-0B2C8309D086}"/>
              </a:ext>
            </a:extLst>
          </p:cNvPr>
          <p:cNvSpPr txBox="1"/>
          <p:nvPr/>
        </p:nvSpPr>
        <p:spPr>
          <a:xfrm>
            <a:off x="1518227" y="3349650"/>
            <a:ext cx="724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Enc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E14E7AFF-65EE-3D50-E0EB-06E49EA98270}"/>
              </a:ext>
            </a:extLst>
          </p:cNvPr>
          <p:cNvSpPr/>
          <p:nvPr/>
        </p:nvSpPr>
        <p:spPr>
          <a:xfrm>
            <a:off x="5279760" y="1212851"/>
            <a:ext cx="1630096" cy="31780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846F9550-AAAF-B813-9D52-1748C2E0D7E4}"/>
              </a:ext>
            </a:extLst>
          </p:cNvPr>
          <p:cNvSpPr/>
          <p:nvPr/>
        </p:nvSpPr>
        <p:spPr>
          <a:xfrm>
            <a:off x="8003780" y="3381797"/>
            <a:ext cx="430240" cy="67437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FD68DD06-CAFB-6634-0EC3-CA64D410E35E}"/>
              </a:ext>
            </a:extLst>
          </p:cNvPr>
          <p:cNvSpPr/>
          <p:nvPr/>
        </p:nvSpPr>
        <p:spPr>
          <a:xfrm>
            <a:off x="7180747" y="3381797"/>
            <a:ext cx="1061820" cy="6743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8951EB36-0696-5607-868F-71FE6651A319}"/>
              </a:ext>
            </a:extLst>
          </p:cNvPr>
          <p:cNvSpPr/>
          <p:nvPr/>
        </p:nvSpPr>
        <p:spPr>
          <a:xfrm>
            <a:off x="7000191" y="3381797"/>
            <a:ext cx="430240" cy="67437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Grafik 56" descr="Ein Bild, das Metallwaren, Schlüssel enthält.&#10;&#10;Automatisch generierte Beschreibung">
            <a:extLst>
              <a:ext uri="{FF2B5EF4-FFF2-40B4-BE49-F238E27FC236}">
                <a16:creationId xmlns:a16="http://schemas.microsoft.com/office/drawing/2014/main" id="{8D6D305A-F592-AD79-3C77-4A6DAF6A1D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9746" y="3845160"/>
            <a:ext cx="422013" cy="422013"/>
          </a:xfrm>
          <a:prstGeom prst="rect">
            <a:avLst/>
          </a:prstGeom>
        </p:spPr>
      </p:pic>
      <p:sp>
        <p:nvSpPr>
          <p:cNvPr id="59" name="Textfeld 58">
            <a:extLst>
              <a:ext uri="{FF2B5EF4-FFF2-40B4-BE49-F238E27FC236}">
                <a16:creationId xmlns:a16="http://schemas.microsoft.com/office/drawing/2014/main" id="{14EB2987-E4C9-BDD5-F8A5-4C8C59A56B01}"/>
              </a:ext>
            </a:extLst>
          </p:cNvPr>
          <p:cNvSpPr txBox="1"/>
          <p:nvPr/>
        </p:nvSpPr>
        <p:spPr>
          <a:xfrm>
            <a:off x="10958421" y="3365039"/>
            <a:ext cx="914400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Hi, Blake!</a:t>
            </a:r>
          </a:p>
        </p:txBody>
      </p: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64A13EF9-1303-B0C8-CE60-CFFDB4DA16F3}"/>
              </a:ext>
            </a:extLst>
          </p:cNvPr>
          <p:cNvCxnSpPr>
            <a:cxnSpLocks/>
          </p:cNvCxnSpPr>
          <p:nvPr/>
        </p:nvCxnSpPr>
        <p:spPr>
          <a:xfrm flipV="1">
            <a:off x="10122634" y="3716797"/>
            <a:ext cx="737001" cy="3077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168D7E2B-32A8-E71B-8A2F-C96698FF2B90}"/>
              </a:ext>
            </a:extLst>
          </p:cNvPr>
          <p:cNvSpPr txBox="1"/>
          <p:nvPr/>
        </p:nvSpPr>
        <p:spPr>
          <a:xfrm>
            <a:off x="10172410" y="3349650"/>
            <a:ext cx="724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</a:t>
            </a:r>
          </a:p>
        </p:txBody>
      </p:sp>
      <p:sp>
        <p:nvSpPr>
          <p:cNvPr id="62" name="Textfeld 61" hidden="1">
            <a:extLst>
              <a:ext uri="{FF2B5EF4-FFF2-40B4-BE49-F238E27FC236}">
                <a16:creationId xmlns:a16="http://schemas.microsoft.com/office/drawing/2014/main" id="{C890FFAB-4876-0E28-7DE1-5B91E351DCF8}"/>
              </a:ext>
            </a:extLst>
          </p:cNvPr>
          <p:cNvSpPr txBox="1"/>
          <p:nvPr/>
        </p:nvSpPr>
        <p:spPr>
          <a:xfrm>
            <a:off x="5469463" y="2348484"/>
            <a:ext cx="1246443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/>
              <a:t>Header:</a:t>
            </a:r>
          </a:p>
          <a:p>
            <a:pPr algn="ctr"/>
            <a:r>
              <a:rPr lang="pt-BR" sz="2000" dirty="0"/>
              <a:t>Seq.Num</a:t>
            </a:r>
          </a:p>
          <a:p>
            <a:pPr algn="ctr"/>
            <a:r>
              <a:rPr lang="pt-BR" sz="2000" dirty="0"/>
              <a:t>ID...</a:t>
            </a:r>
            <a:endParaRPr lang="en-US" sz="2000" dirty="0"/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B8B00302-1D51-670E-D849-77D035E55FAA}"/>
              </a:ext>
            </a:extLst>
          </p:cNvPr>
          <p:cNvSpPr txBox="1"/>
          <p:nvPr/>
        </p:nvSpPr>
        <p:spPr>
          <a:xfrm>
            <a:off x="2287584" y="3365039"/>
            <a:ext cx="1246444" cy="7078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5f8ac9134d</a:t>
            </a:r>
            <a:endParaRPr lang="en-US" sz="2000" dirty="0"/>
          </a:p>
        </p:txBody>
      </p:sp>
      <p:sp>
        <p:nvSpPr>
          <p:cNvPr id="64" name="Textfeld 63" hidden="1">
            <a:extLst>
              <a:ext uri="{FF2B5EF4-FFF2-40B4-BE49-F238E27FC236}">
                <a16:creationId xmlns:a16="http://schemas.microsoft.com/office/drawing/2014/main" id="{663F4664-65FF-0699-DF6D-87FF675DE8A3}"/>
              </a:ext>
            </a:extLst>
          </p:cNvPr>
          <p:cNvSpPr txBox="1"/>
          <p:nvPr/>
        </p:nvSpPr>
        <p:spPr>
          <a:xfrm>
            <a:off x="2287583" y="2348484"/>
            <a:ext cx="1246443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/>
              <a:t>Header:</a:t>
            </a:r>
          </a:p>
          <a:p>
            <a:pPr algn="ctr"/>
            <a:r>
              <a:rPr lang="pt-BR" sz="2000" dirty="0"/>
              <a:t>Seq.Num</a:t>
            </a:r>
          </a:p>
          <a:p>
            <a:pPr algn="ctr"/>
            <a:r>
              <a:rPr lang="pt-BR" sz="2000" dirty="0"/>
              <a:t>ID...</a:t>
            </a:r>
            <a:endParaRPr lang="en-US" sz="2000" dirty="0"/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5C8AC2A6-8F2D-08C7-456D-57525CEA4C01}"/>
              </a:ext>
            </a:extLst>
          </p:cNvPr>
          <p:cNvSpPr txBox="1"/>
          <p:nvPr/>
        </p:nvSpPr>
        <p:spPr>
          <a:xfrm>
            <a:off x="8795144" y="3365039"/>
            <a:ext cx="1246444" cy="7078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5f8ac9134d</a:t>
            </a:r>
            <a:endParaRPr lang="en-US" sz="2000" dirty="0"/>
          </a:p>
        </p:txBody>
      </p:sp>
      <p:sp>
        <p:nvSpPr>
          <p:cNvPr id="66" name="Textfeld 65" hidden="1">
            <a:extLst>
              <a:ext uri="{FF2B5EF4-FFF2-40B4-BE49-F238E27FC236}">
                <a16:creationId xmlns:a16="http://schemas.microsoft.com/office/drawing/2014/main" id="{8B36C405-14F3-871A-2AFF-A7D8FD73A3EB}"/>
              </a:ext>
            </a:extLst>
          </p:cNvPr>
          <p:cNvSpPr txBox="1"/>
          <p:nvPr/>
        </p:nvSpPr>
        <p:spPr>
          <a:xfrm>
            <a:off x="8795143" y="2348484"/>
            <a:ext cx="1246443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/>
              <a:t>Header:</a:t>
            </a:r>
          </a:p>
          <a:p>
            <a:pPr algn="ctr"/>
            <a:r>
              <a:rPr lang="pt-BR" sz="2000" dirty="0"/>
              <a:t>Seq.Num</a:t>
            </a:r>
          </a:p>
          <a:p>
            <a:pPr algn="ctr"/>
            <a:r>
              <a:rPr lang="pt-BR" sz="2000" dirty="0"/>
              <a:t>ID...</a:t>
            </a:r>
            <a:endParaRPr lang="en-US" sz="2000" dirty="0"/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1B0D4548-3BB7-5C3F-796C-488B366545FE}"/>
              </a:ext>
            </a:extLst>
          </p:cNvPr>
          <p:cNvSpPr txBox="1"/>
          <p:nvPr/>
        </p:nvSpPr>
        <p:spPr>
          <a:xfrm>
            <a:off x="5624337" y="897097"/>
            <a:ext cx="936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Server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DB8BB0E8-B2AF-5118-DA50-4C0CF653DA9E}"/>
              </a:ext>
            </a:extLst>
          </p:cNvPr>
          <p:cNvSpPr txBox="1"/>
          <p:nvPr/>
        </p:nvSpPr>
        <p:spPr>
          <a:xfrm>
            <a:off x="4180245" y="3531239"/>
            <a:ext cx="724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TLS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33248E32-6AC0-6BA0-C7E3-460B930F5C92}"/>
              </a:ext>
            </a:extLst>
          </p:cNvPr>
          <p:cNvSpPr txBox="1"/>
          <p:nvPr/>
        </p:nvSpPr>
        <p:spPr>
          <a:xfrm>
            <a:off x="7526276" y="3533424"/>
            <a:ext cx="724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TLS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2E19742-2AB3-72C1-BD78-C1DF6D7FDA16}"/>
              </a:ext>
            </a:extLst>
          </p:cNvPr>
          <p:cNvSpPr txBox="1"/>
          <p:nvPr/>
        </p:nvSpPr>
        <p:spPr>
          <a:xfrm>
            <a:off x="2287584" y="2348722"/>
            <a:ext cx="1246443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/>
              <a:t>Header:</a:t>
            </a:r>
          </a:p>
          <a:p>
            <a:pPr algn="ctr"/>
            <a:r>
              <a:rPr lang="pt-BR" sz="2000" dirty="0"/>
              <a:t>Seq.Num</a:t>
            </a:r>
          </a:p>
          <a:p>
            <a:pPr algn="ctr"/>
            <a:r>
              <a:rPr lang="pt-BR" sz="2000" dirty="0"/>
              <a:t>ID...</a:t>
            </a:r>
            <a:endParaRPr lang="en-US" sz="200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6845AC9-09F6-3BAD-37E2-841092B5D4A6}"/>
              </a:ext>
            </a:extLst>
          </p:cNvPr>
          <p:cNvSpPr txBox="1"/>
          <p:nvPr/>
        </p:nvSpPr>
        <p:spPr>
          <a:xfrm>
            <a:off x="8795144" y="2348722"/>
            <a:ext cx="1246443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/>
              <a:t>Header:</a:t>
            </a:r>
          </a:p>
          <a:p>
            <a:pPr algn="ctr"/>
            <a:r>
              <a:rPr lang="pt-BR" sz="2000" dirty="0"/>
              <a:t>Seq.Num</a:t>
            </a:r>
          </a:p>
          <a:p>
            <a:pPr algn="ctr"/>
            <a:r>
              <a:rPr lang="pt-BR" sz="2000" dirty="0"/>
              <a:t>ID...</a:t>
            </a:r>
            <a:endParaRPr lang="en-US" sz="2000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30F61AC-35CE-91DB-A209-D03DAB231750}"/>
              </a:ext>
            </a:extLst>
          </p:cNvPr>
          <p:cNvSpPr txBox="1"/>
          <p:nvPr/>
        </p:nvSpPr>
        <p:spPr>
          <a:xfrm>
            <a:off x="2287584" y="1332732"/>
            <a:ext cx="1246443" cy="1015663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/>
              <a:t>TransportHeader:</a:t>
            </a:r>
          </a:p>
          <a:p>
            <a:pPr algn="ctr"/>
            <a:r>
              <a:rPr lang="en-US" sz="2000" dirty="0" err="1"/>
              <a:t>src,dst</a:t>
            </a:r>
            <a:r>
              <a:rPr lang="en-US" sz="2000" dirty="0"/>
              <a:t>…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961D2BB-237C-20A2-D609-5E345EBF0831}"/>
              </a:ext>
            </a:extLst>
          </p:cNvPr>
          <p:cNvSpPr txBox="1"/>
          <p:nvPr/>
        </p:nvSpPr>
        <p:spPr>
          <a:xfrm>
            <a:off x="8795144" y="1332732"/>
            <a:ext cx="1246443" cy="1015663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/>
              <a:t>TransportHeader:</a:t>
            </a:r>
          </a:p>
          <a:p>
            <a:pPr algn="ctr"/>
            <a:r>
              <a:rPr lang="en-US" sz="2000" dirty="0" err="1"/>
              <a:t>src,dst</a:t>
            </a:r>
            <a:r>
              <a:rPr lang="en-US" sz="2000" dirty="0"/>
              <a:t>…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C2AC4C7-EE0C-5304-2979-D9274E3978BC}"/>
              </a:ext>
            </a:extLst>
          </p:cNvPr>
          <p:cNvSpPr txBox="1"/>
          <p:nvPr/>
        </p:nvSpPr>
        <p:spPr>
          <a:xfrm>
            <a:off x="5469465" y="2348722"/>
            <a:ext cx="1246443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/>
              <a:t>Header:</a:t>
            </a:r>
          </a:p>
          <a:p>
            <a:pPr algn="ctr"/>
            <a:r>
              <a:rPr lang="pt-BR" sz="2000" dirty="0"/>
              <a:t>Seq.Num</a:t>
            </a:r>
          </a:p>
          <a:p>
            <a:pPr algn="ctr"/>
            <a:r>
              <a:rPr lang="pt-BR" sz="2000" dirty="0"/>
              <a:t>ID...</a:t>
            </a:r>
            <a:endParaRPr lang="en-US" sz="20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6E3ECE5-175C-0DD7-AFB7-AA1DA59C2C6F}"/>
              </a:ext>
            </a:extLst>
          </p:cNvPr>
          <p:cNvSpPr txBox="1"/>
          <p:nvPr/>
        </p:nvSpPr>
        <p:spPr>
          <a:xfrm>
            <a:off x="5469465" y="1332732"/>
            <a:ext cx="1246443" cy="1015663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/>
              <a:t>TransportHeader:</a:t>
            </a:r>
          </a:p>
          <a:p>
            <a:pPr algn="ctr"/>
            <a:r>
              <a:rPr lang="en-US" sz="2000" dirty="0" err="1"/>
              <a:t>src,dst</a:t>
            </a:r>
            <a:r>
              <a:rPr lang="en-US" sz="2000" dirty="0"/>
              <a:t>…</a:t>
            </a: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826BB696-01E5-43D8-494D-DD6C0FCEA06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59635" y="5317900"/>
            <a:ext cx="729540" cy="729540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B89DE21C-3BE2-0F7C-E02F-2D90760B90D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49746" y="5317900"/>
            <a:ext cx="729540" cy="72954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D7B01B1A-191F-55FA-C5A2-C460A0E3D8F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639857" y="5317900"/>
            <a:ext cx="729540" cy="729540"/>
          </a:xfrm>
          <a:prstGeom prst="rect">
            <a:avLst/>
          </a:prstGeom>
        </p:spPr>
      </p:pic>
      <p:sp>
        <p:nvSpPr>
          <p:cNvPr id="39" name="Textfeld 38">
            <a:extLst>
              <a:ext uri="{FF2B5EF4-FFF2-40B4-BE49-F238E27FC236}">
                <a16:creationId xmlns:a16="http://schemas.microsoft.com/office/drawing/2014/main" id="{2D53467A-B730-9CB6-3E25-23139C823597}"/>
              </a:ext>
            </a:extLst>
          </p:cNvPr>
          <p:cNvSpPr txBox="1"/>
          <p:nvPr/>
        </p:nvSpPr>
        <p:spPr>
          <a:xfrm>
            <a:off x="11301690" y="5317900"/>
            <a:ext cx="9950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...</a:t>
            </a:r>
            <a:endParaRPr lang="en-US" sz="3200" dirty="0"/>
          </a:p>
        </p:txBody>
      </p:sp>
      <p:pic>
        <p:nvPicPr>
          <p:cNvPr id="44" name="Grafik 43" descr="Ein Bild, das Metallwaren, Schlüssel enthält.&#10;&#10;Automatisch generierte Beschreibung">
            <a:extLst>
              <a:ext uri="{FF2B5EF4-FFF2-40B4-BE49-F238E27FC236}">
                <a16:creationId xmlns:a16="http://schemas.microsoft.com/office/drawing/2014/main" id="{02C4A600-B616-CA1E-F5A4-21D1F112C32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793620" y="6122883"/>
            <a:ext cx="422013" cy="422013"/>
          </a:xfrm>
          <a:prstGeom prst="rect">
            <a:avLst/>
          </a:prstGeom>
        </p:spPr>
      </p:pic>
      <p:pic>
        <p:nvPicPr>
          <p:cNvPr id="45" name="Grafik 44" descr="Ein Bild, das Metallwaren, Schlüssel enthält.&#10;&#10;Automatisch generierte Beschreibung">
            <a:extLst>
              <a:ext uri="{FF2B5EF4-FFF2-40B4-BE49-F238E27FC236}">
                <a16:creationId xmlns:a16="http://schemas.microsoft.com/office/drawing/2014/main" id="{B3BD40EA-B208-F383-DDDD-69AC850D53A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369397" y="6122883"/>
            <a:ext cx="422013" cy="422013"/>
          </a:xfrm>
          <a:prstGeom prst="rect">
            <a:avLst/>
          </a:prstGeom>
        </p:spPr>
      </p:pic>
      <p:pic>
        <p:nvPicPr>
          <p:cNvPr id="46" name="Grafik 45" descr="Ein Bild, das Metallwaren, Schlüssel enthält.&#10;&#10;Automatisch generierte Beschreibung">
            <a:extLst>
              <a:ext uri="{FF2B5EF4-FFF2-40B4-BE49-F238E27FC236}">
                <a16:creationId xmlns:a16="http://schemas.microsoft.com/office/drawing/2014/main" id="{FA6805B8-8051-7F87-5F3C-2042E12E564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979286" y="6122883"/>
            <a:ext cx="422013" cy="422013"/>
          </a:xfrm>
          <a:prstGeom prst="rect">
            <a:avLst/>
          </a:prstGeom>
        </p:spPr>
      </p:pic>
      <p:sp>
        <p:nvSpPr>
          <p:cNvPr id="47" name="Rechteck: abgerundete Ecken 46">
            <a:extLst>
              <a:ext uri="{FF2B5EF4-FFF2-40B4-BE49-F238E27FC236}">
                <a16:creationId xmlns:a16="http://schemas.microsoft.com/office/drawing/2014/main" id="{1079116F-8850-0ABA-869E-B7D315BD13D2}"/>
              </a:ext>
            </a:extLst>
          </p:cNvPr>
          <p:cNvSpPr/>
          <p:nvPr/>
        </p:nvSpPr>
        <p:spPr>
          <a:xfrm>
            <a:off x="420287" y="5388452"/>
            <a:ext cx="5313326" cy="1282486"/>
          </a:xfrm>
          <a:prstGeom prst="roundRect">
            <a:avLst/>
          </a:prstGeom>
          <a:gradFill flip="none" rotWithShape="1">
            <a:gsLst>
              <a:gs pos="0">
                <a:srgbClr val="FFC000">
                  <a:lumMod val="8000"/>
                  <a:lumOff val="92000"/>
                </a:srgbClr>
              </a:gs>
              <a:gs pos="74000">
                <a:srgbClr val="FFC000"/>
              </a:gs>
              <a:gs pos="83000">
                <a:srgbClr val="FFC000"/>
              </a:gs>
              <a:gs pos="100000">
                <a:srgbClr val="FFC000"/>
              </a:gs>
            </a:gsLst>
            <a:lin ang="5400000" scaled="1"/>
            <a:tileRect/>
          </a:gradFill>
          <a:ln w="28575">
            <a:solidFill>
              <a:srgbClr val="F689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ysClr val="windowText" lastClr="000000"/>
                </a:solidFill>
              </a:rPr>
              <a:t>Goal: Hide Metadata on Ciphertext-Layer</a:t>
            </a:r>
            <a:endParaRPr lang="en-US" sz="3600" noProof="0" dirty="0">
              <a:solidFill>
                <a:sysClr val="windowText" lastClr="000000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236671C-D165-2376-9D78-23B6741D10E0}"/>
              </a:ext>
            </a:extLst>
          </p:cNvPr>
          <p:cNvSpPr/>
          <p:nvPr/>
        </p:nvSpPr>
        <p:spPr>
          <a:xfrm>
            <a:off x="3674693" y="3231026"/>
            <a:ext cx="1586612" cy="974127"/>
          </a:xfrm>
          <a:prstGeom prst="rect">
            <a:avLst/>
          </a:prstGeom>
          <a:solidFill>
            <a:srgbClr val="FFFFFF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8D0A6A0-13CD-A451-EC38-72B4F8CBFB5E}"/>
              </a:ext>
            </a:extLst>
          </p:cNvPr>
          <p:cNvSpPr/>
          <p:nvPr/>
        </p:nvSpPr>
        <p:spPr>
          <a:xfrm>
            <a:off x="6962073" y="3231026"/>
            <a:ext cx="1586612" cy="974127"/>
          </a:xfrm>
          <a:prstGeom prst="rect">
            <a:avLst/>
          </a:prstGeom>
          <a:solidFill>
            <a:srgbClr val="FFFFFF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0FE12DDC-4853-0DB9-CD77-FE05DA9B64C1}"/>
              </a:ext>
            </a:extLst>
          </p:cNvPr>
          <p:cNvCxnSpPr>
            <a:cxnSpLocks/>
            <a:endCxn id="8" idx="6"/>
          </p:cNvCxnSpPr>
          <p:nvPr/>
        </p:nvCxnSpPr>
        <p:spPr>
          <a:xfrm>
            <a:off x="3615728" y="3716797"/>
            <a:ext cx="520576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1B97F017-CC40-950E-18DA-4EB30E95E746}"/>
              </a:ext>
            </a:extLst>
          </p:cNvPr>
          <p:cNvCxnSpPr>
            <a:cxnSpLocks/>
          </p:cNvCxnSpPr>
          <p:nvPr/>
        </p:nvCxnSpPr>
        <p:spPr>
          <a:xfrm flipV="1">
            <a:off x="5082709" y="3716797"/>
            <a:ext cx="287900" cy="892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E13E047A-7A5B-0BD7-BB24-0304B50C3E3F}"/>
              </a:ext>
            </a:extLst>
          </p:cNvPr>
          <p:cNvCxnSpPr>
            <a:cxnSpLocks/>
            <a:endCxn id="52" idx="6"/>
          </p:cNvCxnSpPr>
          <p:nvPr/>
        </p:nvCxnSpPr>
        <p:spPr>
          <a:xfrm flipV="1">
            <a:off x="6828328" y="3718982"/>
            <a:ext cx="602103" cy="892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5D82D990-AE17-EDDD-D6D5-C0A26439780B}"/>
              </a:ext>
            </a:extLst>
          </p:cNvPr>
          <p:cNvCxnSpPr>
            <a:cxnSpLocks/>
          </p:cNvCxnSpPr>
          <p:nvPr/>
        </p:nvCxnSpPr>
        <p:spPr>
          <a:xfrm>
            <a:off x="8434020" y="3719874"/>
            <a:ext cx="310013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4832D7D6-5C4B-1287-F911-3C1816D949A1}"/>
              </a:ext>
            </a:extLst>
          </p:cNvPr>
          <p:cNvSpPr/>
          <p:nvPr/>
        </p:nvSpPr>
        <p:spPr>
          <a:xfrm>
            <a:off x="2150413" y="1229337"/>
            <a:ext cx="1586612" cy="1119058"/>
          </a:xfrm>
          <a:prstGeom prst="rect">
            <a:avLst/>
          </a:prstGeom>
          <a:solidFill>
            <a:srgbClr val="FFFFFF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4033FD8F-D8F7-3959-1211-CD7CF0A8D220}"/>
              </a:ext>
            </a:extLst>
          </p:cNvPr>
          <p:cNvSpPr/>
          <p:nvPr/>
        </p:nvSpPr>
        <p:spPr>
          <a:xfrm>
            <a:off x="5299378" y="1229337"/>
            <a:ext cx="1586612" cy="1119058"/>
          </a:xfrm>
          <a:prstGeom prst="rect">
            <a:avLst/>
          </a:prstGeom>
          <a:solidFill>
            <a:srgbClr val="FFFFFF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12C2C28-D6E5-B9D2-C71F-159A69DD261C}"/>
              </a:ext>
            </a:extLst>
          </p:cNvPr>
          <p:cNvSpPr/>
          <p:nvPr/>
        </p:nvSpPr>
        <p:spPr>
          <a:xfrm>
            <a:off x="8589026" y="1229337"/>
            <a:ext cx="1586612" cy="1119058"/>
          </a:xfrm>
          <a:prstGeom prst="rect">
            <a:avLst/>
          </a:prstGeom>
          <a:solidFill>
            <a:srgbClr val="FFFFFF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66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4" grpId="0" animBg="1"/>
      <p:bldP spid="66" grpId="0" animBg="1"/>
      <p:bldP spid="39" grpId="0"/>
      <p:bldP spid="4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9ED11-CF33-BBAB-32B8-00D7535AE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rafik 77">
            <a:extLst>
              <a:ext uri="{FF2B5EF4-FFF2-40B4-BE49-F238E27FC236}">
                <a16:creationId xmlns:a16="http://schemas.microsoft.com/office/drawing/2014/main" id="{87D50ACA-7ACD-1ACF-8054-EB755550CA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34505" y="2964044"/>
            <a:ext cx="1762232" cy="1762232"/>
          </a:xfrm>
          <a:prstGeom prst="rect">
            <a:avLst/>
          </a:prstGeom>
        </p:spPr>
      </p:pic>
      <p:pic>
        <p:nvPicPr>
          <p:cNvPr id="75" name="Grafik 74">
            <a:extLst>
              <a:ext uri="{FF2B5EF4-FFF2-40B4-BE49-F238E27FC236}">
                <a16:creationId xmlns:a16="http://schemas.microsoft.com/office/drawing/2014/main" id="{2D04D482-EC8B-6B52-2ECC-9227D4E302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09" y="2964044"/>
            <a:ext cx="1762232" cy="176223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C5B9352-261E-9BB4-E6C6-0F36154E6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9"/>
            <a:ext cx="10515600" cy="1325563"/>
          </a:xfrm>
        </p:spPr>
        <p:txBody>
          <a:bodyPr/>
          <a:lstStyle/>
          <a:p>
            <a:r>
              <a:rPr lang="en-US" dirty="0"/>
              <a:t>Threat Model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58D2B7B-E2B6-B138-7942-CC0FAFB7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21BE-5AB5-4051-B4BD-CDC64C855B3D}" type="slidenum">
              <a:rPr lang="en-US" smtClean="0"/>
              <a:t>4</a:t>
            </a:fld>
            <a:endParaRPr lang="en-US" dirty="0"/>
          </a:p>
        </p:txBody>
      </p:sp>
      <p:pic>
        <p:nvPicPr>
          <p:cNvPr id="6" name="Grafik 5" descr="Ein Bild, das Metallwaren, Schlüssel enthält.&#10;&#10;Automatisch generierte Beschreibung">
            <a:extLst>
              <a:ext uri="{FF2B5EF4-FFF2-40B4-BE49-F238E27FC236}">
                <a16:creationId xmlns:a16="http://schemas.microsoft.com/office/drawing/2014/main" id="{5DB31E93-21B3-7E26-6766-AAE472464B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5563" y="3845160"/>
            <a:ext cx="422013" cy="422013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DFBC0DE-14B5-74E6-C819-8B42D121C3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93556" y="1711952"/>
            <a:ext cx="1224554" cy="1224554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8185BF67-9C8B-1121-145B-A4A7FB033F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0287" y="1577401"/>
            <a:ext cx="1288864" cy="1288864"/>
          </a:xfrm>
          <a:prstGeom prst="rect">
            <a:avLst/>
          </a:prstGeom>
        </p:spPr>
      </p:pic>
      <p:sp>
        <p:nvSpPr>
          <p:cNvPr id="24" name="Textfeld 23">
            <a:extLst>
              <a:ext uri="{FF2B5EF4-FFF2-40B4-BE49-F238E27FC236}">
                <a16:creationId xmlns:a16="http://schemas.microsoft.com/office/drawing/2014/main" id="{2803AFC1-4E7D-0C77-1A70-D0EBE30A32AB}"/>
              </a:ext>
            </a:extLst>
          </p:cNvPr>
          <p:cNvSpPr txBox="1"/>
          <p:nvPr/>
        </p:nvSpPr>
        <p:spPr>
          <a:xfrm>
            <a:off x="500608" y="3365039"/>
            <a:ext cx="914400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Hi, Blake!</a:t>
            </a: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0DE3B7FD-55E4-8090-C821-8D6BD9626EF3}"/>
              </a:ext>
            </a:extLst>
          </p:cNvPr>
          <p:cNvCxnSpPr>
            <a:cxnSpLocks/>
          </p:cNvCxnSpPr>
          <p:nvPr/>
        </p:nvCxnSpPr>
        <p:spPr>
          <a:xfrm flipV="1">
            <a:off x="1468451" y="3718090"/>
            <a:ext cx="773966" cy="1784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480BBF70-C810-3453-ACA0-2D82A342B42C}"/>
              </a:ext>
            </a:extLst>
          </p:cNvPr>
          <p:cNvSpPr txBox="1"/>
          <p:nvPr/>
        </p:nvSpPr>
        <p:spPr>
          <a:xfrm>
            <a:off x="1518227" y="3349650"/>
            <a:ext cx="724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Enc</a:t>
            </a:r>
          </a:p>
        </p:txBody>
      </p: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EE93E24E-6CC9-873F-CCF9-E36748379405}"/>
              </a:ext>
            </a:extLst>
          </p:cNvPr>
          <p:cNvCxnSpPr>
            <a:cxnSpLocks/>
          </p:cNvCxnSpPr>
          <p:nvPr/>
        </p:nvCxnSpPr>
        <p:spPr>
          <a:xfrm>
            <a:off x="3669632" y="3718090"/>
            <a:ext cx="5074401" cy="1784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Grafik 56" descr="Ein Bild, das Metallwaren, Schlüssel enthält.&#10;&#10;Automatisch generierte Beschreibung">
            <a:extLst>
              <a:ext uri="{FF2B5EF4-FFF2-40B4-BE49-F238E27FC236}">
                <a16:creationId xmlns:a16="http://schemas.microsoft.com/office/drawing/2014/main" id="{EBF9FBCB-6861-FCE8-7E2A-9568319C03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9746" y="3845160"/>
            <a:ext cx="422013" cy="422013"/>
          </a:xfrm>
          <a:prstGeom prst="rect">
            <a:avLst/>
          </a:prstGeom>
        </p:spPr>
      </p:pic>
      <p:sp>
        <p:nvSpPr>
          <p:cNvPr id="59" name="Textfeld 58">
            <a:extLst>
              <a:ext uri="{FF2B5EF4-FFF2-40B4-BE49-F238E27FC236}">
                <a16:creationId xmlns:a16="http://schemas.microsoft.com/office/drawing/2014/main" id="{C1BDAE53-5CD2-55F9-6496-E213BEBF05CB}"/>
              </a:ext>
            </a:extLst>
          </p:cNvPr>
          <p:cNvSpPr txBox="1"/>
          <p:nvPr/>
        </p:nvSpPr>
        <p:spPr>
          <a:xfrm>
            <a:off x="10958421" y="3365039"/>
            <a:ext cx="914400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Hi, Blake!</a:t>
            </a:r>
          </a:p>
        </p:txBody>
      </p: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85040971-D542-023F-0668-BB4F880BD8F2}"/>
              </a:ext>
            </a:extLst>
          </p:cNvPr>
          <p:cNvCxnSpPr>
            <a:cxnSpLocks/>
          </p:cNvCxnSpPr>
          <p:nvPr/>
        </p:nvCxnSpPr>
        <p:spPr>
          <a:xfrm flipV="1">
            <a:off x="10122634" y="3718090"/>
            <a:ext cx="773966" cy="1784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AA381073-5D46-9A3F-8840-609AA9AE0144}"/>
              </a:ext>
            </a:extLst>
          </p:cNvPr>
          <p:cNvSpPr txBox="1"/>
          <p:nvPr/>
        </p:nvSpPr>
        <p:spPr>
          <a:xfrm>
            <a:off x="10172410" y="3349650"/>
            <a:ext cx="724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07C1D3CB-8148-D445-1D61-7BA7651A6C15}"/>
              </a:ext>
            </a:extLst>
          </p:cNvPr>
          <p:cNvSpPr txBox="1"/>
          <p:nvPr/>
        </p:nvSpPr>
        <p:spPr>
          <a:xfrm>
            <a:off x="2287584" y="3365039"/>
            <a:ext cx="1246444" cy="7078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5f8ac9134d</a:t>
            </a:r>
            <a:endParaRPr lang="en-US" sz="2000" dirty="0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0C1519B8-0545-6149-26C0-D498BF0147F5}"/>
              </a:ext>
            </a:extLst>
          </p:cNvPr>
          <p:cNvSpPr txBox="1"/>
          <p:nvPr/>
        </p:nvSpPr>
        <p:spPr>
          <a:xfrm>
            <a:off x="2287583" y="2348484"/>
            <a:ext cx="1246443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/>
              <a:t>Header:</a:t>
            </a:r>
          </a:p>
          <a:p>
            <a:pPr algn="ctr"/>
            <a:r>
              <a:rPr lang="pt-BR" sz="2000" dirty="0"/>
              <a:t>Seq.Num</a:t>
            </a:r>
          </a:p>
          <a:p>
            <a:pPr algn="ctr"/>
            <a:r>
              <a:rPr lang="pt-BR" sz="2000" dirty="0"/>
              <a:t>ID...</a:t>
            </a:r>
            <a:endParaRPr lang="en-US" sz="2000" dirty="0"/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576D7125-E7C4-CF94-4C76-FE7B0C614366}"/>
              </a:ext>
            </a:extLst>
          </p:cNvPr>
          <p:cNvSpPr txBox="1"/>
          <p:nvPr/>
        </p:nvSpPr>
        <p:spPr>
          <a:xfrm>
            <a:off x="8795144" y="3365039"/>
            <a:ext cx="1246444" cy="7078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5f8ac9134d</a:t>
            </a:r>
            <a:endParaRPr lang="en-US" sz="2000" dirty="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0F998568-21F3-1903-C2F6-E86195A2FE1E}"/>
              </a:ext>
            </a:extLst>
          </p:cNvPr>
          <p:cNvSpPr txBox="1"/>
          <p:nvPr/>
        </p:nvSpPr>
        <p:spPr>
          <a:xfrm>
            <a:off x="8795143" y="2348484"/>
            <a:ext cx="1246443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/>
              <a:t>Header:</a:t>
            </a:r>
          </a:p>
          <a:p>
            <a:pPr algn="ctr"/>
            <a:r>
              <a:rPr lang="pt-BR" sz="2000" dirty="0"/>
              <a:t>Seq.Num</a:t>
            </a:r>
          </a:p>
          <a:p>
            <a:pPr algn="ctr"/>
            <a:r>
              <a:rPr lang="pt-BR" sz="2000" dirty="0"/>
              <a:t>ID...</a:t>
            </a:r>
            <a:endParaRPr lang="en-US" sz="2000" dirty="0"/>
          </a:p>
        </p:txBody>
      </p:sp>
      <p:sp>
        <p:nvSpPr>
          <p:cNvPr id="73" name="Rechteck: abgerundete Ecken 72">
            <a:extLst>
              <a:ext uri="{FF2B5EF4-FFF2-40B4-BE49-F238E27FC236}">
                <a16:creationId xmlns:a16="http://schemas.microsoft.com/office/drawing/2014/main" id="{126C2766-5503-91B4-7CDC-9B4AEDD45160}"/>
              </a:ext>
            </a:extLst>
          </p:cNvPr>
          <p:cNvSpPr/>
          <p:nvPr/>
        </p:nvSpPr>
        <p:spPr>
          <a:xfrm>
            <a:off x="420287" y="5388452"/>
            <a:ext cx="5313326" cy="1282486"/>
          </a:xfrm>
          <a:prstGeom prst="roundRect">
            <a:avLst/>
          </a:prstGeom>
          <a:gradFill flip="none" rotWithShape="1">
            <a:gsLst>
              <a:gs pos="0">
                <a:srgbClr val="FFC000">
                  <a:lumMod val="8000"/>
                  <a:lumOff val="92000"/>
                </a:srgbClr>
              </a:gs>
              <a:gs pos="74000">
                <a:srgbClr val="FFC000"/>
              </a:gs>
              <a:gs pos="83000">
                <a:srgbClr val="FFC000"/>
              </a:gs>
              <a:gs pos="100000">
                <a:srgbClr val="FFC000"/>
              </a:gs>
            </a:gsLst>
            <a:lin ang="5400000" scaled="1"/>
            <a:tileRect/>
          </a:gradFill>
          <a:ln w="28575">
            <a:solidFill>
              <a:srgbClr val="F689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ysClr val="windowText" lastClr="000000"/>
                </a:solidFill>
              </a:rPr>
              <a:t>Goal: Hide Metadata on Ciphertext-Layer</a:t>
            </a:r>
            <a:endParaRPr lang="en-US" sz="3600" noProof="0" dirty="0">
              <a:solidFill>
                <a:sysClr val="windowText" lastClr="000000"/>
              </a:solidFill>
            </a:endParaRPr>
          </a:p>
        </p:txBody>
      </p:sp>
      <p:pic>
        <p:nvPicPr>
          <p:cNvPr id="3" name="Grafik 2" descr="Ein Bild, das Clipart, Cartoon, Kreativität enthält.&#10;&#10;Automatisch generierte Beschreibung">
            <a:extLst>
              <a:ext uri="{FF2B5EF4-FFF2-40B4-BE49-F238E27FC236}">
                <a16:creationId xmlns:a16="http://schemas.microsoft.com/office/drawing/2014/main" id="{5CAD2CE0-6D8D-BC63-FF9C-94E8CE88F9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2823" y="2828867"/>
            <a:ext cx="860160" cy="860160"/>
          </a:xfrm>
          <a:prstGeom prst="rect">
            <a:avLst/>
          </a:prstGeom>
        </p:spPr>
      </p:pic>
      <p:pic>
        <p:nvPicPr>
          <p:cNvPr id="5" name="Grafik 4" descr="Ein Bild, das Clipart, Cartoon, Kreativität enthält.&#10;&#10;Automatisch generierte Beschreibung">
            <a:extLst>
              <a:ext uri="{FF2B5EF4-FFF2-40B4-BE49-F238E27FC236}">
                <a16:creationId xmlns:a16="http://schemas.microsoft.com/office/drawing/2014/main" id="{3A7D29D8-6DF3-4EF0-6E6F-11621DB1DD0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874" y="4470166"/>
            <a:ext cx="860160" cy="860160"/>
          </a:xfrm>
          <a:prstGeom prst="rect">
            <a:avLst/>
          </a:prstGeom>
        </p:spPr>
      </p:pic>
      <p:pic>
        <p:nvPicPr>
          <p:cNvPr id="8" name="Grafik 7" descr="Ein Bild, das Clipart, Cartoon, Kreativität enthält.&#10;&#10;Automatisch generierte Beschreibung">
            <a:extLst>
              <a:ext uri="{FF2B5EF4-FFF2-40B4-BE49-F238E27FC236}">
                <a16:creationId xmlns:a16="http://schemas.microsoft.com/office/drawing/2014/main" id="{1C6F7C5D-A310-2D17-5FB4-5C6C5419E27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378" y="4524568"/>
            <a:ext cx="860160" cy="860160"/>
          </a:xfrm>
          <a:prstGeom prst="rect">
            <a:avLst/>
          </a:prstGeom>
        </p:spPr>
      </p:pic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22A7DBF7-6BA0-9157-B2EB-8FC2FC9BF91B}"/>
              </a:ext>
            </a:extLst>
          </p:cNvPr>
          <p:cNvSpPr/>
          <p:nvPr/>
        </p:nvSpPr>
        <p:spPr>
          <a:xfrm>
            <a:off x="4582899" y="4351203"/>
            <a:ext cx="3019570" cy="956764"/>
          </a:xfrm>
          <a:prstGeom prst="roundRect">
            <a:avLst/>
          </a:prstGeom>
          <a:gradFill flip="none" rotWithShape="1">
            <a:gsLst>
              <a:gs pos="0">
                <a:srgbClr val="46ADEC">
                  <a:tint val="66000"/>
                  <a:satMod val="160000"/>
                </a:srgbClr>
              </a:gs>
              <a:gs pos="50000">
                <a:srgbClr val="46ADEC">
                  <a:tint val="44500"/>
                  <a:satMod val="160000"/>
                </a:srgbClr>
              </a:gs>
              <a:gs pos="100000">
                <a:srgbClr val="46ADEC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46AD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Temporary state exposure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EB6B7CDB-A1F4-F4CF-CB72-57A1428DE866}"/>
              </a:ext>
            </a:extLst>
          </p:cNvPr>
          <p:cNvSpPr/>
          <p:nvPr/>
        </p:nvSpPr>
        <p:spPr>
          <a:xfrm>
            <a:off x="4933822" y="1709335"/>
            <a:ext cx="2418161" cy="956764"/>
          </a:xfrm>
          <a:prstGeom prst="roundRect">
            <a:avLst/>
          </a:prstGeom>
          <a:gradFill flip="none" rotWithShape="1">
            <a:gsLst>
              <a:gs pos="0">
                <a:srgbClr val="46ADEC">
                  <a:tint val="66000"/>
                  <a:satMod val="160000"/>
                </a:srgbClr>
              </a:gs>
              <a:gs pos="50000">
                <a:srgbClr val="46ADEC">
                  <a:tint val="44500"/>
                  <a:satMod val="160000"/>
                </a:srgbClr>
              </a:gs>
              <a:gs pos="100000">
                <a:srgbClr val="46ADEC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46AD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Adversary on the network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F91711EC-4A09-EB9E-D6D7-88B7AB8BE53E}"/>
              </a:ext>
            </a:extLst>
          </p:cNvPr>
          <p:cNvCxnSpPr>
            <a:stCxn id="9" idx="1"/>
          </p:cNvCxnSpPr>
          <p:nvPr/>
        </p:nvCxnSpPr>
        <p:spPr>
          <a:xfrm flipH="1">
            <a:off x="2790497" y="4829585"/>
            <a:ext cx="1792402" cy="0"/>
          </a:xfrm>
          <a:prstGeom prst="line">
            <a:avLst/>
          </a:prstGeom>
          <a:ln>
            <a:prstDash val="dash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178E43BE-A45A-E5A9-5679-A44052BCD4B8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7602469" y="4829585"/>
            <a:ext cx="2053910" cy="0"/>
          </a:xfrm>
          <a:prstGeom prst="line">
            <a:avLst/>
          </a:prstGeom>
          <a:ln>
            <a:prstDash val="dash"/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09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80CC0-4FE8-B072-9741-974BBE266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rafik 77">
            <a:extLst>
              <a:ext uri="{FF2B5EF4-FFF2-40B4-BE49-F238E27FC236}">
                <a16:creationId xmlns:a16="http://schemas.microsoft.com/office/drawing/2014/main" id="{9AE986EC-6E5E-BC50-0450-59C74DBBCD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34505" y="2964044"/>
            <a:ext cx="1762232" cy="1762232"/>
          </a:xfrm>
          <a:prstGeom prst="rect">
            <a:avLst/>
          </a:prstGeom>
        </p:spPr>
      </p:pic>
      <p:pic>
        <p:nvPicPr>
          <p:cNvPr id="75" name="Grafik 74">
            <a:extLst>
              <a:ext uri="{FF2B5EF4-FFF2-40B4-BE49-F238E27FC236}">
                <a16:creationId xmlns:a16="http://schemas.microsoft.com/office/drawing/2014/main" id="{FCD7FF90-C256-9A8A-3F51-E3758A6B5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09" y="2964044"/>
            <a:ext cx="1762232" cy="176223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F050CDF-0313-81EF-95E2-58F55E11B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9"/>
            <a:ext cx="10515600" cy="1325563"/>
          </a:xfrm>
        </p:spPr>
        <p:txBody>
          <a:bodyPr/>
          <a:lstStyle/>
          <a:p>
            <a:r>
              <a:rPr lang="en-US" dirty="0"/>
              <a:t>Current Approach: Public Key Encryption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7C0B042-6C48-098B-5977-55B73BBBD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21BE-5AB5-4051-B4BD-CDC64C855B3D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Grafik 5" descr="Ein Bild, das Metallwaren, Schlüssel enthält.&#10;&#10;Automatisch generierte Beschreibung">
            <a:extLst>
              <a:ext uri="{FF2B5EF4-FFF2-40B4-BE49-F238E27FC236}">
                <a16:creationId xmlns:a16="http://schemas.microsoft.com/office/drawing/2014/main" id="{083BD3F5-EE9A-FA4E-0E3C-0179438C4D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5563" y="3845160"/>
            <a:ext cx="422013" cy="422013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1E8EB5F6-CB48-C1BC-19A3-53127300AD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19916" y="1688866"/>
            <a:ext cx="1224554" cy="1224554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C11E94A2-155E-853C-ECD7-4E1D26F2247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0287" y="1577401"/>
            <a:ext cx="1288864" cy="1288864"/>
          </a:xfrm>
          <a:prstGeom prst="rect">
            <a:avLst/>
          </a:prstGeom>
        </p:spPr>
      </p:pic>
      <p:sp>
        <p:nvSpPr>
          <p:cNvPr id="24" name="Textfeld 23">
            <a:extLst>
              <a:ext uri="{FF2B5EF4-FFF2-40B4-BE49-F238E27FC236}">
                <a16:creationId xmlns:a16="http://schemas.microsoft.com/office/drawing/2014/main" id="{82BFA849-42AD-528D-7AA2-5348C2880F4E}"/>
              </a:ext>
            </a:extLst>
          </p:cNvPr>
          <p:cNvSpPr txBox="1"/>
          <p:nvPr/>
        </p:nvSpPr>
        <p:spPr>
          <a:xfrm>
            <a:off x="500608" y="3365039"/>
            <a:ext cx="914400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Hi, Blake!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29007B26-8E15-EBCB-64A8-149E7EDEFF96}"/>
              </a:ext>
            </a:extLst>
          </p:cNvPr>
          <p:cNvSpPr txBox="1"/>
          <p:nvPr/>
        </p:nvSpPr>
        <p:spPr>
          <a:xfrm>
            <a:off x="1518227" y="3349650"/>
            <a:ext cx="724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Enc</a:t>
            </a:r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B3773EA1-C0E4-4C52-4866-46FDFF9077B4}"/>
              </a:ext>
            </a:extLst>
          </p:cNvPr>
          <p:cNvCxnSpPr>
            <a:cxnSpLocks/>
          </p:cNvCxnSpPr>
          <p:nvPr/>
        </p:nvCxnSpPr>
        <p:spPr>
          <a:xfrm>
            <a:off x="3714583" y="3718982"/>
            <a:ext cx="4681997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Grafik 56" descr="Ein Bild, das Metallwaren, Schlüssel enthält.&#10;&#10;Automatisch generierte Beschreibung">
            <a:extLst>
              <a:ext uri="{FF2B5EF4-FFF2-40B4-BE49-F238E27FC236}">
                <a16:creationId xmlns:a16="http://schemas.microsoft.com/office/drawing/2014/main" id="{8C23C47B-7761-73BF-1E2F-BF3912DB63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8362" y="3844671"/>
            <a:ext cx="422013" cy="422013"/>
          </a:xfrm>
          <a:prstGeom prst="rect">
            <a:avLst/>
          </a:prstGeom>
        </p:spPr>
      </p:pic>
      <p:sp>
        <p:nvSpPr>
          <p:cNvPr id="59" name="Textfeld 58">
            <a:extLst>
              <a:ext uri="{FF2B5EF4-FFF2-40B4-BE49-F238E27FC236}">
                <a16:creationId xmlns:a16="http://schemas.microsoft.com/office/drawing/2014/main" id="{5006316F-8238-3CD0-6975-27053103401F}"/>
              </a:ext>
            </a:extLst>
          </p:cNvPr>
          <p:cNvSpPr txBox="1"/>
          <p:nvPr/>
        </p:nvSpPr>
        <p:spPr>
          <a:xfrm>
            <a:off x="10958421" y="3365039"/>
            <a:ext cx="914400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Hi, Blake!</a:t>
            </a:r>
          </a:p>
        </p:txBody>
      </p: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1314FE81-AC18-07F3-A35D-EA30DF54AC1F}"/>
              </a:ext>
            </a:extLst>
          </p:cNvPr>
          <p:cNvCxnSpPr>
            <a:cxnSpLocks/>
          </p:cNvCxnSpPr>
          <p:nvPr/>
        </p:nvCxnSpPr>
        <p:spPr>
          <a:xfrm>
            <a:off x="9904416" y="3718090"/>
            <a:ext cx="954084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3BACD78A-5AD8-289F-1C7A-D61E42DB9C7E}"/>
              </a:ext>
            </a:extLst>
          </p:cNvPr>
          <p:cNvSpPr txBox="1"/>
          <p:nvPr/>
        </p:nvSpPr>
        <p:spPr>
          <a:xfrm>
            <a:off x="10074952" y="3364147"/>
            <a:ext cx="724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38B7DD35-7B25-9E98-8D50-EEAB1E6CBD47}"/>
              </a:ext>
            </a:extLst>
          </p:cNvPr>
          <p:cNvSpPr txBox="1"/>
          <p:nvPr/>
        </p:nvSpPr>
        <p:spPr>
          <a:xfrm>
            <a:off x="2287584" y="3365039"/>
            <a:ext cx="1246444" cy="7078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5f8ac9134d</a:t>
            </a:r>
            <a:endParaRPr lang="en-US" sz="2000" dirty="0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9D80BE3C-38EC-F6B1-2B8E-B1080CECB107}"/>
              </a:ext>
            </a:extLst>
          </p:cNvPr>
          <p:cNvSpPr txBox="1"/>
          <p:nvPr/>
        </p:nvSpPr>
        <p:spPr>
          <a:xfrm>
            <a:off x="2287583" y="2348484"/>
            <a:ext cx="1246443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/>
              <a:t>Header:</a:t>
            </a:r>
          </a:p>
          <a:p>
            <a:pPr algn="ctr"/>
            <a:r>
              <a:rPr lang="pt-BR" sz="2000" dirty="0"/>
              <a:t>Seq.Num</a:t>
            </a:r>
          </a:p>
          <a:p>
            <a:pPr algn="ctr"/>
            <a:r>
              <a:rPr lang="pt-BR" sz="2000" dirty="0"/>
              <a:t>ID...</a:t>
            </a:r>
            <a:endParaRPr lang="en-US" sz="2000" dirty="0"/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BEEF5283-8ADC-8748-3A35-3588B025F799}"/>
              </a:ext>
            </a:extLst>
          </p:cNvPr>
          <p:cNvSpPr txBox="1"/>
          <p:nvPr/>
        </p:nvSpPr>
        <p:spPr>
          <a:xfrm>
            <a:off x="8517801" y="3365039"/>
            <a:ext cx="1246444" cy="7078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5f8ac9134d</a:t>
            </a:r>
            <a:endParaRPr lang="en-US" sz="2000" dirty="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5C39DE5F-3E02-2DDD-E0BD-C2727F08CFFB}"/>
              </a:ext>
            </a:extLst>
          </p:cNvPr>
          <p:cNvSpPr txBox="1"/>
          <p:nvPr/>
        </p:nvSpPr>
        <p:spPr>
          <a:xfrm>
            <a:off x="8517800" y="2348484"/>
            <a:ext cx="1246443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/>
              <a:t>Header:</a:t>
            </a:r>
          </a:p>
          <a:p>
            <a:pPr algn="ctr"/>
            <a:r>
              <a:rPr lang="pt-BR" sz="2000" dirty="0"/>
              <a:t>Seq.Num</a:t>
            </a:r>
          </a:p>
          <a:p>
            <a:pPr algn="ctr"/>
            <a:r>
              <a:rPr lang="pt-BR" sz="2000" dirty="0"/>
              <a:t>ID...</a:t>
            </a:r>
            <a:endParaRPr lang="en-US" sz="2000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5D2256F1-D7A0-A1D4-92F6-77D86F6D0757}"/>
              </a:ext>
            </a:extLst>
          </p:cNvPr>
          <p:cNvSpPr/>
          <p:nvPr/>
        </p:nvSpPr>
        <p:spPr>
          <a:xfrm>
            <a:off x="2198131" y="2214542"/>
            <a:ext cx="1446345" cy="1990611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817478BE-3D97-6C14-883E-A8F6DF0AF4A8}"/>
              </a:ext>
            </a:extLst>
          </p:cNvPr>
          <p:cNvSpPr/>
          <p:nvPr/>
        </p:nvSpPr>
        <p:spPr>
          <a:xfrm>
            <a:off x="8412069" y="2214542"/>
            <a:ext cx="1446345" cy="1990611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Grafik 10" descr="Mitarbeitendenausweis mit einfarbiger Füllung">
            <a:extLst>
              <a:ext uri="{FF2B5EF4-FFF2-40B4-BE49-F238E27FC236}">
                <a16:creationId xmlns:a16="http://schemas.microsoft.com/office/drawing/2014/main" id="{B56B7114-B944-35FD-1B2B-F5261F47D6C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03505" y="1893224"/>
            <a:ext cx="576113" cy="576113"/>
          </a:xfrm>
          <a:prstGeom prst="rect">
            <a:avLst/>
          </a:prstGeom>
        </p:spPr>
      </p:pic>
      <p:pic>
        <p:nvPicPr>
          <p:cNvPr id="14" name="Grafik 13" descr="Ein Bild, das Metallwaren, Schlüssel enthält.&#10;&#10;Automatisch generierte Beschreibung">
            <a:extLst>
              <a:ext uri="{FF2B5EF4-FFF2-40B4-BE49-F238E27FC236}">
                <a16:creationId xmlns:a16="http://schemas.microsoft.com/office/drawing/2014/main" id="{3FE5FF47-E196-8FF0-63B4-35CF3C79987B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10102194" y="1970273"/>
            <a:ext cx="422014" cy="422014"/>
          </a:xfrm>
          <a:prstGeom prst="rect">
            <a:avLst/>
          </a:prstGeom>
        </p:spPr>
      </p:pic>
      <p:pic>
        <p:nvPicPr>
          <p:cNvPr id="20" name="Grafik 19" descr="Mitarbeitendenausweis mit einfarbiger Füllung">
            <a:extLst>
              <a:ext uri="{FF2B5EF4-FFF2-40B4-BE49-F238E27FC236}">
                <a16:creationId xmlns:a16="http://schemas.microsoft.com/office/drawing/2014/main" id="{3DB1351B-A0FE-2896-F161-551F8791BC7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46521" y="1903948"/>
            <a:ext cx="576113" cy="576113"/>
          </a:xfrm>
          <a:prstGeom prst="rect">
            <a:avLst/>
          </a:prstGeom>
        </p:spPr>
      </p:pic>
      <p:sp>
        <p:nvSpPr>
          <p:cNvPr id="44" name="Rechteck: abgerundete Ecken 43">
            <a:extLst>
              <a:ext uri="{FF2B5EF4-FFF2-40B4-BE49-F238E27FC236}">
                <a16:creationId xmlns:a16="http://schemas.microsoft.com/office/drawing/2014/main" id="{DE809566-B131-77D7-435D-4B3D4ADB23AF}"/>
              </a:ext>
            </a:extLst>
          </p:cNvPr>
          <p:cNvSpPr/>
          <p:nvPr/>
        </p:nvSpPr>
        <p:spPr>
          <a:xfrm>
            <a:off x="6755130" y="976513"/>
            <a:ext cx="3865245" cy="95676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F6C4F"/>
              </a:gs>
              <a:gs pos="83000">
                <a:srgbClr val="FF6C4F"/>
              </a:gs>
              <a:gs pos="100000">
                <a:srgbClr val="FF6C4F"/>
              </a:gs>
            </a:gsLst>
            <a:lin ang="5400000" scaled="1"/>
          </a:gra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No anonymity under long-term key compromise</a:t>
            </a:r>
          </a:p>
        </p:txBody>
      </p:sp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647D664D-7B3C-0DBF-B4E3-AA39DA9D3BB7}"/>
              </a:ext>
            </a:extLst>
          </p:cNvPr>
          <p:cNvSpPr/>
          <p:nvPr/>
        </p:nvSpPr>
        <p:spPr>
          <a:xfrm>
            <a:off x="3993581" y="5123931"/>
            <a:ext cx="3565860" cy="85395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F6C4F"/>
              </a:gs>
              <a:gs pos="83000">
                <a:srgbClr val="FF6C4F"/>
              </a:gs>
              <a:gs pos="100000">
                <a:srgbClr val="FF6C4F"/>
              </a:gs>
            </a:gsLst>
            <a:lin ang="5400000" scaled="1"/>
          </a:gra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Linear overhead in groups</a:t>
            </a:r>
          </a:p>
        </p:txBody>
      </p:sp>
      <p:sp>
        <p:nvSpPr>
          <p:cNvPr id="46" name="Rechteck: abgerundete Ecken 45">
            <a:extLst>
              <a:ext uri="{FF2B5EF4-FFF2-40B4-BE49-F238E27FC236}">
                <a16:creationId xmlns:a16="http://schemas.microsoft.com/office/drawing/2014/main" id="{7C00EABC-8D16-92A0-C8F4-FEF2493307FD}"/>
              </a:ext>
            </a:extLst>
          </p:cNvPr>
          <p:cNvSpPr/>
          <p:nvPr/>
        </p:nvSpPr>
        <p:spPr>
          <a:xfrm>
            <a:off x="3993581" y="4072925"/>
            <a:ext cx="3565860" cy="85395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F6C4F"/>
              </a:gs>
              <a:gs pos="83000">
                <a:srgbClr val="FF6C4F"/>
              </a:gs>
              <a:gs pos="100000">
                <a:srgbClr val="FF6C4F"/>
              </a:gs>
            </a:gsLst>
            <a:lin ang="5400000" scaled="1"/>
          </a:gra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Expensive public key crypto for each message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F9529DB0-B164-7E3C-57CC-7959BD09E7F9}"/>
              </a:ext>
            </a:extLst>
          </p:cNvPr>
          <p:cNvCxnSpPr>
            <a:cxnSpLocks/>
          </p:cNvCxnSpPr>
          <p:nvPr/>
        </p:nvCxnSpPr>
        <p:spPr>
          <a:xfrm>
            <a:off x="1495425" y="3719874"/>
            <a:ext cx="682625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300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7D6DA-455D-338F-62A8-28E8407AD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rafik 77">
            <a:extLst>
              <a:ext uri="{FF2B5EF4-FFF2-40B4-BE49-F238E27FC236}">
                <a16:creationId xmlns:a16="http://schemas.microsoft.com/office/drawing/2014/main" id="{59C71D28-1412-F1AC-4288-C768885824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34505" y="2964044"/>
            <a:ext cx="1762232" cy="1762232"/>
          </a:xfrm>
          <a:prstGeom prst="rect">
            <a:avLst/>
          </a:prstGeom>
        </p:spPr>
      </p:pic>
      <p:pic>
        <p:nvPicPr>
          <p:cNvPr id="75" name="Grafik 74">
            <a:extLst>
              <a:ext uri="{FF2B5EF4-FFF2-40B4-BE49-F238E27FC236}">
                <a16:creationId xmlns:a16="http://schemas.microsoft.com/office/drawing/2014/main" id="{DB03E997-2C94-70A2-597C-A503D53A8B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09" y="2964044"/>
            <a:ext cx="1762232" cy="176223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DAE5C68-3254-B74C-BADA-A1F10A2ED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9"/>
            <a:ext cx="10515600" cy="1325563"/>
          </a:xfrm>
        </p:spPr>
        <p:txBody>
          <a:bodyPr/>
          <a:lstStyle/>
          <a:p>
            <a:r>
              <a:rPr lang="en-US" dirty="0"/>
              <a:t>Our Approach: Anonymity Wrapper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72784E-FE86-78E7-4936-F5728AC20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21BE-5AB5-4051-B4BD-CDC64C855B3D}" type="slidenum">
              <a:rPr lang="en-US" smtClean="0"/>
              <a:t>6</a:t>
            </a:fld>
            <a:endParaRPr lang="en-US" dirty="0"/>
          </a:p>
        </p:txBody>
      </p:sp>
      <p:pic>
        <p:nvPicPr>
          <p:cNvPr id="6" name="Grafik 5" descr="Ein Bild, das Metallwaren, Schlüssel enthält.&#10;&#10;Automatisch generierte Beschreibung">
            <a:extLst>
              <a:ext uri="{FF2B5EF4-FFF2-40B4-BE49-F238E27FC236}">
                <a16:creationId xmlns:a16="http://schemas.microsoft.com/office/drawing/2014/main" id="{F48EA3EE-8687-6D0A-0B59-993D7AF743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5563" y="3845160"/>
            <a:ext cx="422013" cy="422013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AE28B63C-6B31-A1BD-4EEA-D6465B68D4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0287" y="1577401"/>
            <a:ext cx="1288864" cy="1288864"/>
          </a:xfrm>
          <a:prstGeom prst="rect">
            <a:avLst/>
          </a:prstGeom>
        </p:spPr>
      </p:pic>
      <p:sp>
        <p:nvSpPr>
          <p:cNvPr id="24" name="Textfeld 23">
            <a:extLst>
              <a:ext uri="{FF2B5EF4-FFF2-40B4-BE49-F238E27FC236}">
                <a16:creationId xmlns:a16="http://schemas.microsoft.com/office/drawing/2014/main" id="{E207B468-0CFB-2CED-917B-0AB976BAB872}"/>
              </a:ext>
            </a:extLst>
          </p:cNvPr>
          <p:cNvSpPr txBox="1"/>
          <p:nvPr/>
        </p:nvSpPr>
        <p:spPr>
          <a:xfrm>
            <a:off x="500608" y="3365039"/>
            <a:ext cx="914400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Hi, Blake!</a:t>
            </a: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3988D6F9-0DB7-C1D2-AE27-5E62D6E25E19}"/>
              </a:ext>
            </a:extLst>
          </p:cNvPr>
          <p:cNvCxnSpPr>
            <a:cxnSpLocks/>
          </p:cNvCxnSpPr>
          <p:nvPr/>
        </p:nvCxnSpPr>
        <p:spPr>
          <a:xfrm>
            <a:off x="1495425" y="3719874"/>
            <a:ext cx="682625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DF63ED4E-9142-DB6E-F04D-49131D1946D4}"/>
              </a:ext>
            </a:extLst>
          </p:cNvPr>
          <p:cNvSpPr txBox="1"/>
          <p:nvPr/>
        </p:nvSpPr>
        <p:spPr>
          <a:xfrm>
            <a:off x="1518227" y="3349650"/>
            <a:ext cx="724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Enc</a:t>
            </a:r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4C3DCC90-D020-338E-C137-BB43C713DC27}"/>
              </a:ext>
            </a:extLst>
          </p:cNvPr>
          <p:cNvCxnSpPr>
            <a:cxnSpLocks/>
          </p:cNvCxnSpPr>
          <p:nvPr/>
        </p:nvCxnSpPr>
        <p:spPr>
          <a:xfrm flipV="1">
            <a:off x="3714583" y="3718090"/>
            <a:ext cx="4878492" cy="892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Grafik 56" descr="Ein Bild, das Metallwaren, Schlüssel enthält.&#10;&#10;Automatisch generierte Beschreibung">
            <a:extLst>
              <a:ext uri="{FF2B5EF4-FFF2-40B4-BE49-F238E27FC236}">
                <a16:creationId xmlns:a16="http://schemas.microsoft.com/office/drawing/2014/main" id="{4A2864BD-8884-211D-C410-5E535FCE3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9746" y="3845160"/>
            <a:ext cx="422013" cy="422013"/>
          </a:xfrm>
          <a:prstGeom prst="rect">
            <a:avLst/>
          </a:prstGeom>
        </p:spPr>
      </p:pic>
      <p:sp>
        <p:nvSpPr>
          <p:cNvPr id="59" name="Textfeld 58">
            <a:extLst>
              <a:ext uri="{FF2B5EF4-FFF2-40B4-BE49-F238E27FC236}">
                <a16:creationId xmlns:a16="http://schemas.microsoft.com/office/drawing/2014/main" id="{A2749924-EFFE-FF12-C83A-B38B67E0C427}"/>
              </a:ext>
            </a:extLst>
          </p:cNvPr>
          <p:cNvSpPr txBox="1"/>
          <p:nvPr/>
        </p:nvSpPr>
        <p:spPr>
          <a:xfrm>
            <a:off x="10958421" y="3365039"/>
            <a:ext cx="914400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Hi, Blake!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E112AF06-8FF0-B8C6-59D8-A8490B9F6DA7}"/>
              </a:ext>
            </a:extLst>
          </p:cNvPr>
          <p:cNvSpPr txBox="1"/>
          <p:nvPr/>
        </p:nvSpPr>
        <p:spPr>
          <a:xfrm>
            <a:off x="10172410" y="3349650"/>
            <a:ext cx="724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BE0C4487-8CEB-4215-82CA-0CC5CABCD736}"/>
              </a:ext>
            </a:extLst>
          </p:cNvPr>
          <p:cNvSpPr txBox="1"/>
          <p:nvPr/>
        </p:nvSpPr>
        <p:spPr>
          <a:xfrm>
            <a:off x="2287584" y="3365039"/>
            <a:ext cx="1246444" cy="7078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5f8ac9134d</a:t>
            </a:r>
            <a:endParaRPr lang="en-US" sz="2000" dirty="0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A386B268-9F13-ECD9-0FE3-5DC42FD56C5D}"/>
              </a:ext>
            </a:extLst>
          </p:cNvPr>
          <p:cNvSpPr txBox="1"/>
          <p:nvPr/>
        </p:nvSpPr>
        <p:spPr>
          <a:xfrm>
            <a:off x="2287583" y="2348484"/>
            <a:ext cx="1246443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/>
              <a:t>Header:</a:t>
            </a:r>
          </a:p>
          <a:p>
            <a:pPr algn="ctr"/>
            <a:r>
              <a:rPr lang="pt-BR" sz="2000" dirty="0"/>
              <a:t>Seq.Num</a:t>
            </a:r>
          </a:p>
          <a:p>
            <a:pPr algn="ctr"/>
            <a:r>
              <a:rPr lang="pt-BR" sz="2000" dirty="0"/>
              <a:t>ID...</a:t>
            </a:r>
            <a:endParaRPr lang="en-US" sz="2000" dirty="0"/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F6316265-D4B2-1347-8635-BE05805F46FC}"/>
              </a:ext>
            </a:extLst>
          </p:cNvPr>
          <p:cNvSpPr txBox="1"/>
          <p:nvPr/>
        </p:nvSpPr>
        <p:spPr>
          <a:xfrm>
            <a:off x="8795144" y="3365039"/>
            <a:ext cx="1246444" cy="7078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5f8ac9134d</a:t>
            </a:r>
            <a:endParaRPr lang="en-US" sz="2000" dirty="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13B6150E-DA9D-11BC-F434-6558A0DD8F26}"/>
              </a:ext>
            </a:extLst>
          </p:cNvPr>
          <p:cNvSpPr txBox="1"/>
          <p:nvPr/>
        </p:nvSpPr>
        <p:spPr>
          <a:xfrm>
            <a:off x="8795143" y="2348484"/>
            <a:ext cx="1246443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/>
              <a:t>Header:</a:t>
            </a:r>
          </a:p>
          <a:p>
            <a:pPr algn="ctr"/>
            <a:r>
              <a:rPr lang="pt-BR" sz="2000" dirty="0"/>
              <a:t>Seq.Num</a:t>
            </a:r>
          </a:p>
          <a:p>
            <a:pPr algn="ctr"/>
            <a:r>
              <a:rPr lang="pt-BR" sz="2000" dirty="0"/>
              <a:t>ID...</a:t>
            </a:r>
            <a:endParaRPr lang="en-US" sz="20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A901370-A06F-D18D-1F14-EBA86C532347}"/>
              </a:ext>
            </a:extLst>
          </p:cNvPr>
          <p:cNvSpPr txBox="1"/>
          <p:nvPr/>
        </p:nvSpPr>
        <p:spPr>
          <a:xfrm>
            <a:off x="4630395" y="4468193"/>
            <a:ext cx="2743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Derive symmetric wrapper key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3F6E909-783A-E0C3-0812-6A280DA93C6A}"/>
              </a:ext>
            </a:extLst>
          </p:cNvPr>
          <p:cNvSpPr/>
          <p:nvPr/>
        </p:nvSpPr>
        <p:spPr>
          <a:xfrm>
            <a:off x="2198131" y="2214542"/>
            <a:ext cx="1446345" cy="1990611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A0D76165-F69F-1276-7A7E-277423FD079F}"/>
              </a:ext>
            </a:extLst>
          </p:cNvPr>
          <p:cNvSpPr/>
          <p:nvPr/>
        </p:nvSpPr>
        <p:spPr>
          <a:xfrm>
            <a:off x="8689412" y="2214542"/>
            <a:ext cx="1446345" cy="1990611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fik 2" descr="Ein Bild, das Metallwaren, Schlüssel enthält.&#10;&#10;Automatisch generierte Beschreibung">
            <a:extLst>
              <a:ext uri="{FF2B5EF4-FFF2-40B4-BE49-F238E27FC236}">
                <a16:creationId xmlns:a16="http://schemas.microsoft.com/office/drawing/2014/main" id="{B1DD92D4-A2BC-B551-7EFB-CE9B949B16A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18227" y="5718060"/>
            <a:ext cx="430073" cy="430073"/>
          </a:xfrm>
          <a:prstGeom prst="rect">
            <a:avLst/>
          </a:prstGeom>
        </p:spPr>
      </p:pic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66C84CB5-AF3E-EC22-92EE-7CDEA56C08D7}"/>
              </a:ext>
            </a:extLst>
          </p:cNvPr>
          <p:cNvCxnSpPr>
            <a:cxnSpLocks/>
          </p:cNvCxnSpPr>
          <p:nvPr/>
        </p:nvCxnSpPr>
        <p:spPr>
          <a:xfrm>
            <a:off x="1806569" y="4280435"/>
            <a:ext cx="0" cy="1324206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fik 11" descr="Ein Bild, das Metallwaren, Schlüssel enthält.&#10;&#10;Automatisch generierte Beschreibung">
            <a:extLst>
              <a:ext uri="{FF2B5EF4-FFF2-40B4-BE49-F238E27FC236}">
                <a16:creationId xmlns:a16="http://schemas.microsoft.com/office/drawing/2014/main" id="{4B0EFE99-368A-A8C1-C8CB-82EB9CD99EF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376788" y="2015202"/>
            <a:ext cx="430073" cy="430073"/>
          </a:xfrm>
          <a:prstGeom prst="rect">
            <a:avLst/>
          </a:prstGeom>
        </p:spPr>
      </p:pic>
      <p:pic>
        <p:nvPicPr>
          <p:cNvPr id="15" name="Grafik 14" descr="Ein Bild, das Metallwaren, Schlüssel enthält.&#10;&#10;Automatisch generierte Beschreibung">
            <a:extLst>
              <a:ext uri="{FF2B5EF4-FFF2-40B4-BE49-F238E27FC236}">
                <a16:creationId xmlns:a16="http://schemas.microsoft.com/office/drawing/2014/main" id="{1CDBF3EC-594F-08FE-C8A9-CF063FADDBB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873635" y="2061569"/>
            <a:ext cx="430073" cy="430073"/>
          </a:xfrm>
          <a:prstGeom prst="rect">
            <a:avLst/>
          </a:prstGeom>
        </p:spPr>
      </p:pic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26BEFFE8-4C7F-5977-B6B9-3D28ED13BBCD}"/>
              </a:ext>
            </a:extLst>
          </p:cNvPr>
          <p:cNvCxnSpPr/>
          <p:nvPr/>
        </p:nvCxnSpPr>
        <p:spPr>
          <a:xfrm flipH="1">
            <a:off x="2921303" y="5361912"/>
            <a:ext cx="1792402" cy="0"/>
          </a:xfrm>
          <a:prstGeom prst="line">
            <a:avLst/>
          </a:prstGeom>
          <a:ln>
            <a:prstDash val="dash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6276F8DB-9544-E702-7C4A-910725F879BE}"/>
              </a:ext>
            </a:extLst>
          </p:cNvPr>
          <p:cNvCxnSpPr>
            <a:cxnSpLocks/>
          </p:cNvCxnSpPr>
          <p:nvPr/>
        </p:nvCxnSpPr>
        <p:spPr>
          <a:xfrm flipH="1">
            <a:off x="7566120" y="5376134"/>
            <a:ext cx="2053910" cy="0"/>
          </a:xfrm>
          <a:prstGeom prst="line">
            <a:avLst/>
          </a:prstGeom>
          <a:ln>
            <a:prstDash val="dash"/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228AB02E-841E-6AC8-D55F-9B12A1E9A32F}"/>
              </a:ext>
            </a:extLst>
          </p:cNvPr>
          <p:cNvCxnSpPr>
            <a:cxnSpLocks/>
          </p:cNvCxnSpPr>
          <p:nvPr/>
        </p:nvCxnSpPr>
        <p:spPr>
          <a:xfrm>
            <a:off x="1806569" y="4280435"/>
            <a:ext cx="589790" cy="1324206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Grafik 35" descr="Marke Silhouette">
            <a:extLst>
              <a:ext uri="{FF2B5EF4-FFF2-40B4-BE49-F238E27FC236}">
                <a16:creationId xmlns:a16="http://schemas.microsoft.com/office/drawing/2014/main" id="{A4FD8B65-8EA8-9274-F681-D28E42387A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52043" y="5596978"/>
            <a:ext cx="672236" cy="672236"/>
          </a:xfrm>
          <a:prstGeom prst="rect">
            <a:avLst/>
          </a:prstGeom>
        </p:spPr>
      </p:pic>
      <p:pic>
        <p:nvPicPr>
          <p:cNvPr id="37" name="Grafik 36" descr="Ein Bild, das Metallwaren, Schlüssel enthält.&#10;&#10;Automatisch generierte Beschreibung">
            <a:extLst>
              <a:ext uri="{FF2B5EF4-FFF2-40B4-BE49-F238E27FC236}">
                <a16:creationId xmlns:a16="http://schemas.microsoft.com/office/drawing/2014/main" id="{EF6414D8-E077-E23F-2C5D-DFD86D4DEC3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172410" y="5718060"/>
            <a:ext cx="430073" cy="430073"/>
          </a:xfrm>
          <a:prstGeom prst="rect">
            <a:avLst/>
          </a:prstGeom>
        </p:spPr>
      </p:pic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6EF82CDD-74D7-924A-A451-AC1B742FB099}"/>
              </a:ext>
            </a:extLst>
          </p:cNvPr>
          <p:cNvCxnSpPr>
            <a:cxnSpLocks/>
          </p:cNvCxnSpPr>
          <p:nvPr/>
        </p:nvCxnSpPr>
        <p:spPr>
          <a:xfrm>
            <a:off x="10460752" y="4280435"/>
            <a:ext cx="0" cy="1324206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5215C02C-CEE8-20A5-1D48-8915709833AB}"/>
              </a:ext>
            </a:extLst>
          </p:cNvPr>
          <p:cNvCxnSpPr>
            <a:cxnSpLocks/>
          </p:cNvCxnSpPr>
          <p:nvPr/>
        </p:nvCxnSpPr>
        <p:spPr>
          <a:xfrm>
            <a:off x="10460752" y="4280435"/>
            <a:ext cx="589790" cy="1324206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Grafik 40" descr="Marke Silhouette">
            <a:extLst>
              <a:ext uri="{FF2B5EF4-FFF2-40B4-BE49-F238E27FC236}">
                <a16:creationId xmlns:a16="http://schemas.microsoft.com/office/drawing/2014/main" id="{24120DFD-274B-51E4-9FA8-100F06A5C8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06226" y="5596978"/>
            <a:ext cx="672236" cy="672236"/>
          </a:xfrm>
          <a:prstGeom prst="rect">
            <a:avLst/>
          </a:prstGeom>
        </p:spPr>
      </p:pic>
      <p:pic>
        <p:nvPicPr>
          <p:cNvPr id="42" name="Grafik 41" descr="Marke Silhouette">
            <a:extLst>
              <a:ext uri="{FF2B5EF4-FFF2-40B4-BE49-F238E27FC236}">
                <a16:creationId xmlns:a16="http://schemas.microsoft.com/office/drawing/2014/main" id="{468E5298-78B6-0E91-DD23-C76BF50288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67135" y="4132075"/>
            <a:ext cx="672236" cy="672236"/>
          </a:xfrm>
          <a:prstGeom prst="rect">
            <a:avLst/>
          </a:prstGeom>
        </p:spPr>
      </p:pic>
      <p:pic>
        <p:nvPicPr>
          <p:cNvPr id="43" name="Grafik 42" descr="Marke Silhouette">
            <a:extLst>
              <a:ext uri="{FF2B5EF4-FFF2-40B4-BE49-F238E27FC236}">
                <a16:creationId xmlns:a16="http://schemas.microsoft.com/office/drawing/2014/main" id="{0D3BB1A7-D7D2-9D6E-7C32-30111E07F7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86516" y="4132075"/>
            <a:ext cx="672236" cy="672236"/>
          </a:xfrm>
          <a:prstGeom prst="rect">
            <a:avLst/>
          </a:prstGeom>
        </p:spPr>
      </p:pic>
      <p:sp>
        <p:nvSpPr>
          <p:cNvPr id="44" name="Textfeld 43">
            <a:extLst>
              <a:ext uri="{FF2B5EF4-FFF2-40B4-BE49-F238E27FC236}">
                <a16:creationId xmlns:a16="http://schemas.microsoft.com/office/drawing/2014/main" id="{0F7193E8-021E-16F2-F781-E4B0B88D4C33}"/>
              </a:ext>
            </a:extLst>
          </p:cNvPr>
          <p:cNvSpPr txBox="1"/>
          <p:nvPr/>
        </p:nvSpPr>
        <p:spPr>
          <a:xfrm>
            <a:off x="4630395" y="5745994"/>
            <a:ext cx="274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+ random label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BADE6223-402B-0ADA-17A7-C9C961D8672E}"/>
              </a:ext>
            </a:extLst>
          </p:cNvPr>
          <p:cNvSpPr txBox="1"/>
          <p:nvPr/>
        </p:nvSpPr>
        <p:spPr>
          <a:xfrm>
            <a:off x="3215181" y="1795871"/>
            <a:ext cx="7241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?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225D5F75-225B-7FA6-C7AB-35F995DF77EB}"/>
              </a:ext>
            </a:extLst>
          </p:cNvPr>
          <p:cNvSpPr txBox="1"/>
          <p:nvPr/>
        </p:nvSpPr>
        <p:spPr>
          <a:xfrm>
            <a:off x="9728805" y="4043237"/>
            <a:ext cx="7241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?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7055785-B648-53D1-9E4F-2AA3D3DC7A0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19916" y="1688866"/>
            <a:ext cx="1224554" cy="1224554"/>
          </a:xfrm>
          <a:prstGeom prst="rect">
            <a:avLst/>
          </a:prstGeom>
        </p:spPr>
      </p:pic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2A812C82-C2A6-529F-0155-6876B9E3CCE1}"/>
              </a:ext>
            </a:extLst>
          </p:cNvPr>
          <p:cNvCxnSpPr>
            <a:cxnSpLocks/>
          </p:cNvCxnSpPr>
          <p:nvPr/>
        </p:nvCxnSpPr>
        <p:spPr>
          <a:xfrm>
            <a:off x="10172410" y="3718090"/>
            <a:ext cx="686090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301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44" grpId="0"/>
      <p:bldP spid="45" grpId="0"/>
      <p:bldP spid="45" grpId="1"/>
      <p:bldP spid="46" grpId="0"/>
      <p:bldP spid="46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2ED20-2AE6-889B-F5AC-31CC7B30C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rafik 77">
            <a:extLst>
              <a:ext uri="{FF2B5EF4-FFF2-40B4-BE49-F238E27FC236}">
                <a16:creationId xmlns:a16="http://schemas.microsoft.com/office/drawing/2014/main" id="{B6218B43-11CC-F346-F0BA-0B5A4ACEA3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34505" y="2964044"/>
            <a:ext cx="1762232" cy="1762232"/>
          </a:xfrm>
          <a:prstGeom prst="rect">
            <a:avLst/>
          </a:prstGeom>
        </p:spPr>
      </p:pic>
      <p:pic>
        <p:nvPicPr>
          <p:cNvPr id="75" name="Grafik 74">
            <a:extLst>
              <a:ext uri="{FF2B5EF4-FFF2-40B4-BE49-F238E27FC236}">
                <a16:creationId xmlns:a16="http://schemas.microsoft.com/office/drawing/2014/main" id="{63705ABE-29BC-A28C-4F0F-D32A4AE2E8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09" y="2964044"/>
            <a:ext cx="1762232" cy="176223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7837197-65C7-0137-9D19-1BD9C46BC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9"/>
            <a:ext cx="10515600" cy="1325563"/>
          </a:xfrm>
        </p:spPr>
        <p:txBody>
          <a:bodyPr/>
          <a:lstStyle/>
          <a:p>
            <a:r>
              <a:rPr lang="en-US" dirty="0"/>
              <a:t>Our Approach: Anonymity Wrapper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BCB94C-5B22-40BB-5E8D-D3A0375B4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21BE-5AB5-4051-B4BD-CDC64C855B3D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Grafik 5" descr="Ein Bild, das Metallwaren, Schlüssel enthält.&#10;&#10;Automatisch generierte Beschreibung">
            <a:extLst>
              <a:ext uri="{FF2B5EF4-FFF2-40B4-BE49-F238E27FC236}">
                <a16:creationId xmlns:a16="http://schemas.microsoft.com/office/drawing/2014/main" id="{0C0C744D-91AE-2D9F-8763-08CA7A8B99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5563" y="3845160"/>
            <a:ext cx="422013" cy="422013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066E7855-A1F5-3BBC-5F0C-430DD21E3A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0287" y="1577401"/>
            <a:ext cx="1288864" cy="1288864"/>
          </a:xfrm>
          <a:prstGeom prst="rect">
            <a:avLst/>
          </a:prstGeom>
        </p:spPr>
      </p:pic>
      <p:sp>
        <p:nvSpPr>
          <p:cNvPr id="24" name="Textfeld 23">
            <a:extLst>
              <a:ext uri="{FF2B5EF4-FFF2-40B4-BE49-F238E27FC236}">
                <a16:creationId xmlns:a16="http://schemas.microsoft.com/office/drawing/2014/main" id="{B3217748-0001-6B8A-A456-BE7A40A07086}"/>
              </a:ext>
            </a:extLst>
          </p:cNvPr>
          <p:cNvSpPr txBox="1"/>
          <p:nvPr/>
        </p:nvSpPr>
        <p:spPr>
          <a:xfrm>
            <a:off x="500608" y="3365039"/>
            <a:ext cx="914400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Hi, Blake!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61537A71-982C-93F3-B306-7F71B057F323}"/>
              </a:ext>
            </a:extLst>
          </p:cNvPr>
          <p:cNvSpPr txBox="1"/>
          <p:nvPr/>
        </p:nvSpPr>
        <p:spPr>
          <a:xfrm>
            <a:off x="1518227" y="3349650"/>
            <a:ext cx="724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Enc</a:t>
            </a:r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B7601644-A7A4-0102-284D-446046D04B56}"/>
              </a:ext>
            </a:extLst>
          </p:cNvPr>
          <p:cNvCxnSpPr>
            <a:cxnSpLocks/>
          </p:cNvCxnSpPr>
          <p:nvPr/>
        </p:nvCxnSpPr>
        <p:spPr>
          <a:xfrm flipV="1">
            <a:off x="3714583" y="3718090"/>
            <a:ext cx="4878492" cy="892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Grafik 56" descr="Ein Bild, das Metallwaren, Schlüssel enthält.&#10;&#10;Automatisch generierte Beschreibung">
            <a:extLst>
              <a:ext uri="{FF2B5EF4-FFF2-40B4-BE49-F238E27FC236}">
                <a16:creationId xmlns:a16="http://schemas.microsoft.com/office/drawing/2014/main" id="{A11ACE5B-4DFF-254C-6DB8-141E79A6A5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9746" y="3845160"/>
            <a:ext cx="422013" cy="422013"/>
          </a:xfrm>
          <a:prstGeom prst="rect">
            <a:avLst/>
          </a:prstGeom>
        </p:spPr>
      </p:pic>
      <p:sp>
        <p:nvSpPr>
          <p:cNvPr id="59" name="Textfeld 58">
            <a:extLst>
              <a:ext uri="{FF2B5EF4-FFF2-40B4-BE49-F238E27FC236}">
                <a16:creationId xmlns:a16="http://schemas.microsoft.com/office/drawing/2014/main" id="{10FD1280-3D07-48EB-53C8-6BDC4BC5F243}"/>
              </a:ext>
            </a:extLst>
          </p:cNvPr>
          <p:cNvSpPr txBox="1"/>
          <p:nvPr/>
        </p:nvSpPr>
        <p:spPr>
          <a:xfrm>
            <a:off x="10958421" y="3365039"/>
            <a:ext cx="914400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Hi, Blake!</a:t>
            </a:r>
          </a:p>
        </p:txBody>
      </p: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04ECB4C7-6208-34B5-6F10-4EF2BBD11EFB}"/>
              </a:ext>
            </a:extLst>
          </p:cNvPr>
          <p:cNvCxnSpPr>
            <a:cxnSpLocks/>
          </p:cNvCxnSpPr>
          <p:nvPr/>
        </p:nvCxnSpPr>
        <p:spPr>
          <a:xfrm>
            <a:off x="10172410" y="3718090"/>
            <a:ext cx="686090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423D0D02-856F-1B36-D029-44A4D2BE6A48}"/>
              </a:ext>
            </a:extLst>
          </p:cNvPr>
          <p:cNvSpPr txBox="1"/>
          <p:nvPr/>
        </p:nvSpPr>
        <p:spPr>
          <a:xfrm>
            <a:off x="10172410" y="3349650"/>
            <a:ext cx="724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E99D6424-1646-F512-FA58-074F5F925AED}"/>
              </a:ext>
            </a:extLst>
          </p:cNvPr>
          <p:cNvSpPr txBox="1"/>
          <p:nvPr/>
        </p:nvSpPr>
        <p:spPr>
          <a:xfrm>
            <a:off x="2287584" y="3365039"/>
            <a:ext cx="1246444" cy="7078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5f8ac9134d</a:t>
            </a:r>
            <a:endParaRPr lang="en-US" sz="2000" dirty="0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CC02E624-568A-B912-3638-8737777E98F0}"/>
              </a:ext>
            </a:extLst>
          </p:cNvPr>
          <p:cNvSpPr txBox="1"/>
          <p:nvPr/>
        </p:nvSpPr>
        <p:spPr>
          <a:xfrm>
            <a:off x="2287583" y="2348484"/>
            <a:ext cx="1246443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/>
              <a:t>Header:</a:t>
            </a:r>
          </a:p>
          <a:p>
            <a:pPr algn="ctr"/>
            <a:r>
              <a:rPr lang="pt-BR" sz="2000" dirty="0"/>
              <a:t>Seq.Num</a:t>
            </a:r>
          </a:p>
          <a:p>
            <a:pPr algn="ctr"/>
            <a:r>
              <a:rPr lang="pt-BR" sz="2000" dirty="0"/>
              <a:t>ID...</a:t>
            </a:r>
            <a:endParaRPr lang="en-US" sz="2000" dirty="0"/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3070EDF6-2D0A-65E3-964D-98A689F74FC0}"/>
              </a:ext>
            </a:extLst>
          </p:cNvPr>
          <p:cNvSpPr txBox="1"/>
          <p:nvPr/>
        </p:nvSpPr>
        <p:spPr>
          <a:xfrm>
            <a:off x="8795144" y="3365039"/>
            <a:ext cx="1246444" cy="7078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5f8ac9134d</a:t>
            </a:r>
            <a:endParaRPr lang="en-US" sz="2000" dirty="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6AFD0083-A73D-8AE0-CF56-6AA9B48F9BDC}"/>
              </a:ext>
            </a:extLst>
          </p:cNvPr>
          <p:cNvSpPr txBox="1"/>
          <p:nvPr/>
        </p:nvSpPr>
        <p:spPr>
          <a:xfrm>
            <a:off x="8795143" y="2348484"/>
            <a:ext cx="1246443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/>
              <a:t>Header:</a:t>
            </a:r>
          </a:p>
          <a:p>
            <a:pPr algn="ctr"/>
            <a:r>
              <a:rPr lang="pt-BR" sz="2000" dirty="0"/>
              <a:t>Seq.Num</a:t>
            </a:r>
          </a:p>
          <a:p>
            <a:pPr algn="ctr"/>
            <a:r>
              <a:rPr lang="pt-BR" sz="2000" dirty="0"/>
              <a:t>ID...</a:t>
            </a:r>
            <a:endParaRPr lang="en-US" sz="2000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DE8BA7A-6463-9EF7-06CD-4D02C5C11454}"/>
              </a:ext>
            </a:extLst>
          </p:cNvPr>
          <p:cNvSpPr/>
          <p:nvPr/>
        </p:nvSpPr>
        <p:spPr>
          <a:xfrm>
            <a:off x="2198131" y="2214542"/>
            <a:ext cx="1446345" cy="1990611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AAA9A862-2E98-4E72-5AF5-34AADFC94275}"/>
              </a:ext>
            </a:extLst>
          </p:cNvPr>
          <p:cNvSpPr/>
          <p:nvPr/>
        </p:nvSpPr>
        <p:spPr>
          <a:xfrm>
            <a:off x="8689412" y="2214542"/>
            <a:ext cx="1446345" cy="1990611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fik 2" descr="Ein Bild, das Metallwaren, Schlüssel enthält.&#10;&#10;Automatisch generierte Beschreibung">
            <a:extLst>
              <a:ext uri="{FF2B5EF4-FFF2-40B4-BE49-F238E27FC236}">
                <a16:creationId xmlns:a16="http://schemas.microsoft.com/office/drawing/2014/main" id="{9227E7B5-181B-1A5D-1387-169785B474C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18227" y="5718060"/>
            <a:ext cx="430073" cy="430073"/>
          </a:xfrm>
          <a:prstGeom prst="rect">
            <a:avLst/>
          </a:prstGeom>
        </p:spPr>
      </p:pic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1BB740E-A1D1-5051-138A-CB2EB64B48EB}"/>
              </a:ext>
            </a:extLst>
          </p:cNvPr>
          <p:cNvCxnSpPr>
            <a:cxnSpLocks/>
          </p:cNvCxnSpPr>
          <p:nvPr/>
        </p:nvCxnSpPr>
        <p:spPr>
          <a:xfrm>
            <a:off x="1806569" y="4280435"/>
            <a:ext cx="0" cy="1324206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fik 11" descr="Ein Bild, das Metallwaren, Schlüssel enthält.&#10;&#10;Automatisch generierte Beschreibung">
            <a:extLst>
              <a:ext uri="{FF2B5EF4-FFF2-40B4-BE49-F238E27FC236}">
                <a16:creationId xmlns:a16="http://schemas.microsoft.com/office/drawing/2014/main" id="{912AA821-9B45-EC48-BA05-9CBD1FC6649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376788" y="2015202"/>
            <a:ext cx="430073" cy="430073"/>
          </a:xfrm>
          <a:prstGeom prst="rect">
            <a:avLst/>
          </a:prstGeom>
        </p:spPr>
      </p:pic>
      <p:pic>
        <p:nvPicPr>
          <p:cNvPr id="15" name="Grafik 14" descr="Ein Bild, das Metallwaren, Schlüssel enthält.&#10;&#10;Automatisch generierte Beschreibung">
            <a:extLst>
              <a:ext uri="{FF2B5EF4-FFF2-40B4-BE49-F238E27FC236}">
                <a16:creationId xmlns:a16="http://schemas.microsoft.com/office/drawing/2014/main" id="{1738EFD4-65BC-D8D3-2ABB-9173AAAC3F0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873635" y="2061569"/>
            <a:ext cx="430073" cy="430073"/>
          </a:xfrm>
          <a:prstGeom prst="rect">
            <a:avLst/>
          </a:prstGeom>
        </p:spPr>
      </p:pic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E1D6D72A-7664-6025-492F-3AC4BDC71402}"/>
              </a:ext>
            </a:extLst>
          </p:cNvPr>
          <p:cNvCxnSpPr>
            <a:cxnSpLocks/>
          </p:cNvCxnSpPr>
          <p:nvPr/>
        </p:nvCxnSpPr>
        <p:spPr>
          <a:xfrm>
            <a:off x="1806569" y="4280435"/>
            <a:ext cx="589790" cy="1324206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Grafik 35" descr="Marke Silhouette">
            <a:extLst>
              <a:ext uri="{FF2B5EF4-FFF2-40B4-BE49-F238E27FC236}">
                <a16:creationId xmlns:a16="http://schemas.microsoft.com/office/drawing/2014/main" id="{F942F9BF-BFB7-FCD2-FB7D-77EB9E2353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52043" y="5596978"/>
            <a:ext cx="672236" cy="672236"/>
          </a:xfrm>
          <a:prstGeom prst="rect">
            <a:avLst/>
          </a:prstGeom>
        </p:spPr>
      </p:pic>
      <p:pic>
        <p:nvPicPr>
          <p:cNvPr id="37" name="Grafik 36" descr="Ein Bild, das Metallwaren, Schlüssel enthält.&#10;&#10;Automatisch generierte Beschreibung">
            <a:extLst>
              <a:ext uri="{FF2B5EF4-FFF2-40B4-BE49-F238E27FC236}">
                <a16:creationId xmlns:a16="http://schemas.microsoft.com/office/drawing/2014/main" id="{62836FB2-7E62-062F-DE54-8A7F2A03561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172410" y="5718060"/>
            <a:ext cx="430073" cy="430073"/>
          </a:xfrm>
          <a:prstGeom prst="rect">
            <a:avLst/>
          </a:prstGeom>
        </p:spPr>
      </p:pic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ADB7DF36-2535-33BB-FE91-35AC0E3A698C}"/>
              </a:ext>
            </a:extLst>
          </p:cNvPr>
          <p:cNvCxnSpPr>
            <a:cxnSpLocks/>
          </p:cNvCxnSpPr>
          <p:nvPr/>
        </p:nvCxnSpPr>
        <p:spPr>
          <a:xfrm>
            <a:off x="10460752" y="4280435"/>
            <a:ext cx="0" cy="1324206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72BFA3F6-B2B1-115C-8159-06DF3DD3ABDA}"/>
              </a:ext>
            </a:extLst>
          </p:cNvPr>
          <p:cNvCxnSpPr>
            <a:cxnSpLocks/>
          </p:cNvCxnSpPr>
          <p:nvPr/>
        </p:nvCxnSpPr>
        <p:spPr>
          <a:xfrm>
            <a:off x="10460752" y="4280435"/>
            <a:ext cx="589790" cy="1324206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Grafik 40" descr="Marke Silhouette">
            <a:extLst>
              <a:ext uri="{FF2B5EF4-FFF2-40B4-BE49-F238E27FC236}">
                <a16:creationId xmlns:a16="http://schemas.microsoft.com/office/drawing/2014/main" id="{8C92362A-D232-3BF0-4E4F-E2EA6E08E4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06226" y="5596978"/>
            <a:ext cx="672236" cy="672236"/>
          </a:xfrm>
          <a:prstGeom prst="rect">
            <a:avLst/>
          </a:prstGeom>
        </p:spPr>
      </p:pic>
      <p:pic>
        <p:nvPicPr>
          <p:cNvPr id="42" name="Grafik 41" descr="Marke Silhouette">
            <a:extLst>
              <a:ext uri="{FF2B5EF4-FFF2-40B4-BE49-F238E27FC236}">
                <a16:creationId xmlns:a16="http://schemas.microsoft.com/office/drawing/2014/main" id="{F72F0FE2-45E7-451F-9346-22EB1850EB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67135" y="4132075"/>
            <a:ext cx="672236" cy="672236"/>
          </a:xfrm>
          <a:prstGeom prst="rect">
            <a:avLst/>
          </a:prstGeom>
        </p:spPr>
      </p:pic>
      <p:pic>
        <p:nvPicPr>
          <p:cNvPr id="43" name="Grafik 42" descr="Marke Silhouette">
            <a:extLst>
              <a:ext uri="{FF2B5EF4-FFF2-40B4-BE49-F238E27FC236}">
                <a16:creationId xmlns:a16="http://schemas.microsoft.com/office/drawing/2014/main" id="{90B60298-0461-0DF2-10C8-DB21FE037C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86516" y="4132075"/>
            <a:ext cx="672236" cy="672236"/>
          </a:xfrm>
          <a:prstGeom prst="rect">
            <a:avLst/>
          </a:prstGeom>
        </p:spPr>
      </p:pic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1857475B-1B69-D529-F6D0-5A47FFB1A645}"/>
              </a:ext>
            </a:extLst>
          </p:cNvPr>
          <p:cNvSpPr/>
          <p:nvPr/>
        </p:nvSpPr>
        <p:spPr>
          <a:xfrm>
            <a:off x="2787643" y="978674"/>
            <a:ext cx="3565860" cy="95676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F6C4F"/>
              </a:gs>
              <a:gs pos="83000">
                <a:srgbClr val="FF6C4F"/>
              </a:gs>
              <a:gs pos="100000">
                <a:srgbClr val="FF6C4F"/>
              </a:gs>
            </a:gsLst>
            <a:lin ang="5400000" scaled="1"/>
          </a:gra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No anonymity under long-term key compromise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11772215-8AB3-5E13-D07D-7149F859DB72}"/>
              </a:ext>
            </a:extLst>
          </p:cNvPr>
          <p:cNvSpPr/>
          <p:nvPr/>
        </p:nvSpPr>
        <p:spPr>
          <a:xfrm>
            <a:off x="2799738" y="5881526"/>
            <a:ext cx="3565860" cy="741719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F6C4F"/>
              </a:gs>
              <a:gs pos="83000">
                <a:srgbClr val="FF6C4F"/>
              </a:gs>
              <a:gs pos="100000">
                <a:srgbClr val="FF6C4F"/>
              </a:gs>
            </a:gsLst>
            <a:lin ang="5400000" scaled="1"/>
          </a:gra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Linear overhead in groups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8D2083E6-1373-47B2-2FFA-8B3B53F56E41}"/>
              </a:ext>
            </a:extLst>
          </p:cNvPr>
          <p:cNvSpPr/>
          <p:nvPr/>
        </p:nvSpPr>
        <p:spPr>
          <a:xfrm>
            <a:off x="2799738" y="4830520"/>
            <a:ext cx="3565860" cy="741719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F6C4F"/>
              </a:gs>
              <a:gs pos="83000">
                <a:srgbClr val="FF6C4F"/>
              </a:gs>
              <a:gs pos="100000">
                <a:srgbClr val="FF6C4F"/>
              </a:gs>
            </a:gsLst>
            <a:lin ang="5400000" scaled="1"/>
          </a:gra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Expensive public key crypto for each message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63258434-A419-2F0B-0E09-402FED9FBFB8}"/>
              </a:ext>
            </a:extLst>
          </p:cNvPr>
          <p:cNvSpPr/>
          <p:nvPr/>
        </p:nvSpPr>
        <p:spPr>
          <a:xfrm>
            <a:off x="6468926" y="978674"/>
            <a:ext cx="3565860" cy="95676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92D050"/>
              </a:gs>
              <a:gs pos="83000">
                <a:srgbClr val="92D050"/>
              </a:gs>
              <a:gs pos="100000">
                <a:srgbClr val="92D050"/>
              </a:gs>
            </a:gsLst>
            <a:lin ang="5400000" scaled="1"/>
          </a:gra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Strong anonymity under key compromise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CFBA03BA-A2B4-E6B0-F6D2-336B398567DE}"/>
              </a:ext>
            </a:extLst>
          </p:cNvPr>
          <p:cNvSpPr/>
          <p:nvPr/>
        </p:nvSpPr>
        <p:spPr>
          <a:xfrm>
            <a:off x="6468926" y="4830520"/>
            <a:ext cx="3565860" cy="741719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92D050"/>
              </a:gs>
              <a:gs pos="83000">
                <a:srgbClr val="92D050"/>
              </a:gs>
              <a:gs pos="100000">
                <a:srgbClr val="92D050"/>
              </a:gs>
            </a:gsLst>
            <a:lin ang="5400000" scaled="1"/>
          </a:gra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Only symmetric key crypto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458567F1-8D84-0D4E-C6A7-47AA8D321217}"/>
              </a:ext>
            </a:extLst>
          </p:cNvPr>
          <p:cNvSpPr/>
          <p:nvPr/>
        </p:nvSpPr>
        <p:spPr>
          <a:xfrm>
            <a:off x="6468926" y="5881525"/>
            <a:ext cx="3565860" cy="741719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92D050"/>
              </a:gs>
              <a:gs pos="83000">
                <a:srgbClr val="92D050"/>
              </a:gs>
              <a:gs pos="100000">
                <a:srgbClr val="92D050"/>
              </a:gs>
            </a:gsLst>
            <a:lin ang="5400000" scaled="1"/>
          </a:gra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Constant overhead in groups</a:t>
            </a:r>
          </a:p>
        </p:txBody>
      </p:sp>
      <p:sp>
        <p:nvSpPr>
          <p:cNvPr id="27" name="Multiplikationszeichen 26">
            <a:extLst>
              <a:ext uri="{FF2B5EF4-FFF2-40B4-BE49-F238E27FC236}">
                <a16:creationId xmlns:a16="http://schemas.microsoft.com/office/drawing/2014/main" id="{EE06DCDB-448F-A6D1-870F-34A2DF32870D}"/>
              </a:ext>
            </a:extLst>
          </p:cNvPr>
          <p:cNvSpPr/>
          <p:nvPr/>
        </p:nvSpPr>
        <p:spPr>
          <a:xfrm>
            <a:off x="3417299" y="544195"/>
            <a:ext cx="2200268" cy="1837697"/>
          </a:xfrm>
          <a:prstGeom prst="mathMultiply">
            <a:avLst>
              <a:gd name="adj1" fmla="val 4217"/>
            </a:avLst>
          </a:prstGeom>
          <a:solidFill>
            <a:schemeClr val="tx1">
              <a:lumMod val="65000"/>
              <a:lumOff val="35000"/>
              <a:alpha val="6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Multiplikationszeichen 27">
            <a:extLst>
              <a:ext uri="{FF2B5EF4-FFF2-40B4-BE49-F238E27FC236}">
                <a16:creationId xmlns:a16="http://schemas.microsoft.com/office/drawing/2014/main" id="{D7601441-3392-65D8-23E7-74B02239F210}"/>
              </a:ext>
            </a:extLst>
          </p:cNvPr>
          <p:cNvSpPr/>
          <p:nvPr/>
        </p:nvSpPr>
        <p:spPr>
          <a:xfrm>
            <a:off x="3417299" y="4298555"/>
            <a:ext cx="2200268" cy="1837697"/>
          </a:xfrm>
          <a:prstGeom prst="mathMultiply">
            <a:avLst>
              <a:gd name="adj1" fmla="val 4217"/>
            </a:avLst>
          </a:prstGeom>
          <a:solidFill>
            <a:schemeClr val="tx1">
              <a:lumMod val="65000"/>
              <a:lumOff val="35000"/>
              <a:alpha val="6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Multiplikationszeichen 29">
            <a:extLst>
              <a:ext uri="{FF2B5EF4-FFF2-40B4-BE49-F238E27FC236}">
                <a16:creationId xmlns:a16="http://schemas.microsoft.com/office/drawing/2014/main" id="{DD48D5D9-2FAE-1275-E3B7-EA5FB39719D9}"/>
              </a:ext>
            </a:extLst>
          </p:cNvPr>
          <p:cNvSpPr/>
          <p:nvPr/>
        </p:nvSpPr>
        <p:spPr>
          <a:xfrm>
            <a:off x="3417299" y="5333535"/>
            <a:ext cx="2200268" cy="1837697"/>
          </a:xfrm>
          <a:prstGeom prst="mathMultiply">
            <a:avLst>
              <a:gd name="adj1" fmla="val 4217"/>
            </a:avLst>
          </a:prstGeom>
          <a:solidFill>
            <a:schemeClr val="tx1">
              <a:lumMod val="65000"/>
              <a:lumOff val="35000"/>
              <a:alpha val="6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ACECA98-ED28-81A2-2D55-FB71CD00F7E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19916" y="1688866"/>
            <a:ext cx="1224554" cy="1224554"/>
          </a:xfrm>
          <a:prstGeom prst="rect">
            <a:avLst/>
          </a:prstGeom>
        </p:spPr>
      </p:pic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0D766A9D-B3F6-6B03-BFF4-000CE2A1C528}"/>
              </a:ext>
            </a:extLst>
          </p:cNvPr>
          <p:cNvCxnSpPr>
            <a:cxnSpLocks/>
          </p:cNvCxnSpPr>
          <p:nvPr/>
        </p:nvCxnSpPr>
        <p:spPr>
          <a:xfrm>
            <a:off x="1495425" y="3719874"/>
            <a:ext cx="682625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551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7" grpId="0" animBg="1"/>
      <p:bldP spid="23" grpId="0" animBg="1"/>
      <p:bldP spid="27" grpId="0" animBg="1"/>
      <p:bldP spid="28" grpId="0" animBg="1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49B24-E760-99CF-B901-6C2531AA1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D60A9C-B981-E9DD-981A-B4243D657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9"/>
            <a:ext cx="10515600" cy="1325563"/>
          </a:xfrm>
        </p:spPr>
        <p:txBody>
          <a:bodyPr/>
          <a:lstStyle/>
          <a:p>
            <a:r>
              <a:rPr lang="en-US" dirty="0"/>
              <a:t>Messaging 101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B023884-2F7C-FE82-73AD-6C5ADEB88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21BE-5AB5-4051-B4BD-CDC64C855B3D}" type="slidenum">
              <a:rPr lang="en-US" smtClean="0"/>
              <a:t>8</a:t>
            </a:fld>
            <a:endParaRPr lang="en-US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48903F6C-95A7-4DFD-3D2B-0DCA38B9A0F2}"/>
              </a:ext>
            </a:extLst>
          </p:cNvPr>
          <p:cNvCxnSpPr>
            <a:cxnSpLocks/>
          </p:cNvCxnSpPr>
          <p:nvPr/>
        </p:nvCxnSpPr>
        <p:spPr>
          <a:xfrm>
            <a:off x="4500694" y="3826313"/>
            <a:ext cx="3137482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feld 57">
                <a:extLst>
                  <a:ext uri="{FF2B5EF4-FFF2-40B4-BE49-F238E27FC236}">
                    <a16:creationId xmlns:a16="http://schemas.microsoft.com/office/drawing/2014/main" id="{3604A283-5816-53C6-26EF-1803BE064D3A}"/>
                  </a:ext>
                </a:extLst>
              </p:cNvPr>
              <p:cNvSpPr txBox="1"/>
              <p:nvPr/>
            </p:nvSpPr>
            <p:spPr>
              <a:xfrm>
                <a:off x="5754227" y="4001492"/>
                <a:ext cx="53738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Textfeld 57">
                <a:extLst>
                  <a:ext uri="{FF2B5EF4-FFF2-40B4-BE49-F238E27FC236}">
                    <a16:creationId xmlns:a16="http://schemas.microsoft.com/office/drawing/2014/main" id="{3604A283-5816-53C6-26EF-1803BE064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4227" y="4001492"/>
                <a:ext cx="537389" cy="461665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feld 63">
                <a:extLst>
                  <a:ext uri="{FF2B5EF4-FFF2-40B4-BE49-F238E27FC236}">
                    <a16:creationId xmlns:a16="http://schemas.microsoft.com/office/drawing/2014/main" id="{0A7155EA-19F1-FF97-B3A9-F697454C5BE8}"/>
                  </a:ext>
                </a:extLst>
              </p:cNvPr>
              <p:cNvSpPr txBox="1"/>
              <p:nvPr/>
            </p:nvSpPr>
            <p:spPr>
              <a:xfrm>
                <a:off x="7989993" y="3445501"/>
                <a:ext cx="3093587" cy="507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DE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Textfeld 63">
                <a:extLst>
                  <a:ext uri="{FF2B5EF4-FFF2-40B4-BE49-F238E27FC236}">
                    <a16:creationId xmlns:a16="http://schemas.microsoft.com/office/drawing/2014/main" id="{0A7155EA-19F1-FF97-B3A9-F697454C5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993" y="3445501"/>
                <a:ext cx="3093587" cy="5079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6814B3C7-0D41-ED2B-932B-8852F30DB7AC}"/>
                  </a:ext>
                </a:extLst>
              </p:cNvPr>
              <p:cNvSpPr txBox="1"/>
              <p:nvPr/>
            </p:nvSpPr>
            <p:spPr>
              <a:xfrm>
                <a:off x="460552" y="2887534"/>
                <a:ext cx="44358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6814B3C7-0D41-ED2B-932B-8852F30DB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52" y="2887534"/>
                <a:ext cx="443583" cy="307777"/>
              </a:xfrm>
              <a:prstGeom prst="rect">
                <a:avLst/>
              </a:prstGeom>
              <a:blipFill>
                <a:blip r:embed="rId9"/>
                <a:stretch>
                  <a:fillRect l="-15278" b="-2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530DF17B-3A65-9DB1-CF91-4340237CD1C6}"/>
                  </a:ext>
                </a:extLst>
              </p:cNvPr>
              <p:cNvSpPr txBox="1"/>
              <p:nvPr/>
            </p:nvSpPr>
            <p:spPr>
              <a:xfrm>
                <a:off x="1833690" y="3498945"/>
                <a:ext cx="2289666" cy="4010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530DF17B-3A65-9DB1-CF91-4340237CD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690" y="3498945"/>
                <a:ext cx="2289666" cy="401072"/>
              </a:xfrm>
              <a:prstGeom prst="rect">
                <a:avLst/>
              </a:prstGeom>
              <a:blipFill>
                <a:blip r:embed="rId10"/>
                <a:stretch>
                  <a:fillRect l="-1600" r="-4533" b="-2424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F0A53056-89A1-580C-0B1B-012E56686355}"/>
              </a:ext>
            </a:extLst>
          </p:cNvPr>
          <p:cNvSpPr/>
          <p:nvPr/>
        </p:nvSpPr>
        <p:spPr>
          <a:xfrm>
            <a:off x="125834" y="2848487"/>
            <a:ext cx="4243951" cy="377377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54111923-B1B7-BC6D-C6C0-0FC834239977}"/>
                  </a:ext>
                </a:extLst>
              </p:cNvPr>
              <p:cNvSpPr txBox="1"/>
              <p:nvPr/>
            </p:nvSpPr>
            <p:spPr>
              <a:xfrm>
                <a:off x="432317" y="3545592"/>
                <a:ext cx="80137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54111923-B1B7-BC6D-C6C0-0FC834239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317" y="3545592"/>
                <a:ext cx="801373" cy="307777"/>
              </a:xfrm>
              <a:prstGeom prst="rect">
                <a:avLst/>
              </a:prstGeom>
              <a:blipFill>
                <a:blip r:embed="rId11"/>
                <a:stretch>
                  <a:fillRect l="-8397" b="-16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67DAA37D-BF2F-D80A-1A4D-708BF95B8B01}"/>
                  </a:ext>
                </a:extLst>
              </p:cNvPr>
              <p:cNvSpPr txBox="1"/>
              <p:nvPr/>
            </p:nvSpPr>
            <p:spPr>
              <a:xfrm>
                <a:off x="486469" y="6165307"/>
                <a:ext cx="74206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𝑐</m:t>
                    </m:r>
                    <m:sSubSup>
                      <m:sSubSupPr>
                        <m:ctrlPr>
                          <a:rPr lang="en-US" sz="20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de-DE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de-DE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67DAA37D-BF2F-D80A-1A4D-708BF95B8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469" y="6165307"/>
                <a:ext cx="742063" cy="307777"/>
              </a:xfrm>
              <a:prstGeom prst="rect">
                <a:avLst/>
              </a:prstGeom>
              <a:blipFill>
                <a:blip r:embed="rId12"/>
                <a:stretch>
                  <a:fillRect l="-9016" r="-4918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3144F995-A63F-0748-9F75-A65EBD04B26A}"/>
              </a:ext>
            </a:extLst>
          </p:cNvPr>
          <p:cNvCxnSpPr>
            <a:cxnSpLocks/>
          </p:cNvCxnSpPr>
          <p:nvPr/>
        </p:nvCxnSpPr>
        <p:spPr>
          <a:xfrm>
            <a:off x="4500694" y="4479202"/>
            <a:ext cx="3137482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B3D37D80-E45B-DF04-06EE-DFEBA603F1FB}"/>
              </a:ext>
            </a:extLst>
          </p:cNvPr>
          <p:cNvCxnSpPr/>
          <p:nvPr/>
        </p:nvCxnSpPr>
        <p:spPr>
          <a:xfrm>
            <a:off x="555803" y="3169587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8D03B499-EA0B-0868-A96B-661A38E57C78}"/>
              </a:ext>
            </a:extLst>
          </p:cNvPr>
          <p:cNvCxnSpPr>
            <a:cxnSpLocks/>
          </p:cNvCxnSpPr>
          <p:nvPr/>
        </p:nvCxnSpPr>
        <p:spPr>
          <a:xfrm>
            <a:off x="555803" y="3169587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7514A25F-B757-AADD-080E-52335F6371C2}"/>
                  </a:ext>
                </a:extLst>
              </p:cNvPr>
              <p:cNvSpPr txBox="1"/>
              <p:nvPr/>
            </p:nvSpPr>
            <p:spPr>
              <a:xfrm>
                <a:off x="426353" y="4203650"/>
                <a:ext cx="81330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7514A25F-B757-AADD-080E-52335F637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353" y="4203650"/>
                <a:ext cx="813300" cy="307777"/>
              </a:xfrm>
              <a:prstGeom prst="rect">
                <a:avLst/>
              </a:prstGeom>
              <a:blipFill>
                <a:blip r:embed="rId13"/>
                <a:stretch>
                  <a:fillRect l="-8271" b="-16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47944748-B647-8E5C-6B0B-AF68654FFDF4}"/>
              </a:ext>
            </a:extLst>
          </p:cNvPr>
          <p:cNvCxnSpPr/>
          <p:nvPr/>
        </p:nvCxnSpPr>
        <p:spPr>
          <a:xfrm>
            <a:off x="553673" y="5753434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33BD61AC-053C-FEC3-1CAF-CBF7CB680222}"/>
              </a:ext>
            </a:extLst>
          </p:cNvPr>
          <p:cNvCxnSpPr>
            <a:cxnSpLocks/>
          </p:cNvCxnSpPr>
          <p:nvPr/>
        </p:nvCxnSpPr>
        <p:spPr>
          <a:xfrm>
            <a:off x="553673" y="5753434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82C7D242-B953-3573-D8D0-58C1D25A7C66}"/>
                  </a:ext>
                </a:extLst>
              </p:cNvPr>
              <p:cNvSpPr txBox="1"/>
              <p:nvPr/>
            </p:nvSpPr>
            <p:spPr>
              <a:xfrm>
                <a:off x="1833690" y="4157003"/>
                <a:ext cx="2303900" cy="4010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82C7D242-B953-3573-D8D0-58C1D25A7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690" y="4157003"/>
                <a:ext cx="2303900" cy="401072"/>
              </a:xfrm>
              <a:prstGeom prst="rect">
                <a:avLst/>
              </a:prstGeom>
              <a:blipFill>
                <a:blip r:embed="rId14"/>
                <a:stretch>
                  <a:fillRect l="-1587" r="-4233" b="-2424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641D672B-833F-8748-0055-EE3898C34219}"/>
              </a:ext>
            </a:extLst>
          </p:cNvPr>
          <p:cNvSpPr/>
          <p:nvPr/>
        </p:nvSpPr>
        <p:spPr>
          <a:xfrm>
            <a:off x="7769085" y="2848487"/>
            <a:ext cx="4330410" cy="377377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E8CD799C-CE5C-2124-48EC-2969929A9966}"/>
              </a:ext>
            </a:extLst>
          </p:cNvPr>
          <p:cNvSpPr txBox="1"/>
          <p:nvPr/>
        </p:nvSpPr>
        <p:spPr>
          <a:xfrm>
            <a:off x="542550" y="4871344"/>
            <a:ext cx="8353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24D85C27-A50E-5E62-F590-150AC068A16F}"/>
                  </a:ext>
                </a:extLst>
              </p:cNvPr>
              <p:cNvSpPr txBox="1"/>
              <p:nvPr/>
            </p:nvSpPr>
            <p:spPr>
              <a:xfrm>
                <a:off x="7989993" y="4103558"/>
                <a:ext cx="3093587" cy="507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24D85C27-A50E-5E62-F590-150AC068A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993" y="4103558"/>
                <a:ext cx="3093587" cy="50796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58D8912D-6A87-21C5-6564-5CAE3477A703}"/>
                  </a:ext>
                </a:extLst>
              </p:cNvPr>
              <p:cNvSpPr txBox="1"/>
              <p:nvPr/>
            </p:nvSpPr>
            <p:spPr>
              <a:xfrm>
                <a:off x="5754227" y="4652942"/>
                <a:ext cx="53738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58D8912D-6A87-21C5-6564-5CAE3477A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4227" y="4652942"/>
                <a:ext cx="537389" cy="461665"/>
              </a:xfrm>
              <a:prstGeom prst="rect">
                <a:avLst/>
              </a:prstGeom>
              <a:blipFill>
                <a:blip r:embed="rId16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EBE64CE8-9791-5306-5467-E0F585DDE120}"/>
              </a:ext>
            </a:extLst>
          </p:cNvPr>
          <p:cNvCxnSpPr>
            <a:cxnSpLocks/>
          </p:cNvCxnSpPr>
          <p:nvPr/>
        </p:nvCxnSpPr>
        <p:spPr>
          <a:xfrm>
            <a:off x="4500694" y="5127958"/>
            <a:ext cx="3137482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A67FA1E9-0956-500C-9E56-335B9C7CCF5A}"/>
                  </a:ext>
                </a:extLst>
              </p:cNvPr>
              <p:cNvSpPr txBox="1"/>
              <p:nvPr/>
            </p:nvSpPr>
            <p:spPr>
              <a:xfrm>
                <a:off x="7989993" y="4749348"/>
                <a:ext cx="3093587" cy="507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A67FA1E9-0956-500C-9E56-335B9C7CC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993" y="4749348"/>
                <a:ext cx="3093587" cy="50796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28CD46ED-55B6-D79F-AACC-9C2E97B2DD2B}"/>
                  </a:ext>
                </a:extLst>
              </p:cNvPr>
              <p:cNvSpPr txBox="1"/>
              <p:nvPr/>
            </p:nvSpPr>
            <p:spPr>
              <a:xfrm>
                <a:off x="1833690" y="4802791"/>
                <a:ext cx="2303900" cy="4010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28CD46ED-55B6-D79F-AACC-9C2E97B2D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690" y="4802791"/>
                <a:ext cx="2303900" cy="401072"/>
              </a:xfrm>
              <a:prstGeom prst="rect">
                <a:avLst/>
              </a:prstGeom>
              <a:blipFill>
                <a:blip r:embed="rId18"/>
                <a:stretch>
                  <a:fillRect l="-1587" r="-4233" b="-2424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7CF53CA8-13DF-E761-C3F0-67B5449E45F8}"/>
                  </a:ext>
                </a:extLst>
              </p:cNvPr>
              <p:cNvSpPr txBox="1"/>
              <p:nvPr/>
            </p:nvSpPr>
            <p:spPr>
              <a:xfrm>
                <a:off x="5754227" y="3353284"/>
                <a:ext cx="53738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7CF53CA8-13DF-E761-C3F0-67B5449E4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4227" y="3353284"/>
                <a:ext cx="537389" cy="461665"/>
              </a:xfrm>
              <a:prstGeom prst="rect">
                <a:avLst/>
              </a:prstGeom>
              <a:blipFill>
                <a:blip r:embed="rId19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58144A08-FCB2-888D-7A2F-38E2262959A5}"/>
              </a:ext>
            </a:extLst>
          </p:cNvPr>
          <p:cNvCxnSpPr/>
          <p:nvPr/>
        </p:nvCxnSpPr>
        <p:spPr>
          <a:xfrm>
            <a:off x="555803" y="3838580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60D7BABB-3F56-F9C8-5EAC-3CC061C72701}"/>
              </a:ext>
            </a:extLst>
          </p:cNvPr>
          <p:cNvCxnSpPr>
            <a:cxnSpLocks/>
          </p:cNvCxnSpPr>
          <p:nvPr/>
        </p:nvCxnSpPr>
        <p:spPr>
          <a:xfrm>
            <a:off x="555803" y="3838580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A7054F90-FC8C-8B51-51B6-1FB81FA4F005}"/>
                  </a:ext>
                </a:extLst>
              </p:cNvPr>
              <p:cNvSpPr txBox="1"/>
              <p:nvPr/>
            </p:nvSpPr>
            <p:spPr>
              <a:xfrm>
                <a:off x="426353" y="4849439"/>
                <a:ext cx="81330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A7054F90-FC8C-8B51-51B6-1FB81FA4F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353" y="4849439"/>
                <a:ext cx="813300" cy="307777"/>
              </a:xfrm>
              <a:prstGeom prst="rect">
                <a:avLst/>
              </a:prstGeom>
              <a:blipFill>
                <a:blip r:embed="rId20"/>
                <a:stretch>
                  <a:fillRect l="-8271" b="-16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52F5F0EC-211D-A590-8452-EE2E9F427FCB}"/>
              </a:ext>
            </a:extLst>
          </p:cNvPr>
          <p:cNvCxnSpPr/>
          <p:nvPr/>
        </p:nvCxnSpPr>
        <p:spPr>
          <a:xfrm>
            <a:off x="555803" y="4484369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6485ED50-908E-1E68-AFFB-9FF381C4C755}"/>
              </a:ext>
            </a:extLst>
          </p:cNvPr>
          <p:cNvCxnSpPr>
            <a:cxnSpLocks/>
          </p:cNvCxnSpPr>
          <p:nvPr/>
        </p:nvCxnSpPr>
        <p:spPr>
          <a:xfrm>
            <a:off x="555803" y="4484369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19FB5366-AFC9-FA02-1848-17ACACDD56E3}"/>
                  </a:ext>
                </a:extLst>
              </p:cNvPr>
              <p:cNvSpPr txBox="1"/>
              <p:nvPr/>
            </p:nvSpPr>
            <p:spPr>
              <a:xfrm>
                <a:off x="432317" y="5451662"/>
                <a:ext cx="4403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19FB5366-AFC9-FA02-1848-17ACACDD5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317" y="5451662"/>
                <a:ext cx="440377" cy="307777"/>
              </a:xfrm>
              <a:prstGeom prst="rect">
                <a:avLst/>
              </a:prstGeom>
              <a:blipFill>
                <a:blip r:embed="rId21"/>
                <a:stretch>
                  <a:fillRect l="-8333" r="-5556" b="-1764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Grafik 38" descr="Ein Bild, das Kreativität enthält.&#10;&#10;Automatisch generierte Beschreibung">
            <a:extLst>
              <a:ext uri="{FF2B5EF4-FFF2-40B4-BE49-F238E27FC236}">
                <a16:creationId xmlns:a16="http://schemas.microsoft.com/office/drawing/2014/main" id="{72DF637C-0289-9291-513C-8F356280F6C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04" y="5355466"/>
            <a:ext cx="447239" cy="4472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feld 46">
                <a:extLst>
                  <a:ext uri="{FF2B5EF4-FFF2-40B4-BE49-F238E27FC236}">
                    <a16:creationId xmlns:a16="http://schemas.microsoft.com/office/drawing/2014/main" id="{4D0116D4-441C-5BC3-CD55-A51A22C2AEE9}"/>
                  </a:ext>
                </a:extLst>
              </p:cNvPr>
              <p:cNvSpPr txBox="1"/>
              <p:nvPr/>
            </p:nvSpPr>
            <p:spPr>
              <a:xfrm>
                <a:off x="10969411" y="2887534"/>
                <a:ext cx="44358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7" name="Textfeld 46">
                <a:extLst>
                  <a:ext uri="{FF2B5EF4-FFF2-40B4-BE49-F238E27FC236}">
                    <a16:creationId xmlns:a16="http://schemas.microsoft.com/office/drawing/2014/main" id="{4D0116D4-441C-5BC3-CD55-A51A22C2A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411" y="2887534"/>
                <a:ext cx="443583" cy="307777"/>
              </a:xfrm>
              <a:prstGeom prst="rect">
                <a:avLst/>
              </a:prstGeom>
              <a:blipFill>
                <a:blip r:embed="rId23"/>
                <a:stretch>
                  <a:fillRect l="-13699" b="-2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ADB2C484-5B52-07D5-6F75-63AE30B089DB}"/>
                  </a:ext>
                </a:extLst>
              </p:cNvPr>
              <p:cNvSpPr txBox="1"/>
              <p:nvPr/>
            </p:nvSpPr>
            <p:spPr>
              <a:xfrm>
                <a:off x="10941176" y="3545592"/>
                <a:ext cx="80137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ADB2C484-5B52-07D5-6F75-63AE30B08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1176" y="3545592"/>
                <a:ext cx="801373" cy="307777"/>
              </a:xfrm>
              <a:prstGeom prst="rect">
                <a:avLst/>
              </a:prstGeom>
              <a:blipFill>
                <a:blip r:embed="rId24"/>
                <a:stretch>
                  <a:fillRect l="-8397" b="-16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feld 49">
                <a:extLst>
                  <a:ext uri="{FF2B5EF4-FFF2-40B4-BE49-F238E27FC236}">
                    <a16:creationId xmlns:a16="http://schemas.microsoft.com/office/drawing/2014/main" id="{8AC86D88-7A8E-EA8D-4F14-5F13515FEFF8}"/>
                  </a:ext>
                </a:extLst>
              </p:cNvPr>
              <p:cNvSpPr txBox="1"/>
              <p:nvPr/>
            </p:nvSpPr>
            <p:spPr>
              <a:xfrm>
                <a:off x="10995328" y="6165307"/>
                <a:ext cx="74206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𝑐</m:t>
                    </m:r>
                    <m:sSubSup>
                      <m:sSubSupPr>
                        <m:ctrlPr>
                          <a:rPr lang="en-US" sz="20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de-DE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de-DE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0" name="Textfeld 49">
                <a:extLst>
                  <a:ext uri="{FF2B5EF4-FFF2-40B4-BE49-F238E27FC236}">
                    <a16:creationId xmlns:a16="http://schemas.microsoft.com/office/drawing/2014/main" id="{8AC86D88-7A8E-EA8D-4F14-5F13515FE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5328" y="6165307"/>
                <a:ext cx="742063" cy="307777"/>
              </a:xfrm>
              <a:prstGeom prst="rect">
                <a:avLst/>
              </a:prstGeom>
              <a:blipFill>
                <a:blip r:embed="rId25"/>
                <a:stretch>
                  <a:fillRect l="-9091" r="-5785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91FF920-1A38-8F0D-8AA3-0D7859E4A3B9}"/>
              </a:ext>
            </a:extLst>
          </p:cNvPr>
          <p:cNvCxnSpPr/>
          <p:nvPr/>
        </p:nvCxnSpPr>
        <p:spPr>
          <a:xfrm>
            <a:off x="11064662" y="3169587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43695D64-C3AF-4121-BDD6-34511EC63B19}"/>
              </a:ext>
            </a:extLst>
          </p:cNvPr>
          <p:cNvCxnSpPr>
            <a:cxnSpLocks/>
          </p:cNvCxnSpPr>
          <p:nvPr/>
        </p:nvCxnSpPr>
        <p:spPr>
          <a:xfrm>
            <a:off x="11064662" y="3169587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feld 52">
                <a:extLst>
                  <a:ext uri="{FF2B5EF4-FFF2-40B4-BE49-F238E27FC236}">
                    <a16:creationId xmlns:a16="http://schemas.microsoft.com/office/drawing/2014/main" id="{D514E271-C21C-9136-A590-A163DBCD4188}"/>
                  </a:ext>
                </a:extLst>
              </p:cNvPr>
              <p:cNvSpPr txBox="1"/>
              <p:nvPr/>
            </p:nvSpPr>
            <p:spPr>
              <a:xfrm>
                <a:off x="10935212" y="4203650"/>
                <a:ext cx="81330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3" name="Textfeld 52">
                <a:extLst>
                  <a:ext uri="{FF2B5EF4-FFF2-40B4-BE49-F238E27FC236}">
                    <a16:creationId xmlns:a16="http://schemas.microsoft.com/office/drawing/2014/main" id="{D514E271-C21C-9136-A590-A163DBCD4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5212" y="4203650"/>
                <a:ext cx="813300" cy="307777"/>
              </a:xfrm>
              <a:prstGeom prst="rect">
                <a:avLst/>
              </a:prstGeom>
              <a:blipFill>
                <a:blip r:embed="rId26"/>
                <a:stretch>
                  <a:fillRect l="-8271" b="-16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E8427A34-022B-3107-A6EA-A3973DD1FB78}"/>
              </a:ext>
            </a:extLst>
          </p:cNvPr>
          <p:cNvCxnSpPr/>
          <p:nvPr/>
        </p:nvCxnSpPr>
        <p:spPr>
          <a:xfrm>
            <a:off x="11062532" y="5753434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7C773B93-321E-E345-1A2D-1A54EDC323BF}"/>
              </a:ext>
            </a:extLst>
          </p:cNvPr>
          <p:cNvCxnSpPr>
            <a:cxnSpLocks/>
          </p:cNvCxnSpPr>
          <p:nvPr/>
        </p:nvCxnSpPr>
        <p:spPr>
          <a:xfrm>
            <a:off x="11062532" y="5753434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feld 56">
            <a:extLst>
              <a:ext uri="{FF2B5EF4-FFF2-40B4-BE49-F238E27FC236}">
                <a16:creationId xmlns:a16="http://schemas.microsoft.com/office/drawing/2014/main" id="{8D75FF71-3CEB-AA71-A4A2-03A24E284152}"/>
              </a:ext>
            </a:extLst>
          </p:cNvPr>
          <p:cNvSpPr txBox="1"/>
          <p:nvPr/>
        </p:nvSpPr>
        <p:spPr>
          <a:xfrm>
            <a:off x="11051409" y="4871344"/>
            <a:ext cx="8353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…</a:t>
            </a: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415A543C-3B78-F7CF-D606-A7960C7C5EB9}"/>
              </a:ext>
            </a:extLst>
          </p:cNvPr>
          <p:cNvCxnSpPr/>
          <p:nvPr/>
        </p:nvCxnSpPr>
        <p:spPr>
          <a:xfrm>
            <a:off x="11064662" y="3838580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F682CD87-ACAA-A21E-442F-7371DF34BF78}"/>
              </a:ext>
            </a:extLst>
          </p:cNvPr>
          <p:cNvCxnSpPr>
            <a:cxnSpLocks/>
          </p:cNvCxnSpPr>
          <p:nvPr/>
        </p:nvCxnSpPr>
        <p:spPr>
          <a:xfrm>
            <a:off x="11064662" y="3838580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F59028F1-41B2-D219-1C16-1DD2095C6462}"/>
                  </a:ext>
                </a:extLst>
              </p:cNvPr>
              <p:cNvSpPr txBox="1"/>
              <p:nvPr/>
            </p:nvSpPr>
            <p:spPr>
              <a:xfrm>
                <a:off x="10935212" y="4849439"/>
                <a:ext cx="81330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F59028F1-41B2-D219-1C16-1DD2095C6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5212" y="4849439"/>
                <a:ext cx="813300" cy="307777"/>
              </a:xfrm>
              <a:prstGeom prst="rect">
                <a:avLst/>
              </a:prstGeom>
              <a:blipFill>
                <a:blip r:embed="rId27"/>
                <a:stretch>
                  <a:fillRect l="-8271" b="-16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197A3866-250C-A758-6049-7BBDA69B847F}"/>
              </a:ext>
            </a:extLst>
          </p:cNvPr>
          <p:cNvCxnSpPr/>
          <p:nvPr/>
        </p:nvCxnSpPr>
        <p:spPr>
          <a:xfrm>
            <a:off x="11064662" y="4484369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925FFCFE-D01C-0D14-8C9F-BA068C452887}"/>
              </a:ext>
            </a:extLst>
          </p:cNvPr>
          <p:cNvCxnSpPr>
            <a:cxnSpLocks/>
          </p:cNvCxnSpPr>
          <p:nvPr/>
        </p:nvCxnSpPr>
        <p:spPr>
          <a:xfrm>
            <a:off x="11064662" y="4484369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feld 64">
                <a:extLst>
                  <a:ext uri="{FF2B5EF4-FFF2-40B4-BE49-F238E27FC236}">
                    <a16:creationId xmlns:a16="http://schemas.microsoft.com/office/drawing/2014/main" id="{B204E1E2-D04A-7B0B-7ECB-DB879A8CBD2F}"/>
                  </a:ext>
                </a:extLst>
              </p:cNvPr>
              <p:cNvSpPr txBox="1"/>
              <p:nvPr/>
            </p:nvSpPr>
            <p:spPr>
              <a:xfrm>
                <a:off x="10941176" y="5451662"/>
                <a:ext cx="4403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5" name="Textfeld 64">
                <a:extLst>
                  <a:ext uri="{FF2B5EF4-FFF2-40B4-BE49-F238E27FC236}">
                    <a16:creationId xmlns:a16="http://schemas.microsoft.com/office/drawing/2014/main" id="{B204E1E2-D04A-7B0B-7ECB-DB879A8CB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1176" y="5451662"/>
                <a:ext cx="440377" cy="307777"/>
              </a:xfrm>
              <a:prstGeom prst="rect">
                <a:avLst/>
              </a:prstGeom>
              <a:blipFill>
                <a:blip r:embed="rId28"/>
                <a:stretch>
                  <a:fillRect l="-8333" r="-5556" b="-1764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6" name="Grafik 65" descr="Ein Bild, das Kreativität enthält.&#10;&#10;Automatisch generierte Beschreibung">
            <a:extLst>
              <a:ext uri="{FF2B5EF4-FFF2-40B4-BE49-F238E27FC236}">
                <a16:creationId xmlns:a16="http://schemas.microsoft.com/office/drawing/2014/main" id="{B9633976-DDFA-FA17-C39F-4B6021393D9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8263" y="5355466"/>
            <a:ext cx="447239" cy="447239"/>
          </a:xfrm>
          <a:prstGeom prst="rect">
            <a:avLst/>
          </a:prstGeom>
        </p:spPr>
      </p:pic>
      <p:pic>
        <p:nvPicPr>
          <p:cNvPr id="22" name="Grafik 21" descr="Ein Bild, das Kreativität enthält.&#10;&#10;Automatisch generierte Beschreibung">
            <a:extLst>
              <a:ext uri="{FF2B5EF4-FFF2-40B4-BE49-F238E27FC236}">
                <a16:creationId xmlns:a16="http://schemas.microsoft.com/office/drawing/2014/main" id="{8473A25D-7FCB-AFAC-8CDF-8B2E972AAD5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04" y="2854977"/>
            <a:ext cx="447239" cy="447239"/>
          </a:xfrm>
          <a:prstGeom prst="rect">
            <a:avLst/>
          </a:prstGeom>
        </p:spPr>
      </p:pic>
      <p:pic>
        <p:nvPicPr>
          <p:cNvPr id="24" name="Grafik 23" descr="Ein Bild, das Kreativität enthält.&#10;&#10;Automatisch generierte Beschreibung">
            <a:extLst>
              <a:ext uri="{FF2B5EF4-FFF2-40B4-BE49-F238E27FC236}">
                <a16:creationId xmlns:a16="http://schemas.microsoft.com/office/drawing/2014/main" id="{E1754A1D-7347-50E6-A976-D427B3955A1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8263" y="2854977"/>
            <a:ext cx="447239" cy="447239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EFDB46ED-3138-1A91-4EC4-0E5409CBEA0C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144776" y="1386819"/>
            <a:ext cx="1288864" cy="1288864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B51C1240-9E9F-C7F9-BFCB-AC0DBC3FF748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17494" y="1386819"/>
            <a:ext cx="1288864" cy="128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298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64" grpId="0"/>
      <p:bldP spid="5" grpId="0"/>
      <p:bldP spid="11" grpId="0"/>
      <p:bldP spid="12" grpId="0"/>
      <p:bldP spid="26" grpId="0"/>
      <p:bldP spid="37" grpId="0"/>
      <p:bldP spid="41" grpId="0"/>
      <p:bldP spid="42" grpId="0"/>
      <p:bldP spid="10" grpId="0"/>
      <p:bldP spid="14" grpId="0"/>
      <p:bldP spid="15" grpId="0"/>
      <p:bldP spid="25" grpId="0"/>
      <p:bldP spid="23" grpId="0"/>
      <p:bldP spid="34" grpId="0"/>
      <p:bldP spid="48" grpId="0"/>
      <p:bldP spid="50" grpId="0"/>
      <p:bldP spid="53" grpId="0"/>
      <p:bldP spid="57" grpId="0"/>
      <p:bldP spid="61" grpId="0"/>
      <p:bldP spid="6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F51D5-67F5-DFFF-4A1B-081F72B64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32134A-13C0-159D-E4E8-D6162AE1C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9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Metadata for Unreliable Networks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002ECF-8796-60FB-C096-797DBC9FD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21BE-5AB5-4051-B4BD-CDC64C855B3D}" type="slidenum">
              <a:rPr lang="en-US" smtClean="0"/>
              <a:t>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23C6CBB0-D531-681E-46B7-BB01673E9326}"/>
                  </a:ext>
                </a:extLst>
              </p:cNvPr>
              <p:cNvSpPr txBox="1"/>
              <p:nvPr/>
            </p:nvSpPr>
            <p:spPr>
              <a:xfrm>
                <a:off x="460552" y="2887534"/>
                <a:ext cx="44358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23C6CBB0-D531-681E-46B7-BB01673E9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52" y="2887534"/>
                <a:ext cx="443583" cy="307777"/>
              </a:xfrm>
              <a:prstGeom prst="rect">
                <a:avLst/>
              </a:prstGeom>
              <a:blipFill>
                <a:blip r:embed="rId3"/>
                <a:stretch>
                  <a:fillRect l="-15278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96F96C7A-2DE5-F52A-977A-7F107F08F49D}"/>
              </a:ext>
            </a:extLst>
          </p:cNvPr>
          <p:cNvSpPr/>
          <p:nvPr/>
        </p:nvSpPr>
        <p:spPr>
          <a:xfrm>
            <a:off x="125834" y="2848487"/>
            <a:ext cx="4243951" cy="377377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10B4FDF2-979A-346A-FAC2-E580672CA876}"/>
                  </a:ext>
                </a:extLst>
              </p:cNvPr>
              <p:cNvSpPr txBox="1"/>
              <p:nvPr/>
            </p:nvSpPr>
            <p:spPr>
              <a:xfrm>
                <a:off x="432317" y="3545592"/>
                <a:ext cx="80137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10B4FDF2-979A-346A-FAC2-E580672CA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317" y="3545592"/>
                <a:ext cx="801373" cy="307777"/>
              </a:xfrm>
              <a:prstGeom prst="rect">
                <a:avLst/>
              </a:prstGeom>
              <a:blipFill>
                <a:blip r:embed="rId4"/>
                <a:stretch>
                  <a:fillRect l="-8397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DA6EA76B-E2E2-725D-388B-407211C38D2F}"/>
                  </a:ext>
                </a:extLst>
              </p:cNvPr>
              <p:cNvSpPr txBox="1"/>
              <p:nvPr/>
            </p:nvSpPr>
            <p:spPr>
              <a:xfrm>
                <a:off x="486469" y="6165307"/>
                <a:ext cx="74206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𝑐</m:t>
                    </m:r>
                    <m:sSubSup>
                      <m:sSubSupPr>
                        <m:ctrlPr>
                          <a:rPr lang="en-US" sz="20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de-DE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de-DE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DA6EA76B-E2E2-725D-388B-407211C38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469" y="6165307"/>
                <a:ext cx="742063" cy="307777"/>
              </a:xfrm>
              <a:prstGeom prst="rect">
                <a:avLst/>
              </a:prstGeom>
              <a:blipFill>
                <a:blip r:embed="rId5"/>
                <a:stretch>
                  <a:fillRect l="-9016" r="-4918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BC142E56-E76D-06EC-8315-AE8BBC4C08E9}"/>
              </a:ext>
            </a:extLst>
          </p:cNvPr>
          <p:cNvCxnSpPr/>
          <p:nvPr/>
        </p:nvCxnSpPr>
        <p:spPr>
          <a:xfrm>
            <a:off x="555803" y="3169587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95A9704E-4B63-C8F8-B7D9-AF76B5F57811}"/>
              </a:ext>
            </a:extLst>
          </p:cNvPr>
          <p:cNvCxnSpPr>
            <a:cxnSpLocks/>
          </p:cNvCxnSpPr>
          <p:nvPr/>
        </p:nvCxnSpPr>
        <p:spPr>
          <a:xfrm>
            <a:off x="555803" y="3169587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58F21C7F-C0DC-31BA-C09D-803A450124E9}"/>
                  </a:ext>
                </a:extLst>
              </p:cNvPr>
              <p:cNvSpPr txBox="1"/>
              <p:nvPr/>
            </p:nvSpPr>
            <p:spPr>
              <a:xfrm>
                <a:off x="426353" y="4203650"/>
                <a:ext cx="81330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58F21C7F-C0DC-31BA-C09D-803A45012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353" y="4203650"/>
                <a:ext cx="813300" cy="307777"/>
              </a:xfrm>
              <a:prstGeom prst="rect">
                <a:avLst/>
              </a:prstGeom>
              <a:blipFill>
                <a:blip r:embed="rId6"/>
                <a:stretch>
                  <a:fillRect l="-8271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B0C59012-D5B8-A431-96FB-4CAEB8A6ED0A}"/>
              </a:ext>
            </a:extLst>
          </p:cNvPr>
          <p:cNvCxnSpPr/>
          <p:nvPr/>
        </p:nvCxnSpPr>
        <p:spPr>
          <a:xfrm>
            <a:off x="553673" y="5753434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7CC3B619-10A5-6619-1096-7ABFD64BD906}"/>
              </a:ext>
            </a:extLst>
          </p:cNvPr>
          <p:cNvCxnSpPr>
            <a:cxnSpLocks/>
          </p:cNvCxnSpPr>
          <p:nvPr/>
        </p:nvCxnSpPr>
        <p:spPr>
          <a:xfrm>
            <a:off x="553673" y="5753434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6682079D-BA38-4079-5C49-7B9CB00FC977}"/>
              </a:ext>
            </a:extLst>
          </p:cNvPr>
          <p:cNvSpPr/>
          <p:nvPr/>
        </p:nvSpPr>
        <p:spPr>
          <a:xfrm>
            <a:off x="7769085" y="2848487"/>
            <a:ext cx="4330410" cy="377377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74CAD7E7-86B1-4D00-43EA-24F4D4A8F95A}"/>
              </a:ext>
            </a:extLst>
          </p:cNvPr>
          <p:cNvSpPr txBox="1"/>
          <p:nvPr/>
        </p:nvSpPr>
        <p:spPr>
          <a:xfrm>
            <a:off x="542550" y="4871344"/>
            <a:ext cx="8353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…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22D2BEE2-AC9C-64E7-E969-8AA3E284A7DA}"/>
              </a:ext>
            </a:extLst>
          </p:cNvPr>
          <p:cNvCxnSpPr>
            <a:cxnSpLocks/>
          </p:cNvCxnSpPr>
          <p:nvPr/>
        </p:nvCxnSpPr>
        <p:spPr>
          <a:xfrm>
            <a:off x="4500694" y="4273310"/>
            <a:ext cx="3137482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E3878DC8-FA94-3A42-23C3-2723C44CB3FE}"/>
                  </a:ext>
                </a:extLst>
              </p:cNvPr>
              <p:cNvSpPr txBox="1"/>
              <p:nvPr/>
            </p:nvSpPr>
            <p:spPr>
              <a:xfrm>
                <a:off x="8161892" y="5845687"/>
                <a:ext cx="3093587" cy="507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E3878DC8-FA94-3A42-23C3-2723C44CB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1892" y="5845687"/>
                <a:ext cx="3093587" cy="5079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22138341-B899-5DF5-FC13-0476BDC50C0A}"/>
              </a:ext>
            </a:extLst>
          </p:cNvPr>
          <p:cNvCxnSpPr/>
          <p:nvPr/>
        </p:nvCxnSpPr>
        <p:spPr>
          <a:xfrm>
            <a:off x="555803" y="3838580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B902B08D-25FA-555A-C02D-E511BA5D276F}"/>
              </a:ext>
            </a:extLst>
          </p:cNvPr>
          <p:cNvCxnSpPr>
            <a:cxnSpLocks/>
          </p:cNvCxnSpPr>
          <p:nvPr/>
        </p:nvCxnSpPr>
        <p:spPr>
          <a:xfrm>
            <a:off x="555803" y="3838580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F7FBC0EB-A7B3-4442-E661-7D3120023E58}"/>
                  </a:ext>
                </a:extLst>
              </p:cNvPr>
              <p:cNvSpPr txBox="1"/>
              <p:nvPr/>
            </p:nvSpPr>
            <p:spPr>
              <a:xfrm>
                <a:off x="426353" y="4849439"/>
                <a:ext cx="81330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F7FBC0EB-A7B3-4442-E661-7D3120023E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353" y="4849439"/>
                <a:ext cx="813300" cy="307777"/>
              </a:xfrm>
              <a:prstGeom prst="rect">
                <a:avLst/>
              </a:prstGeom>
              <a:blipFill>
                <a:blip r:embed="rId8"/>
                <a:stretch>
                  <a:fillRect l="-8271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AD9D43D6-6DDC-2AB0-38D4-FCC0BE6F4D29}"/>
              </a:ext>
            </a:extLst>
          </p:cNvPr>
          <p:cNvCxnSpPr/>
          <p:nvPr/>
        </p:nvCxnSpPr>
        <p:spPr>
          <a:xfrm>
            <a:off x="555803" y="4484369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1C6F4DCA-FB63-3E03-D222-A451CE6E38A1}"/>
              </a:ext>
            </a:extLst>
          </p:cNvPr>
          <p:cNvCxnSpPr>
            <a:cxnSpLocks/>
          </p:cNvCxnSpPr>
          <p:nvPr/>
        </p:nvCxnSpPr>
        <p:spPr>
          <a:xfrm>
            <a:off x="555803" y="4484369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C9F4AF69-66A3-5600-7183-59A1CE92BB0E}"/>
                  </a:ext>
                </a:extLst>
              </p:cNvPr>
              <p:cNvSpPr txBox="1"/>
              <p:nvPr/>
            </p:nvSpPr>
            <p:spPr>
              <a:xfrm>
                <a:off x="432317" y="5451662"/>
                <a:ext cx="4403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C9F4AF69-66A3-5600-7183-59A1CE92B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317" y="5451662"/>
                <a:ext cx="440377" cy="307777"/>
              </a:xfrm>
              <a:prstGeom prst="rect">
                <a:avLst/>
              </a:prstGeom>
              <a:blipFill>
                <a:blip r:embed="rId9"/>
                <a:stretch>
                  <a:fillRect l="-8333" r="-4167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feld 46">
                <a:extLst>
                  <a:ext uri="{FF2B5EF4-FFF2-40B4-BE49-F238E27FC236}">
                    <a16:creationId xmlns:a16="http://schemas.microsoft.com/office/drawing/2014/main" id="{61E1DAA7-2CB5-5513-807D-E955CDCCE285}"/>
                  </a:ext>
                </a:extLst>
              </p:cNvPr>
              <p:cNvSpPr txBox="1"/>
              <p:nvPr/>
            </p:nvSpPr>
            <p:spPr>
              <a:xfrm>
                <a:off x="10969411" y="2887534"/>
                <a:ext cx="44358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7" name="Textfeld 46">
                <a:extLst>
                  <a:ext uri="{FF2B5EF4-FFF2-40B4-BE49-F238E27FC236}">
                    <a16:creationId xmlns:a16="http://schemas.microsoft.com/office/drawing/2014/main" id="{61E1DAA7-2CB5-5513-807D-E955CDCCE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411" y="2887534"/>
                <a:ext cx="443583" cy="307777"/>
              </a:xfrm>
              <a:prstGeom prst="rect">
                <a:avLst/>
              </a:prstGeom>
              <a:blipFill>
                <a:blip r:embed="rId11"/>
                <a:stretch>
                  <a:fillRect l="-13699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FD9C76B8-E926-C7B6-8001-7943336FF762}"/>
                  </a:ext>
                </a:extLst>
              </p:cNvPr>
              <p:cNvSpPr txBox="1"/>
              <p:nvPr/>
            </p:nvSpPr>
            <p:spPr>
              <a:xfrm>
                <a:off x="10941176" y="3545592"/>
                <a:ext cx="80137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FD9C76B8-E926-C7B6-8001-7943336FF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1176" y="3545592"/>
                <a:ext cx="801373" cy="307777"/>
              </a:xfrm>
              <a:prstGeom prst="rect">
                <a:avLst/>
              </a:prstGeom>
              <a:blipFill>
                <a:blip r:embed="rId12"/>
                <a:stretch>
                  <a:fillRect l="-8397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feld 49">
                <a:extLst>
                  <a:ext uri="{FF2B5EF4-FFF2-40B4-BE49-F238E27FC236}">
                    <a16:creationId xmlns:a16="http://schemas.microsoft.com/office/drawing/2014/main" id="{1C5F6A2F-D593-F279-0B3D-13C91CF6CABF}"/>
                  </a:ext>
                </a:extLst>
              </p:cNvPr>
              <p:cNvSpPr txBox="1"/>
              <p:nvPr/>
            </p:nvSpPr>
            <p:spPr>
              <a:xfrm>
                <a:off x="10995328" y="6165307"/>
                <a:ext cx="74206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𝑐</m:t>
                    </m:r>
                    <m:sSubSup>
                      <m:sSubSupPr>
                        <m:ctrlPr>
                          <a:rPr lang="en-US" sz="20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de-DE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de-DE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0" name="Textfeld 49">
                <a:extLst>
                  <a:ext uri="{FF2B5EF4-FFF2-40B4-BE49-F238E27FC236}">
                    <a16:creationId xmlns:a16="http://schemas.microsoft.com/office/drawing/2014/main" id="{1C5F6A2F-D593-F279-0B3D-13C91CF6C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5328" y="6165307"/>
                <a:ext cx="742063" cy="307777"/>
              </a:xfrm>
              <a:prstGeom prst="rect">
                <a:avLst/>
              </a:prstGeom>
              <a:blipFill>
                <a:blip r:embed="rId13"/>
                <a:stretch>
                  <a:fillRect l="-9091" r="-5785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7A60BD87-58ED-A076-B7B9-0A1E988C1923}"/>
              </a:ext>
            </a:extLst>
          </p:cNvPr>
          <p:cNvCxnSpPr/>
          <p:nvPr/>
        </p:nvCxnSpPr>
        <p:spPr>
          <a:xfrm>
            <a:off x="11064662" y="3169587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420ACB7E-435F-F79D-A9D2-8F790B4249E2}"/>
              </a:ext>
            </a:extLst>
          </p:cNvPr>
          <p:cNvCxnSpPr>
            <a:cxnSpLocks/>
          </p:cNvCxnSpPr>
          <p:nvPr/>
        </p:nvCxnSpPr>
        <p:spPr>
          <a:xfrm>
            <a:off x="11064662" y="3169587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feld 52">
                <a:extLst>
                  <a:ext uri="{FF2B5EF4-FFF2-40B4-BE49-F238E27FC236}">
                    <a16:creationId xmlns:a16="http://schemas.microsoft.com/office/drawing/2014/main" id="{7BA8DDE0-34C5-6016-37F0-DDDBBAB38144}"/>
                  </a:ext>
                </a:extLst>
              </p:cNvPr>
              <p:cNvSpPr txBox="1"/>
              <p:nvPr/>
            </p:nvSpPr>
            <p:spPr>
              <a:xfrm>
                <a:off x="10935212" y="4203650"/>
                <a:ext cx="81330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3" name="Textfeld 52">
                <a:extLst>
                  <a:ext uri="{FF2B5EF4-FFF2-40B4-BE49-F238E27FC236}">
                    <a16:creationId xmlns:a16="http://schemas.microsoft.com/office/drawing/2014/main" id="{7BA8DDE0-34C5-6016-37F0-DDDBBAB38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5212" y="4203650"/>
                <a:ext cx="813300" cy="307777"/>
              </a:xfrm>
              <a:prstGeom prst="rect">
                <a:avLst/>
              </a:prstGeom>
              <a:blipFill>
                <a:blip r:embed="rId14"/>
                <a:stretch>
                  <a:fillRect l="-8271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26954743-7735-B182-0559-65C5FFF0CDAD}"/>
              </a:ext>
            </a:extLst>
          </p:cNvPr>
          <p:cNvCxnSpPr/>
          <p:nvPr/>
        </p:nvCxnSpPr>
        <p:spPr>
          <a:xfrm>
            <a:off x="11062532" y="5753434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598A569A-79AB-83BC-3F2F-1D42A1AD5A6A}"/>
              </a:ext>
            </a:extLst>
          </p:cNvPr>
          <p:cNvCxnSpPr>
            <a:cxnSpLocks/>
          </p:cNvCxnSpPr>
          <p:nvPr/>
        </p:nvCxnSpPr>
        <p:spPr>
          <a:xfrm>
            <a:off x="11062532" y="5753434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feld 56">
            <a:extLst>
              <a:ext uri="{FF2B5EF4-FFF2-40B4-BE49-F238E27FC236}">
                <a16:creationId xmlns:a16="http://schemas.microsoft.com/office/drawing/2014/main" id="{67E8AB64-6CB9-96C5-747A-F88B460C639D}"/>
              </a:ext>
            </a:extLst>
          </p:cNvPr>
          <p:cNvSpPr txBox="1"/>
          <p:nvPr/>
        </p:nvSpPr>
        <p:spPr>
          <a:xfrm>
            <a:off x="11051409" y="4871344"/>
            <a:ext cx="8353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…</a:t>
            </a: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A0D5CBA0-A8C5-573D-DE07-38469F959063}"/>
              </a:ext>
            </a:extLst>
          </p:cNvPr>
          <p:cNvCxnSpPr/>
          <p:nvPr/>
        </p:nvCxnSpPr>
        <p:spPr>
          <a:xfrm>
            <a:off x="11064662" y="3838580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B90677E2-F38F-AAB2-6242-9F29A141CFA4}"/>
              </a:ext>
            </a:extLst>
          </p:cNvPr>
          <p:cNvCxnSpPr>
            <a:cxnSpLocks/>
          </p:cNvCxnSpPr>
          <p:nvPr/>
        </p:nvCxnSpPr>
        <p:spPr>
          <a:xfrm>
            <a:off x="11064662" y="3838580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1EDC0093-58A5-1511-66CF-A56962CBAC81}"/>
                  </a:ext>
                </a:extLst>
              </p:cNvPr>
              <p:cNvSpPr txBox="1"/>
              <p:nvPr/>
            </p:nvSpPr>
            <p:spPr>
              <a:xfrm>
                <a:off x="10935212" y="4849439"/>
                <a:ext cx="81330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1EDC0093-58A5-1511-66CF-A56962CBA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5212" y="4849439"/>
                <a:ext cx="813300" cy="307777"/>
              </a:xfrm>
              <a:prstGeom prst="rect">
                <a:avLst/>
              </a:prstGeom>
              <a:blipFill>
                <a:blip r:embed="rId15"/>
                <a:stretch>
                  <a:fillRect l="-8271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04B20F24-A97E-0B23-6251-DF0DAF187E3B}"/>
              </a:ext>
            </a:extLst>
          </p:cNvPr>
          <p:cNvCxnSpPr/>
          <p:nvPr/>
        </p:nvCxnSpPr>
        <p:spPr>
          <a:xfrm>
            <a:off x="11064662" y="4484369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538BACDC-A888-10AF-CC94-BA02CB076637}"/>
              </a:ext>
            </a:extLst>
          </p:cNvPr>
          <p:cNvCxnSpPr>
            <a:cxnSpLocks/>
          </p:cNvCxnSpPr>
          <p:nvPr/>
        </p:nvCxnSpPr>
        <p:spPr>
          <a:xfrm>
            <a:off x="11064662" y="4484369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feld 64">
                <a:extLst>
                  <a:ext uri="{FF2B5EF4-FFF2-40B4-BE49-F238E27FC236}">
                    <a16:creationId xmlns:a16="http://schemas.microsoft.com/office/drawing/2014/main" id="{C64D508C-3317-56C0-7B87-CCCB765B3619}"/>
                  </a:ext>
                </a:extLst>
              </p:cNvPr>
              <p:cNvSpPr txBox="1"/>
              <p:nvPr/>
            </p:nvSpPr>
            <p:spPr>
              <a:xfrm>
                <a:off x="10941176" y="5451662"/>
                <a:ext cx="4403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5" name="Textfeld 64">
                <a:extLst>
                  <a:ext uri="{FF2B5EF4-FFF2-40B4-BE49-F238E27FC236}">
                    <a16:creationId xmlns:a16="http://schemas.microsoft.com/office/drawing/2014/main" id="{C64D508C-3317-56C0-7B87-CCCB765B3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1176" y="5451662"/>
                <a:ext cx="440377" cy="307777"/>
              </a:xfrm>
              <a:prstGeom prst="rect">
                <a:avLst/>
              </a:prstGeom>
              <a:blipFill>
                <a:blip r:embed="rId16"/>
                <a:stretch>
                  <a:fillRect l="-8333" r="-4167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Grafik 27">
            <a:extLst>
              <a:ext uri="{FF2B5EF4-FFF2-40B4-BE49-F238E27FC236}">
                <a16:creationId xmlns:a16="http://schemas.microsoft.com/office/drawing/2014/main" id="{377495ED-5D61-AFB9-66CA-D4CAD85BE08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144776" y="1386819"/>
            <a:ext cx="1288864" cy="1288864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2BBECB92-5650-59E9-A9BA-B4EBC2663D2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17494" y="1386819"/>
            <a:ext cx="1288864" cy="12888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D74A38A6-0449-CDF5-77DA-8C4C5ADF1D84}"/>
                  </a:ext>
                </a:extLst>
              </p:cNvPr>
              <p:cNvSpPr txBox="1"/>
              <p:nvPr/>
            </p:nvSpPr>
            <p:spPr>
              <a:xfrm>
                <a:off x="5143471" y="3607748"/>
                <a:ext cx="53738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D74A38A6-0449-CDF5-77DA-8C4C5ADF1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471" y="3607748"/>
                <a:ext cx="537389" cy="46166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feld 8">
            <a:extLst>
              <a:ext uri="{FF2B5EF4-FFF2-40B4-BE49-F238E27FC236}">
                <a16:creationId xmlns:a16="http://schemas.microsoft.com/office/drawing/2014/main" id="{F0847FC4-021E-55DB-8057-3C8EA88F53D9}"/>
              </a:ext>
            </a:extLst>
          </p:cNvPr>
          <p:cNvSpPr txBox="1"/>
          <p:nvPr/>
        </p:nvSpPr>
        <p:spPr>
          <a:xfrm>
            <a:off x="5572060" y="3484638"/>
            <a:ext cx="439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+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0C8302B-CC13-105D-DFEF-672DD6ECD517}"/>
              </a:ext>
            </a:extLst>
          </p:cNvPr>
          <p:cNvSpPr txBox="1"/>
          <p:nvPr/>
        </p:nvSpPr>
        <p:spPr>
          <a:xfrm>
            <a:off x="6054758" y="3484637"/>
            <a:ext cx="1148230" cy="7078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index=3, </a:t>
            </a:r>
          </a:p>
          <a:p>
            <a:pPr algn="ctr"/>
            <a:r>
              <a:rPr lang="en-US" sz="2000" dirty="0"/>
              <a:t>ID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400A5301-A630-A13B-4BA9-E63E76E32D6E}"/>
                  </a:ext>
                </a:extLst>
              </p:cNvPr>
              <p:cNvSpPr txBox="1"/>
              <p:nvPr/>
            </p:nvSpPr>
            <p:spPr>
              <a:xfrm>
                <a:off x="1833690" y="3498945"/>
                <a:ext cx="2289666" cy="4010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400A5301-A630-A13B-4BA9-E63E76E32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690" y="3498945"/>
                <a:ext cx="2289666" cy="401072"/>
              </a:xfrm>
              <a:prstGeom prst="rect">
                <a:avLst/>
              </a:prstGeom>
              <a:blipFill>
                <a:blip r:embed="rId22"/>
                <a:stretch>
                  <a:fillRect l="-1600" r="-4533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9299FFAD-4C32-9A75-4CF3-6D99064DD77B}"/>
                  </a:ext>
                </a:extLst>
              </p:cNvPr>
              <p:cNvSpPr txBox="1"/>
              <p:nvPr/>
            </p:nvSpPr>
            <p:spPr>
              <a:xfrm>
                <a:off x="1833690" y="4157003"/>
                <a:ext cx="2303900" cy="4010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9299FFAD-4C32-9A75-4CF3-6D99064DD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690" y="4157003"/>
                <a:ext cx="2303900" cy="401072"/>
              </a:xfrm>
              <a:prstGeom prst="rect">
                <a:avLst/>
              </a:prstGeom>
              <a:blipFill>
                <a:blip r:embed="rId23"/>
                <a:stretch>
                  <a:fillRect l="-1587" r="-4233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4EE7BD84-47EB-FEEE-1449-D08D601D612E}"/>
                  </a:ext>
                </a:extLst>
              </p:cNvPr>
              <p:cNvSpPr txBox="1"/>
              <p:nvPr/>
            </p:nvSpPr>
            <p:spPr>
              <a:xfrm>
                <a:off x="1833690" y="4802791"/>
                <a:ext cx="2303900" cy="4010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4EE7BD84-47EB-FEEE-1449-D08D601D6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690" y="4802791"/>
                <a:ext cx="2303900" cy="401072"/>
              </a:xfrm>
              <a:prstGeom prst="rect">
                <a:avLst/>
              </a:prstGeom>
              <a:blipFill>
                <a:blip r:embed="rId24"/>
                <a:stretch>
                  <a:fillRect l="-1587" r="-4233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C9331122-6DEE-FD5B-B1E4-6159F0779A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598541"/>
                  </p:ext>
                </p:extLst>
              </p:nvPr>
            </p:nvGraphicFramePr>
            <p:xfrm>
              <a:off x="8346986" y="3136862"/>
              <a:ext cx="1659648" cy="26950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9824">
                      <a:extLst>
                        <a:ext uri="{9D8B030D-6E8A-4147-A177-3AD203B41FA5}">
                          <a16:colId xmlns:a16="http://schemas.microsoft.com/office/drawing/2014/main" val="2824316310"/>
                        </a:ext>
                      </a:extLst>
                    </a:gridCol>
                    <a:gridCol w="829824">
                      <a:extLst>
                        <a:ext uri="{9D8B030D-6E8A-4147-A177-3AD203B41FA5}">
                          <a16:colId xmlns:a16="http://schemas.microsoft.com/office/drawing/2014/main" val="3952480044"/>
                        </a:ext>
                      </a:extLst>
                    </a:gridCol>
                  </a:tblGrid>
                  <a:tr h="4491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 err="1">
                              <a:solidFill>
                                <a:sysClr val="windowText" lastClr="000000"/>
                              </a:solidFill>
                            </a:rPr>
                            <a:t>index</a:t>
                          </a:r>
                          <a:endParaRPr lang="de-D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 err="1">
                              <a:solidFill>
                                <a:sysClr val="windowText" lastClr="000000"/>
                              </a:solidFill>
                            </a:rPr>
                            <a:t>key</a:t>
                          </a:r>
                          <a:endParaRPr lang="de-D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967484"/>
                      </a:ext>
                    </a:extLst>
                  </a:tr>
                  <a:tr h="4491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4064364"/>
                      </a:ext>
                    </a:extLst>
                  </a:tr>
                  <a:tr h="4491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87742"/>
                      </a:ext>
                    </a:extLst>
                  </a:tr>
                  <a:tr h="4491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6287028"/>
                      </a:ext>
                    </a:extLst>
                  </a:tr>
                  <a:tr h="4491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>
                              <a:solidFill>
                                <a:sysClr val="windowText" lastClr="000000"/>
                              </a:solidFill>
                            </a:rPr>
                            <a:t>…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>
                              <a:solidFill>
                                <a:sysClr val="windowText" lastClr="000000"/>
                              </a:solidFill>
                            </a:rPr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6682329"/>
                      </a:ext>
                    </a:extLst>
                  </a:tr>
                  <a:tr h="449169">
                    <a:tc>
                      <a:txBody>
                        <a:bodyPr/>
                        <a:lstStyle/>
                        <a:p>
                          <a:pPr algn="ctr"/>
                          <a:endParaRPr lang="de-D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de-D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4435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C9331122-6DEE-FD5B-B1E4-6159F0779A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598541"/>
                  </p:ext>
                </p:extLst>
              </p:nvPr>
            </p:nvGraphicFramePr>
            <p:xfrm>
              <a:off x="8346986" y="3136862"/>
              <a:ext cx="1659648" cy="26950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9824">
                      <a:extLst>
                        <a:ext uri="{9D8B030D-6E8A-4147-A177-3AD203B41FA5}">
                          <a16:colId xmlns:a16="http://schemas.microsoft.com/office/drawing/2014/main" val="2824316310"/>
                        </a:ext>
                      </a:extLst>
                    </a:gridCol>
                    <a:gridCol w="829824">
                      <a:extLst>
                        <a:ext uri="{9D8B030D-6E8A-4147-A177-3AD203B41FA5}">
                          <a16:colId xmlns:a16="http://schemas.microsoft.com/office/drawing/2014/main" val="3952480044"/>
                        </a:ext>
                      </a:extLst>
                    </a:gridCol>
                  </a:tblGrid>
                  <a:tr h="4491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 err="1">
                              <a:solidFill>
                                <a:sysClr val="windowText" lastClr="000000"/>
                              </a:solidFill>
                            </a:rPr>
                            <a:t>index</a:t>
                          </a:r>
                          <a:endParaRPr lang="de-D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 err="1">
                              <a:solidFill>
                                <a:sysClr val="windowText" lastClr="000000"/>
                              </a:solidFill>
                            </a:rPr>
                            <a:t>key</a:t>
                          </a:r>
                          <a:endParaRPr lang="de-D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967484"/>
                      </a:ext>
                    </a:extLst>
                  </a:tr>
                  <a:tr h="4491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5"/>
                          <a:stretch>
                            <a:fillRect l="-101471" t="-105405" r="-1471" b="-40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4064364"/>
                      </a:ext>
                    </a:extLst>
                  </a:tr>
                  <a:tr h="4491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5"/>
                          <a:stretch>
                            <a:fillRect l="-101471" t="-205405" r="-1471" b="-30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87742"/>
                      </a:ext>
                    </a:extLst>
                  </a:tr>
                  <a:tr h="4491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5"/>
                          <a:stretch>
                            <a:fillRect l="-101471" t="-309589" r="-1471" b="-2054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6287028"/>
                      </a:ext>
                    </a:extLst>
                  </a:tr>
                  <a:tr h="4491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>
                              <a:solidFill>
                                <a:sysClr val="windowText" lastClr="000000"/>
                              </a:solidFill>
                            </a:rPr>
                            <a:t>…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>
                              <a:solidFill>
                                <a:sysClr val="windowText" lastClr="000000"/>
                              </a:solidFill>
                            </a:rPr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6682329"/>
                      </a:ext>
                    </a:extLst>
                  </a:tr>
                  <a:tr h="449169">
                    <a:tc>
                      <a:txBody>
                        <a:bodyPr/>
                        <a:lstStyle/>
                        <a:p>
                          <a:pPr algn="ctr"/>
                          <a:endParaRPr lang="de-DE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de-D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4435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8157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9" grpId="0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18637-A887-D384-BA31-E065537E7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033CAC-26D5-50F4-9E75-E714C6AFE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9"/>
            <a:ext cx="10515600" cy="1325563"/>
          </a:xfrm>
        </p:spPr>
        <p:txBody>
          <a:bodyPr/>
          <a:lstStyle/>
          <a:p>
            <a:r>
              <a:rPr lang="en-US" dirty="0"/>
              <a:t>Anonymity Wrapper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6AA8D09-57AA-892E-9C16-AAD1E021F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21BE-5AB5-4051-B4BD-CDC64C855B3D}" type="slidenum">
              <a:rPr lang="en-US" smtClean="0"/>
              <a:t>10</a:t>
            </a:fld>
            <a:endParaRPr lang="en-US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FF88EEEC-DA11-DE12-60C6-50891EFF114A}"/>
              </a:ext>
            </a:extLst>
          </p:cNvPr>
          <p:cNvCxnSpPr>
            <a:cxnSpLocks/>
          </p:cNvCxnSpPr>
          <p:nvPr/>
        </p:nvCxnSpPr>
        <p:spPr>
          <a:xfrm>
            <a:off x="5072063" y="3893888"/>
            <a:ext cx="1993106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706F697E-0CB9-FC2A-AB88-75DA4239AB68}"/>
              </a:ext>
            </a:extLst>
          </p:cNvPr>
          <p:cNvSpPr/>
          <p:nvPr/>
        </p:nvSpPr>
        <p:spPr>
          <a:xfrm>
            <a:off x="125834" y="2848487"/>
            <a:ext cx="4698570" cy="377377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9AF26B7D-7AA1-99C1-3D68-1C3C364CA0E6}"/>
              </a:ext>
            </a:extLst>
          </p:cNvPr>
          <p:cNvSpPr/>
          <p:nvPr/>
        </p:nvSpPr>
        <p:spPr>
          <a:xfrm>
            <a:off x="7400925" y="2848487"/>
            <a:ext cx="4698570" cy="377377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06213F6B-83E7-D766-0AD6-188178DC1EEE}"/>
                  </a:ext>
                </a:extLst>
              </p:cNvPr>
              <p:cNvSpPr txBox="1"/>
              <p:nvPr/>
            </p:nvSpPr>
            <p:spPr>
              <a:xfrm>
                <a:off x="5255680" y="3420859"/>
                <a:ext cx="15344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06213F6B-83E7-D766-0AD6-188178DC1E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680" y="3420859"/>
                <a:ext cx="1534484" cy="461665"/>
              </a:xfrm>
              <a:prstGeom prst="rect">
                <a:avLst/>
              </a:prstGeom>
              <a:blipFill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6" name="Tabelle 85">
                <a:extLst>
                  <a:ext uri="{FF2B5EF4-FFF2-40B4-BE49-F238E27FC236}">
                    <a16:creationId xmlns:a16="http://schemas.microsoft.com/office/drawing/2014/main" id="{20C9612B-8A9F-F7D1-BDC1-E34DF5617CE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140681" y="3119353"/>
              <a:ext cx="1696996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8498">
                      <a:extLst>
                        <a:ext uri="{9D8B030D-6E8A-4147-A177-3AD203B41FA5}">
                          <a16:colId xmlns:a16="http://schemas.microsoft.com/office/drawing/2014/main" val="2824316310"/>
                        </a:ext>
                      </a:extLst>
                    </a:gridCol>
                    <a:gridCol w="848498">
                      <a:extLst>
                        <a:ext uri="{9D8B030D-6E8A-4147-A177-3AD203B41FA5}">
                          <a16:colId xmlns:a16="http://schemas.microsoft.com/office/drawing/2014/main" val="3952480044"/>
                        </a:ext>
                      </a:extLst>
                    </a:gridCol>
                  </a:tblGrid>
                  <a:tr h="2845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>
                              <a:solidFill>
                                <a:sysClr val="windowText" lastClr="000000"/>
                              </a:solidFill>
                            </a:rPr>
                            <a:t>tag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 err="1">
                              <a:solidFill>
                                <a:sysClr val="windowText" lastClr="000000"/>
                              </a:solidFill>
                            </a:rPr>
                            <a:t>key</a:t>
                          </a:r>
                          <a:endParaRPr lang="de-D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967484"/>
                      </a:ext>
                    </a:extLst>
                  </a:tr>
                  <a:tr h="28459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de-DE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4064364"/>
                      </a:ext>
                    </a:extLst>
                  </a:tr>
                  <a:tr h="28459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de-DE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87742"/>
                      </a:ext>
                    </a:extLst>
                  </a:tr>
                  <a:tr h="28459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de-DE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6287028"/>
                      </a:ext>
                    </a:extLst>
                  </a:tr>
                  <a:tr h="2845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>
                              <a:solidFill>
                                <a:sysClr val="windowText" lastClr="000000"/>
                              </a:solidFill>
                            </a:rPr>
                            <a:t>…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>
                              <a:solidFill>
                                <a:sysClr val="windowText" lastClr="000000"/>
                              </a:solidFill>
                            </a:rPr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6682329"/>
                      </a:ext>
                    </a:extLst>
                  </a:tr>
                  <a:tr h="284599">
                    <a:tc>
                      <a:txBody>
                        <a:bodyPr/>
                        <a:lstStyle/>
                        <a:p>
                          <a:pPr algn="ctr"/>
                          <a:endParaRPr lang="de-DE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de-D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4435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6" name="Tabelle 85">
                <a:extLst>
                  <a:ext uri="{FF2B5EF4-FFF2-40B4-BE49-F238E27FC236}">
                    <a16:creationId xmlns:a16="http://schemas.microsoft.com/office/drawing/2014/main" id="{20C9612B-8A9F-F7D1-BDC1-E34DF5617CE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140681" y="3119353"/>
              <a:ext cx="1696996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8498">
                      <a:extLst>
                        <a:ext uri="{9D8B030D-6E8A-4147-A177-3AD203B41FA5}">
                          <a16:colId xmlns:a16="http://schemas.microsoft.com/office/drawing/2014/main" val="2824316310"/>
                        </a:ext>
                      </a:extLst>
                    </a:gridCol>
                    <a:gridCol w="848498">
                      <a:extLst>
                        <a:ext uri="{9D8B030D-6E8A-4147-A177-3AD203B41FA5}">
                          <a16:colId xmlns:a16="http://schemas.microsoft.com/office/drawing/2014/main" val="395248004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>
                              <a:solidFill>
                                <a:sysClr val="windowText" lastClr="000000"/>
                              </a:solidFill>
                            </a:rPr>
                            <a:t>tag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 err="1">
                              <a:solidFill>
                                <a:sysClr val="windowText" lastClr="000000"/>
                              </a:solidFill>
                            </a:rPr>
                            <a:t>key</a:t>
                          </a:r>
                          <a:endParaRPr lang="de-D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96748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14" t="-106667" r="-100714" b="-4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439" t="-106667" r="-1439" b="-4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406436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14" t="-203279" r="-100714" b="-2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439" t="-203279" r="-1439" b="-298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8774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14" t="-308333" r="-100714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439" t="-308333" r="-1439" b="-2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628702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>
                              <a:solidFill>
                                <a:sysClr val="windowText" lastClr="000000"/>
                              </a:solidFill>
                            </a:rPr>
                            <a:t>…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>
                              <a:solidFill>
                                <a:sysClr val="windowText" lastClr="000000"/>
                              </a:solidFill>
                            </a:rPr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668232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de-DE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de-D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4435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AAB75286-205E-09F2-F2C8-DCE641806A71}"/>
                  </a:ext>
                </a:extLst>
              </p:cNvPr>
              <p:cNvSpPr txBox="1"/>
              <p:nvPr/>
            </p:nvSpPr>
            <p:spPr>
              <a:xfrm>
                <a:off x="474973" y="3037715"/>
                <a:ext cx="44358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AAB75286-205E-09F2-F2C8-DCE641806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73" y="3037715"/>
                <a:ext cx="443583" cy="307777"/>
              </a:xfrm>
              <a:prstGeom prst="rect">
                <a:avLst/>
              </a:prstGeom>
              <a:blipFill>
                <a:blip r:embed="rId5"/>
                <a:stretch>
                  <a:fillRect l="-15068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47FDE165-3023-1DC5-157A-8E29E76B696F}"/>
                  </a:ext>
                </a:extLst>
              </p:cNvPr>
              <p:cNvSpPr txBox="1"/>
              <p:nvPr/>
            </p:nvSpPr>
            <p:spPr>
              <a:xfrm>
                <a:off x="446738" y="3695773"/>
                <a:ext cx="108452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47FDE165-3023-1DC5-157A-8E29E76B6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738" y="3695773"/>
                <a:ext cx="1084528" cy="307777"/>
              </a:xfrm>
              <a:prstGeom prst="rect">
                <a:avLst/>
              </a:prstGeom>
              <a:blipFill>
                <a:blip r:embed="rId6"/>
                <a:stretch>
                  <a:fillRect l="-5618" r="-4494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19BF5CE9-401F-942F-7E6C-D7F3B3FA0F9E}"/>
              </a:ext>
            </a:extLst>
          </p:cNvPr>
          <p:cNvCxnSpPr/>
          <p:nvPr/>
        </p:nvCxnSpPr>
        <p:spPr>
          <a:xfrm>
            <a:off x="570224" y="3319768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A831F96C-184F-F9E4-C15C-216A635CFC85}"/>
              </a:ext>
            </a:extLst>
          </p:cNvPr>
          <p:cNvCxnSpPr>
            <a:cxnSpLocks/>
          </p:cNvCxnSpPr>
          <p:nvPr/>
        </p:nvCxnSpPr>
        <p:spPr>
          <a:xfrm>
            <a:off x="570224" y="3319768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feld 90">
                <a:extLst>
                  <a:ext uri="{FF2B5EF4-FFF2-40B4-BE49-F238E27FC236}">
                    <a16:creationId xmlns:a16="http://schemas.microsoft.com/office/drawing/2014/main" id="{91FA476A-3171-462B-2E1C-D17D86F894E3}"/>
                  </a:ext>
                </a:extLst>
              </p:cNvPr>
              <p:cNvSpPr txBox="1"/>
              <p:nvPr/>
            </p:nvSpPr>
            <p:spPr>
              <a:xfrm>
                <a:off x="440774" y="4353831"/>
                <a:ext cx="11557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91" name="Textfeld 90">
                <a:extLst>
                  <a:ext uri="{FF2B5EF4-FFF2-40B4-BE49-F238E27FC236}">
                    <a16:creationId xmlns:a16="http://schemas.microsoft.com/office/drawing/2014/main" id="{91FA476A-3171-462B-2E1C-D17D86F89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774" y="4353831"/>
                <a:ext cx="1155766" cy="307777"/>
              </a:xfrm>
              <a:prstGeom prst="rect">
                <a:avLst/>
              </a:prstGeom>
              <a:blipFill>
                <a:blip r:embed="rId7"/>
                <a:stretch>
                  <a:fillRect l="-5263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Textfeld 91">
            <a:extLst>
              <a:ext uri="{FF2B5EF4-FFF2-40B4-BE49-F238E27FC236}">
                <a16:creationId xmlns:a16="http://schemas.microsoft.com/office/drawing/2014/main" id="{F83872F6-570B-D9F9-955A-48224A6C23D7}"/>
              </a:ext>
            </a:extLst>
          </p:cNvPr>
          <p:cNvSpPr txBox="1"/>
          <p:nvPr/>
        </p:nvSpPr>
        <p:spPr>
          <a:xfrm>
            <a:off x="556971" y="5021525"/>
            <a:ext cx="8353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…</a:t>
            </a:r>
          </a:p>
        </p:txBody>
      </p:sp>
      <p:cxnSp>
        <p:nvCxnSpPr>
          <p:cNvPr id="93" name="Gerade Verbindung mit Pfeil 92">
            <a:extLst>
              <a:ext uri="{FF2B5EF4-FFF2-40B4-BE49-F238E27FC236}">
                <a16:creationId xmlns:a16="http://schemas.microsoft.com/office/drawing/2014/main" id="{BE802017-0824-75D9-FA3B-D8898283C6CC}"/>
              </a:ext>
            </a:extLst>
          </p:cNvPr>
          <p:cNvCxnSpPr/>
          <p:nvPr/>
        </p:nvCxnSpPr>
        <p:spPr>
          <a:xfrm>
            <a:off x="570224" y="3988761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BE583FB4-0451-94BD-3E70-27DBE4C9CBF4}"/>
              </a:ext>
            </a:extLst>
          </p:cNvPr>
          <p:cNvCxnSpPr>
            <a:cxnSpLocks/>
          </p:cNvCxnSpPr>
          <p:nvPr/>
        </p:nvCxnSpPr>
        <p:spPr>
          <a:xfrm>
            <a:off x="570224" y="3988761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feld 94">
                <a:extLst>
                  <a:ext uri="{FF2B5EF4-FFF2-40B4-BE49-F238E27FC236}">
                    <a16:creationId xmlns:a16="http://schemas.microsoft.com/office/drawing/2014/main" id="{33E7B11C-4A86-E783-B776-A25485A7C7C5}"/>
                  </a:ext>
                </a:extLst>
              </p:cNvPr>
              <p:cNvSpPr txBox="1"/>
              <p:nvPr/>
            </p:nvSpPr>
            <p:spPr>
              <a:xfrm>
                <a:off x="440774" y="4999620"/>
                <a:ext cx="11557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95" name="Textfeld 94">
                <a:extLst>
                  <a:ext uri="{FF2B5EF4-FFF2-40B4-BE49-F238E27FC236}">
                    <a16:creationId xmlns:a16="http://schemas.microsoft.com/office/drawing/2014/main" id="{33E7B11C-4A86-E783-B776-A25485A7C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774" y="4999620"/>
                <a:ext cx="1155766" cy="307777"/>
              </a:xfrm>
              <a:prstGeom prst="rect">
                <a:avLst/>
              </a:prstGeom>
              <a:blipFill>
                <a:blip r:embed="rId8"/>
                <a:stretch>
                  <a:fillRect l="-5263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F27D5C4B-3C76-C02B-6434-144652FD6078}"/>
              </a:ext>
            </a:extLst>
          </p:cNvPr>
          <p:cNvCxnSpPr/>
          <p:nvPr/>
        </p:nvCxnSpPr>
        <p:spPr>
          <a:xfrm>
            <a:off x="570224" y="4634550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Gerade Verbindung mit Pfeil 96">
            <a:extLst>
              <a:ext uri="{FF2B5EF4-FFF2-40B4-BE49-F238E27FC236}">
                <a16:creationId xmlns:a16="http://schemas.microsoft.com/office/drawing/2014/main" id="{0E7420D8-8CA6-22D1-46C5-65B2322A88D0}"/>
              </a:ext>
            </a:extLst>
          </p:cNvPr>
          <p:cNvCxnSpPr>
            <a:cxnSpLocks/>
          </p:cNvCxnSpPr>
          <p:nvPr/>
        </p:nvCxnSpPr>
        <p:spPr>
          <a:xfrm>
            <a:off x="570224" y="4634550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Gerade Verbindung mit Pfeil 97">
            <a:extLst>
              <a:ext uri="{FF2B5EF4-FFF2-40B4-BE49-F238E27FC236}">
                <a16:creationId xmlns:a16="http://schemas.microsoft.com/office/drawing/2014/main" id="{6AB5FE85-DF2F-5CC7-4384-EAD14B250360}"/>
              </a:ext>
            </a:extLst>
          </p:cNvPr>
          <p:cNvCxnSpPr>
            <a:cxnSpLocks/>
          </p:cNvCxnSpPr>
          <p:nvPr/>
        </p:nvCxnSpPr>
        <p:spPr>
          <a:xfrm>
            <a:off x="566738" y="3317081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Gerade Verbindung mit Pfeil 102">
            <a:extLst>
              <a:ext uri="{FF2B5EF4-FFF2-40B4-BE49-F238E27FC236}">
                <a16:creationId xmlns:a16="http://schemas.microsoft.com/office/drawing/2014/main" id="{175EFAC2-F255-D753-A007-73C0FEAB266A}"/>
              </a:ext>
            </a:extLst>
          </p:cNvPr>
          <p:cNvCxnSpPr>
            <a:cxnSpLocks/>
          </p:cNvCxnSpPr>
          <p:nvPr/>
        </p:nvCxnSpPr>
        <p:spPr>
          <a:xfrm>
            <a:off x="566738" y="3983659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Gerade Verbindung mit Pfeil 103">
            <a:extLst>
              <a:ext uri="{FF2B5EF4-FFF2-40B4-BE49-F238E27FC236}">
                <a16:creationId xmlns:a16="http://schemas.microsoft.com/office/drawing/2014/main" id="{416B03A5-F6CF-969C-B302-AFFF632CC1E1}"/>
              </a:ext>
            </a:extLst>
          </p:cNvPr>
          <p:cNvCxnSpPr>
            <a:cxnSpLocks/>
          </p:cNvCxnSpPr>
          <p:nvPr/>
        </p:nvCxnSpPr>
        <p:spPr>
          <a:xfrm>
            <a:off x="566738" y="4619995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feld 105">
                <a:extLst>
                  <a:ext uri="{FF2B5EF4-FFF2-40B4-BE49-F238E27FC236}">
                    <a16:creationId xmlns:a16="http://schemas.microsoft.com/office/drawing/2014/main" id="{BDCAC325-30E5-223E-995D-6E1086359549}"/>
                  </a:ext>
                </a:extLst>
              </p:cNvPr>
              <p:cNvSpPr txBox="1"/>
              <p:nvPr/>
            </p:nvSpPr>
            <p:spPr>
              <a:xfrm>
                <a:off x="10472414" y="3037715"/>
                <a:ext cx="44358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6" name="Textfeld 105">
                <a:extLst>
                  <a:ext uri="{FF2B5EF4-FFF2-40B4-BE49-F238E27FC236}">
                    <a16:creationId xmlns:a16="http://schemas.microsoft.com/office/drawing/2014/main" id="{BDCAC325-30E5-223E-995D-6E1086359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2414" y="3037715"/>
                <a:ext cx="443583" cy="307777"/>
              </a:xfrm>
              <a:prstGeom prst="rect">
                <a:avLst/>
              </a:prstGeom>
              <a:blipFill>
                <a:blip r:embed="rId5"/>
                <a:stretch>
                  <a:fillRect l="-15068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feld 106">
                <a:extLst>
                  <a:ext uri="{FF2B5EF4-FFF2-40B4-BE49-F238E27FC236}">
                    <a16:creationId xmlns:a16="http://schemas.microsoft.com/office/drawing/2014/main" id="{AA24DE40-2401-91A8-1704-C095A5194346}"/>
                  </a:ext>
                </a:extLst>
              </p:cNvPr>
              <p:cNvSpPr txBox="1"/>
              <p:nvPr/>
            </p:nvSpPr>
            <p:spPr>
              <a:xfrm>
                <a:off x="10444179" y="3695773"/>
                <a:ext cx="108452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07" name="Textfeld 106">
                <a:extLst>
                  <a:ext uri="{FF2B5EF4-FFF2-40B4-BE49-F238E27FC236}">
                    <a16:creationId xmlns:a16="http://schemas.microsoft.com/office/drawing/2014/main" id="{AA24DE40-2401-91A8-1704-C095A5194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4179" y="3695773"/>
                <a:ext cx="1084528" cy="307777"/>
              </a:xfrm>
              <a:prstGeom prst="rect">
                <a:avLst/>
              </a:prstGeom>
              <a:blipFill>
                <a:blip r:embed="rId6"/>
                <a:stretch>
                  <a:fillRect l="-5618" r="-4494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" name="Gerade Verbindung mit Pfeil 107">
            <a:extLst>
              <a:ext uri="{FF2B5EF4-FFF2-40B4-BE49-F238E27FC236}">
                <a16:creationId xmlns:a16="http://schemas.microsoft.com/office/drawing/2014/main" id="{522B0FB0-613D-49F1-3BBA-075CD46F31B0}"/>
              </a:ext>
            </a:extLst>
          </p:cNvPr>
          <p:cNvCxnSpPr/>
          <p:nvPr/>
        </p:nvCxnSpPr>
        <p:spPr>
          <a:xfrm>
            <a:off x="10567665" y="3319768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4545C287-797A-BE93-E085-30E233A92E29}"/>
              </a:ext>
            </a:extLst>
          </p:cNvPr>
          <p:cNvCxnSpPr>
            <a:cxnSpLocks/>
          </p:cNvCxnSpPr>
          <p:nvPr/>
        </p:nvCxnSpPr>
        <p:spPr>
          <a:xfrm>
            <a:off x="10567665" y="3319768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feld 109">
                <a:extLst>
                  <a:ext uri="{FF2B5EF4-FFF2-40B4-BE49-F238E27FC236}">
                    <a16:creationId xmlns:a16="http://schemas.microsoft.com/office/drawing/2014/main" id="{A8443290-4470-FD88-869E-240D15AAC3C8}"/>
                  </a:ext>
                </a:extLst>
              </p:cNvPr>
              <p:cNvSpPr txBox="1"/>
              <p:nvPr/>
            </p:nvSpPr>
            <p:spPr>
              <a:xfrm>
                <a:off x="10438215" y="4353831"/>
                <a:ext cx="11557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10" name="Textfeld 109">
                <a:extLst>
                  <a:ext uri="{FF2B5EF4-FFF2-40B4-BE49-F238E27FC236}">
                    <a16:creationId xmlns:a16="http://schemas.microsoft.com/office/drawing/2014/main" id="{A8443290-4470-FD88-869E-240D15AAC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8215" y="4353831"/>
                <a:ext cx="1155766" cy="307777"/>
              </a:xfrm>
              <a:prstGeom prst="rect">
                <a:avLst/>
              </a:prstGeom>
              <a:blipFill>
                <a:blip r:embed="rId7"/>
                <a:stretch>
                  <a:fillRect l="-5263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Textfeld 110">
            <a:extLst>
              <a:ext uri="{FF2B5EF4-FFF2-40B4-BE49-F238E27FC236}">
                <a16:creationId xmlns:a16="http://schemas.microsoft.com/office/drawing/2014/main" id="{60630C10-2CE3-D29E-9DCD-572CC510F367}"/>
              </a:ext>
            </a:extLst>
          </p:cNvPr>
          <p:cNvSpPr txBox="1"/>
          <p:nvPr/>
        </p:nvSpPr>
        <p:spPr>
          <a:xfrm>
            <a:off x="10554412" y="5021525"/>
            <a:ext cx="8353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…</a:t>
            </a:r>
          </a:p>
        </p:txBody>
      </p:sp>
      <p:cxnSp>
        <p:nvCxnSpPr>
          <p:cNvPr id="112" name="Gerade Verbindung mit Pfeil 111">
            <a:extLst>
              <a:ext uri="{FF2B5EF4-FFF2-40B4-BE49-F238E27FC236}">
                <a16:creationId xmlns:a16="http://schemas.microsoft.com/office/drawing/2014/main" id="{FE15E7E6-12EA-9ACB-BF55-35138D115213}"/>
              </a:ext>
            </a:extLst>
          </p:cNvPr>
          <p:cNvCxnSpPr/>
          <p:nvPr/>
        </p:nvCxnSpPr>
        <p:spPr>
          <a:xfrm>
            <a:off x="10567665" y="3988761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Gerade Verbindung mit Pfeil 112">
            <a:extLst>
              <a:ext uri="{FF2B5EF4-FFF2-40B4-BE49-F238E27FC236}">
                <a16:creationId xmlns:a16="http://schemas.microsoft.com/office/drawing/2014/main" id="{379282E9-8E24-F0F9-7F5F-200B88DA23E3}"/>
              </a:ext>
            </a:extLst>
          </p:cNvPr>
          <p:cNvCxnSpPr>
            <a:cxnSpLocks/>
          </p:cNvCxnSpPr>
          <p:nvPr/>
        </p:nvCxnSpPr>
        <p:spPr>
          <a:xfrm>
            <a:off x="10567665" y="3988761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feld 113">
                <a:extLst>
                  <a:ext uri="{FF2B5EF4-FFF2-40B4-BE49-F238E27FC236}">
                    <a16:creationId xmlns:a16="http://schemas.microsoft.com/office/drawing/2014/main" id="{FD63A74D-AA27-FDD8-4F8E-003A7A9DB825}"/>
                  </a:ext>
                </a:extLst>
              </p:cNvPr>
              <p:cNvSpPr txBox="1"/>
              <p:nvPr/>
            </p:nvSpPr>
            <p:spPr>
              <a:xfrm>
                <a:off x="10438215" y="4999620"/>
                <a:ext cx="11557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14" name="Textfeld 113">
                <a:extLst>
                  <a:ext uri="{FF2B5EF4-FFF2-40B4-BE49-F238E27FC236}">
                    <a16:creationId xmlns:a16="http://schemas.microsoft.com/office/drawing/2014/main" id="{FD63A74D-AA27-FDD8-4F8E-003A7A9DB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8215" y="4999620"/>
                <a:ext cx="1155766" cy="307777"/>
              </a:xfrm>
              <a:prstGeom prst="rect">
                <a:avLst/>
              </a:prstGeom>
              <a:blipFill>
                <a:blip r:embed="rId8"/>
                <a:stretch>
                  <a:fillRect l="-5263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5" name="Gerade Verbindung mit Pfeil 114">
            <a:extLst>
              <a:ext uri="{FF2B5EF4-FFF2-40B4-BE49-F238E27FC236}">
                <a16:creationId xmlns:a16="http://schemas.microsoft.com/office/drawing/2014/main" id="{0FF66DB5-65FD-AF51-B3C0-D724CA2BE732}"/>
              </a:ext>
            </a:extLst>
          </p:cNvPr>
          <p:cNvCxnSpPr/>
          <p:nvPr/>
        </p:nvCxnSpPr>
        <p:spPr>
          <a:xfrm>
            <a:off x="10567665" y="4634550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Gerade Verbindung mit Pfeil 115">
            <a:extLst>
              <a:ext uri="{FF2B5EF4-FFF2-40B4-BE49-F238E27FC236}">
                <a16:creationId xmlns:a16="http://schemas.microsoft.com/office/drawing/2014/main" id="{F788BE5F-D131-7269-BAED-60CE56320888}"/>
              </a:ext>
            </a:extLst>
          </p:cNvPr>
          <p:cNvCxnSpPr>
            <a:cxnSpLocks/>
          </p:cNvCxnSpPr>
          <p:nvPr/>
        </p:nvCxnSpPr>
        <p:spPr>
          <a:xfrm>
            <a:off x="10567665" y="4634550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Gerade Verbindung mit Pfeil 116">
            <a:extLst>
              <a:ext uri="{FF2B5EF4-FFF2-40B4-BE49-F238E27FC236}">
                <a16:creationId xmlns:a16="http://schemas.microsoft.com/office/drawing/2014/main" id="{7C3439D5-1ACE-700C-E913-3891A1DB62FA}"/>
              </a:ext>
            </a:extLst>
          </p:cNvPr>
          <p:cNvCxnSpPr>
            <a:cxnSpLocks/>
          </p:cNvCxnSpPr>
          <p:nvPr/>
        </p:nvCxnSpPr>
        <p:spPr>
          <a:xfrm>
            <a:off x="10564179" y="3317081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Gerade Verbindung mit Pfeil 117">
            <a:extLst>
              <a:ext uri="{FF2B5EF4-FFF2-40B4-BE49-F238E27FC236}">
                <a16:creationId xmlns:a16="http://schemas.microsoft.com/office/drawing/2014/main" id="{4AC46196-46AB-E02B-E453-B64424F7A5C0}"/>
              </a:ext>
            </a:extLst>
          </p:cNvPr>
          <p:cNvCxnSpPr>
            <a:cxnSpLocks/>
          </p:cNvCxnSpPr>
          <p:nvPr/>
        </p:nvCxnSpPr>
        <p:spPr>
          <a:xfrm>
            <a:off x="10564179" y="3983659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Gerade Verbindung mit Pfeil 118">
            <a:extLst>
              <a:ext uri="{FF2B5EF4-FFF2-40B4-BE49-F238E27FC236}">
                <a16:creationId xmlns:a16="http://schemas.microsoft.com/office/drawing/2014/main" id="{728C3E18-9960-2E76-1E1E-92871492AC6F}"/>
              </a:ext>
            </a:extLst>
          </p:cNvPr>
          <p:cNvCxnSpPr>
            <a:cxnSpLocks/>
          </p:cNvCxnSpPr>
          <p:nvPr/>
        </p:nvCxnSpPr>
        <p:spPr>
          <a:xfrm>
            <a:off x="10564179" y="4619995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feld 121">
                <a:extLst>
                  <a:ext uri="{FF2B5EF4-FFF2-40B4-BE49-F238E27FC236}">
                    <a16:creationId xmlns:a16="http://schemas.microsoft.com/office/drawing/2014/main" id="{8C60F102-3A97-FD25-2A5A-206FD4A5AB00}"/>
                  </a:ext>
                </a:extLst>
              </p:cNvPr>
              <p:cNvSpPr txBox="1"/>
              <p:nvPr/>
            </p:nvSpPr>
            <p:spPr>
              <a:xfrm>
                <a:off x="474973" y="5647386"/>
                <a:ext cx="443583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2" name="Textfeld 121">
                <a:extLst>
                  <a:ext uri="{FF2B5EF4-FFF2-40B4-BE49-F238E27FC236}">
                    <a16:creationId xmlns:a16="http://schemas.microsoft.com/office/drawing/2014/main" id="{8C60F102-3A97-FD25-2A5A-206FD4A5A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73" y="5647386"/>
                <a:ext cx="443583" cy="307777"/>
              </a:xfrm>
              <a:prstGeom prst="rect">
                <a:avLst/>
              </a:prstGeom>
              <a:blipFill>
                <a:blip r:embed="rId9"/>
                <a:stretch>
                  <a:fillRect l="-15068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Gerade Verbindung mit Pfeil 123">
            <a:extLst>
              <a:ext uri="{FF2B5EF4-FFF2-40B4-BE49-F238E27FC236}">
                <a16:creationId xmlns:a16="http://schemas.microsoft.com/office/drawing/2014/main" id="{F012F2B2-6AF3-43A0-C289-ECB953A1A1C0}"/>
              </a:ext>
            </a:extLst>
          </p:cNvPr>
          <p:cNvCxnSpPr>
            <a:cxnSpLocks/>
          </p:cNvCxnSpPr>
          <p:nvPr/>
        </p:nvCxnSpPr>
        <p:spPr>
          <a:xfrm>
            <a:off x="570224" y="5929439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Gerade Verbindung mit Pfeil 124">
            <a:extLst>
              <a:ext uri="{FF2B5EF4-FFF2-40B4-BE49-F238E27FC236}">
                <a16:creationId xmlns:a16="http://schemas.microsoft.com/office/drawing/2014/main" id="{AC677F49-91F1-2487-0C73-039218863424}"/>
              </a:ext>
            </a:extLst>
          </p:cNvPr>
          <p:cNvCxnSpPr>
            <a:cxnSpLocks/>
          </p:cNvCxnSpPr>
          <p:nvPr/>
        </p:nvCxnSpPr>
        <p:spPr>
          <a:xfrm>
            <a:off x="570224" y="5929439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Gerade Verbindung mit Pfeil 125">
            <a:extLst>
              <a:ext uri="{FF2B5EF4-FFF2-40B4-BE49-F238E27FC236}">
                <a16:creationId xmlns:a16="http://schemas.microsoft.com/office/drawing/2014/main" id="{4B610D29-990B-6D97-592B-78AB91B2A892}"/>
              </a:ext>
            </a:extLst>
          </p:cNvPr>
          <p:cNvCxnSpPr>
            <a:cxnSpLocks/>
          </p:cNvCxnSpPr>
          <p:nvPr/>
        </p:nvCxnSpPr>
        <p:spPr>
          <a:xfrm>
            <a:off x="566738" y="5926752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feld 126">
            <a:extLst>
              <a:ext uri="{FF2B5EF4-FFF2-40B4-BE49-F238E27FC236}">
                <a16:creationId xmlns:a16="http://schemas.microsoft.com/office/drawing/2014/main" id="{EF4BEAE9-3F82-E4D1-68B1-5E553B17EB46}"/>
              </a:ext>
            </a:extLst>
          </p:cNvPr>
          <p:cNvSpPr txBox="1"/>
          <p:nvPr/>
        </p:nvSpPr>
        <p:spPr>
          <a:xfrm>
            <a:off x="556971" y="6006311"/>
            <a:ext cx="8353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…</a:t>
            </a:r>
          </a:p>
        </p:txBody>
      </p:sp>
      <p:pic>
        <p:nvPicPr>
          <p:cNvPr id="128" name="Grafik 127" descr="Ein Bild, das Kreativität enthält.&#10;&#10;Automatisch generierte Beschreibung">
            <a:extLst>
              <a:ext uri="{FF2B5EF4-FFF2-40B4-BE49-F238E27FC236}">
                <a16:creationId xmlns:a16="http://schemas.microsoft.com/office/drawing/2014/main" id="{5162091D-150F-1F29-C22F-4DC2ED78360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102" y="5574257"/>
            <a:ext cx="447239" cy="4472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feld 131">
                <a:extLst>
                  <a:ext uri="{FF2B5EF4-FFF2-40B4-BE49-F238E27FC236}">
                    <a16:creationId xmlns:a16="http://schemas.microsoft.com/office/drawing/2014/main" id="{A029C923-4137-FF33-5BE5-50BD50410836}"/>
                  </a:ext>
                </a:extLst>
              </p:cNvPr>
              <p:cNvSpPr txBox="1"/>
              <p:nvPr/>
            </p:nvSpPr>
            <p:spPr>
              <a:xfrm>
                <a:off x="10469905" y="5647386"/>
                <a:ext cx="443583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2" name="Textfeld 131">
                <a:extLst>
                  <a:ext uri="{FF2B5EF4-FFF2-40B4-BE49-F238E27FC236}">
                    <a16:creationId xmlns:a16="http://schemas.microsoft.com/office/drawing/2014/main" id="{A029C923-4137-FF33-5BE5-50BD50410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9905" y="5647386"/>
                <a:ext cx="443583" cy="307777"/>
              </a:xfrm>
              <a:prstGeom prst="rect">
                <a:avLst/>
              </a:prstGeom>
              <a:blipFill>
                <a:blip r:embed="rId11"/>
                <a:stretch>
                  <a:fillRect l="-15278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Gerade Verbindung mit Pfeil 132">
            <a:extLst>
              <a:ext uri="{FF2B5EF4-FFF2-40B4-BE49-F238E27FC236}">
                <a16:creationId xmlns:a16="http://schemas.microsoft.com/office/drawing/2014/main" id="{FBF9F1DD-8877-21CB-6AD1-D7C890A71CD2}"/>
              </a:ext>
            </a:extLst>
          </p:cNvPr>
          <p:cNvCxnSpPr>
            <a:cxnSpLocks/>
          </p:cNvCxnSpPr>
          <p:nvPr/>
        </p:nvCxnSpPr>
        <p:spPr>
          <a:xfrm>
            <a:off x="10565156" y="5929439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Gerade Verbindung mit Pfeil 133">
            <a:extLst>
              <a:ext uri="{FF2B5EF4-FFF2-40B4-BE49-F238E27FC236}">
                <a16:creationId xmlns:a16="http://schemas.microsoft.com/office/drawing/2014/main" id="{5190C96C-1EB0-CE8C-21CA-A869DFF1D7AE}"/>
              </a:ext>
            </a:extLst>
          </p:cNvPr>
          <p:cNvCxnSpPr>
            <a:cxnSpLocks/>
          </p:cNvCxnSpPr>
          <p:nvPr/>
        </p:nvCxnSpPr>
        <p:spPr>
          <a:xfrm>
            <a:off x="10565156" y="5929439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Gerade Verbindung mit Pfeil 134">
            <a:extLst>
              <a:ext uri="{FF2B5EF4-FFF2-40B4-BE49-F238E27FC236}">
                <a16:creationId xmlns:a16="http://schemas.microsoft.com/office/drawing/2014/main" id="{09DCF129-AB48-E239-5520-D466997B3365}"/>
              </a:ext>
            </a:extLst>
          </p:cNvPr>
          <p:cNvCxnSpPr>
            <a:cxnSpLocks/>
          </p:cNvCxnSpPr>
          <p:nvPr/>
        </p:nvCxnSpPr>
        <p:spPr>
          <a:xfrm>
            <a:off x="10561670" y="5926752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feld 135">
            <a:extLst>
              <a:ext uri="{FF2B5EF4-FFF2-40B4-BE49-F238E27FC236}">
                <a16:creationId xmlns:a16="http://schemas.microsoft.com/office/drawing/2014/main" id="{79DA174F-1EDC-BCDA-AF1A-1D17DEC0CE22}"/>
              </a:ext>
            </a:extLst>
          </p:cNvPr>
          <p:cNvSpPr txBox="1"/>
          <p:nvPr/>
        </p:nvSpPr>
        <p:spPr>
          <a:xfrm>
            <a:off x="10551903" y="6006311"/>
            <a:ext cx="5852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…</a:t>
            </a:r>
          </a:p>
        </p:txBody>
      </p:sp>
      <p:pic>
        <p:nvPicPr>
          <p:cNvPr id="137" name="Grafik 136" descr="Ein Bild, das Kreativität enthält.&#10;&#10;Automatisch generierte Beschreibung">
            <a:extLst>
              <a:ext uri="{FF2B5EF4-FFF2-40B4-BE49-F238E27FC236}">
                <a16:creationId xmlns:a16="http://schemas.microsoft.com/office/drawing/2014/main" id="{E7EC5572-3B47-9250-83D5-4CC53225144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4034" y="5574257"/>
            <a:ext cx="447239" cy="4472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774C8A79-665C-A095-6CE0-ABAFBBBC505F}"/>
                  </a:ext>
                </a:extLst>
              </p:cNvPr>
              <p:cNvSpPr txBox="1"/>
              <p:nvPr/>
            </p:nvSpPr>
            <p:spPr>
              <a:xfrm>
                <a:off x="1759098" y="4633078"/>
                <a:ext cx="3000309" cy="4010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         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774C8A79-665C-A095-6CE0-ABAFBBBC5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098" y="4633078"/>
                <a:ext cx="3000309" cy="401072"/>
              </a:xfrm>
              <a:prstGeom prst="rect">
                <a:avLst/>
              </a:prstGeom>
              <a:blipFill>
                <a:blip r:embed="rId12"/>
                <a:stretch>
                  <a:fillRect l="-1220" r="-3455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feld 10">
            <a:extLst>
              <a:ext uri="{FF2B5EF4-FFF2-40B4-BE49-F238E27FC236}">
                <a16:creationId xmlns:a16="http://schemas.microsoft.com/office/drawing/2014/main" id="{4F0165E6-966C-620F-CC58-91D42BB104AA}"/>
              </a:ext>
            </a:extLst>
          </p:cNvPr>
          <p:cNvSpPr txBox="1"/>
          <p:nvPr/>
        </p:nvSpPr>
        <p:spPr>
          <a:xfrm>
            <a:off x="3989451" y="4587393"/>
            <a:ext cx="592841" cy="5232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metadata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EECA1C2-4FEE-17EF-E523-43F051FC58F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741818" y="1431580"/>
            <a:ext cx="1288864" cy="1288864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47E48908-C9E6-4020-04A3-378ACD7E3FB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17494" y="1386819"/>
            <a:ext cx="1288864" cy="1288864"/>
          </a:xfrm>
          <a:prstGeom prst="rect">
            <a:avLst/>
          </a:prstGeom>
        </p:spPr>
      </p:pic>
      <p:sp>
        <p:nvSpPr>
          <p:cNvPr id="9" name="Rechteck: abgerundete Ecken 8" hidden="1">
            <a:extLst>
              <a:ext uri="{FF2B5EF4-FFF2-40B4-BE49-F238E27FC236}">
                <a16:creationId xmlns:a16="http://schemas.microsoft.com/office/drawing/2014/main" id="{09225927-90A9-57CD-CF8E-B5B8B09C000E}"/>
              </a:ext>
            </a:extLst>
          </p:cNvPr>
          <p:cNvSpPr/>
          <p:nvPr/>
        </p:nvSpPr>
        <p:spPr>
          <a:xfrm>
            <a:off x="1715266" y="5423682"/>
            <a:ext cx="3034761" cy="686854"/>
          </a:xfrm>
          <a:prstGeom prst="roundRect">
            <a:avLst/>
          </a:prstGeom>
          <a:gradFill flip="none" rotWithShape="1">
            <a:gsLst>
              <a:gs pos="0">
                <a:srgbClr val="46ADEC">
                  <a:tint val="66000"/>
                  <a:satMod val="160000"/>
                </a:srgbClr>
              </a:gs>
              <a:gs pos="50000">
                <a:srgbClr val="46ADEC">
                  <a:tint val="44500"/>
                  <a:satMod val="160000"/>
                </a:srgbClr>
              </a:gs>
              <a:gs pos="100000">
                <a:srgbClr val="46ADEC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46AD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Potentially as direct encryption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4F4B8FF-993F-4594-8B75-4002B677F91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37586" y="2917667"/>
            <a:ext cx="304800" cy="3048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02EE0986-AB64-C26A-1767-94A495A5DBF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939578" y="4537856"/>
            <a:ext cx="304800" cy="3048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CC7ADA1B-7F25-6637-5581-EF87D731F71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791200" y="3359912"/>
            <a:ext cx="304800" cy="304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3977176C-AA15-228F-4F5B-E386384C83B4}"/>
                  </a:ext>
                </a:extLst>
              </p:cNvPr>
              <p:cNvSpPr txBox="1"/>
              <p:nvPr/>
            </p:nvSpPr>
            <p:spPr>
              <a:xfrm>
                <a:off x="7388622" y="5700186"/>
                <a:ext cx="3093587" cy="4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         </m:t>
                      </m:r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3977176C-AA15-228F-4F5B-E386384C8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8622" y="5700186"/>
                <a:ext cx="3093587" cy="493405"/>
              </a:xfrm>
              <a:prstGeom prst="rect">
                <a:avLst/>
              </a:prstGeom>
              <a:blipFill>
                <a:blip r:embed="rId19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feld 19">
            <a:extLst>
              <a:ext uri="{FF2B5EF4-FFF2-40B4-BE49-F238E27FC236}">
                <a16:creationId xmlns:a16="http://schemas.microsoft.com/office/drawing/2014/main" id="{1ABE4AC1-FA4C-327C-4C7D-336699FDB4E2}"/>
              </a:ext>
            </a:extLst>
          </p:cNvPr>
          <p:cNvSpPr txBox="1"/>
          <p:nvPr/>
        </p:nvSpPr>
        <p:spPr>
          <a:xfrm>
            <a:off x="7976832" y="5708410"/>
            <a:ext cx="592841" cy="5232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metadata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90CF6876-2C35-BF61-C225-4BFA18D37DC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127543" y="5642088"/>
            <a:ext cx="304800" cy="304800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1B6202F1-CB09-C9FD-DE5D-B7C5ECA075B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711298" y="2942498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206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9" grpId="0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CA43A-F818-BBD4-7D3D-1A511C1E4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rafik 27">
            <a:extLst>
              <a:ext uri="{FF2B5EF4-FFF2-40B4-BE49-F238E27FC236}">
                <a16:creationId xmlns:a16="http://schemas.microsoft.com/office/drawing/2014/main" id="{A2D70B54-8371-E5F6-382A-F563547160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564" b="9430"/>
          <a:stretch>
            <a:fillRect/>
          </a:stretch>
        </p:blipFill>
        <p:spPr>
          <a:xfrm>
            <a:off x="322803" y="1884178"/>
            <a:ext cx="5549276" cy="332632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48AAC53-193E-DE27-EEA7-CD3AFAB62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9"/>
            <a:ext cx="10515600" cy="1325563"/>
          </a:xfrm>
        </p:spPr>
        <p:txBody>
          <a:bodyPr/>
          <a:lstStyle/>
          <a:p>
            <a:r>
              <a:rPr lang="en-US" dirty="0"/>
              <a:t>Anonymity Wrapper vs. Signal’s Approach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0D86B51-B321-D503-492C-113EDC80B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21BE-5AB5-4051-B4BD-CDC64C855B3D}" type="slidenum">
              <a:rPr lang="en-US" smtClean="0"/>
              <a:t>11</a:t>
            </a:fld>
            <a:endParaRPr lang="en-US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A475FDD-BE67-D8A3-F0F0-028F915888A4}"/>
              </a:ext>
            </a:extLst>
          </p:cNvPr>
          <p:cNvSpPr/>
          <p:nvPr/>
        </p:nvSpPr>
        <p:spPr>
          <a:xfrm>
            <a:off x="777912" y="5707104"/>
            <a:ext cx="1504801" cy="8014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21</a:t>
            </a:r>
            <a:r>
              <a:rPr lang="el-GR" sz="2800" dirty="0">
                <a:solidFill>
                  <a:schemeClr val="tx1"/>
                </a:solidFill>
              </a:rPr>
              <a:t>μ</a:t>
            </a:r>
            <a:r>
              <a:rPr lang="de-DE" sz="2800" dirty="0">
                <a:solidFill>
                  <a:schemeClr val="tx1"/>
                </a:solidFill>
              </a:rPr>
              <a:t>s</a:t>
            </a:r>
            <a:endParaRPr lang="en-US" sz="2800" dirty="0">
              <a:solidFill>
                <a:sysClr val="windowText" lastClr="000000"/>
              </a:solidFill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3A5AB177-36E7-06B6-6992-C81A215839B8}"/>
              </a:ext>
            </a:extLst>
          </p:cNvPr>
          <p:cNvSpPr/>
          <p:nvPr/>
        </p:nvSpPr>
        <p:spPr>
          <a:xfrm>
            <a:off x="1117502" y="2740924"/>
            <a:ext cx="1504801" cy="8014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131</a:t>
            </a:r>
            <a:r>
              <a:rPr lang="el-GR" sz="2800" dirty="0">
                <a:solidFill>
                  <a:schemeClr val="tx1"/>
                </a:solidFill>
              </a:rPr>
              <a:t>μ</a:t>
            </a:r>
            <a:r>
              <a:rPr lang="de-DE" sz="2800" dirty="0">
                <a:solidFill>
                  <a:schemeClr val="tx1"/>
                </a:solidFill>
              </a:rPr>
              <a:t>s</a:t>
            </a:r>
            <a:endParaRPr lang="en-US" sz="2800" dirty="0">
              <a:solidFill>
                <a:sysClr val="windowText" lastClr="000000"/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2208447D-7E96-DECF-8150-9363195F9586}"/>
              </a:ext>
            </a:extLst>
          </p:cNvPr>
          <p:cNvSpPr/>
          <p:nvPr/>
        </p:nvSpPr>
        <p:spPr>
          <a:xfrm>
            <a:off x="3303933" y="1471619"/>
            <a:ext cx="1504801" cy="8014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6052</a:t>
            </a:r>
            <a:r>
              <a:rPr lang="el-GR" sz="2800" dirty="0">
                <a:solidFill>
                  <a:schemeClr val="tx1"/>
                </a:solidFill>
              </a:rPr>
              <a:t>μ</a:t>
            </a:r>
            <a:r>
              <a:rPr lang="de-DE" sz="2800" dirty="0">
                <a:solidFill>
                  <a:schemeClr val="tx1"/>
                </a:solidFill>
              </a:rPr>
              <a:t>s</a:t>
            </a:r>
            <a:endParaRPr lang="en-US" sz="2800" dirty="0">
              <a:solidFill>
                <a:sysClr val="windowText" lastClr="000000"/>
              </a:solidFill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855251D-F01A-ECB3-AC99-E6F3343505F2}"/>
              </a:ext>
            </a:extLst>
          </p:cNvPr>
          <p:cNvSpPr/>
          <p:nvPr/>
        </p:nvSpPr>
        <p:spPr>
          <a:xfrm>
            <a:off x="717494" y="276726"/>
            <a:ext cx="4732811" cy="770104"/>
          </a:xfrm>
          <a:prstGeom prst="rect">
            <a:avLst/>
          </a:prstGeom>
          <a:noFill/>
          <a:ln w="762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E22C109-AAD3-76F0-E450-08B715C7FB7B}"/>
              </a:ext>
            </a:extLst>
          </p:cNvPr>
          <p:cNvSpPr/>
          <p:nvPr/>
        </p:nvSpPr>
        <p:spPr>
          <a:xfrm>
            <a:off x="6172200" y="276726"/>
            <a:ext cx="4118473" cy="770104"/>
          </a:xfrm>
          <a:prstGeom prst="rect">
            <a:avLst/>
          </a:prstGeom>
          <a:noFill/>
          <a:ln w="76200">
            <a:solidFill>
              <a:srgbClr val="FF7F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1C156417-2EDA-8830-5710-9023FB0E51F7}"/>
              </a:ext>
            </a:extLst>
          </p:cNvPr>
          <p:cNvCxnSpPr>
            <a:cxnSpLocks/>
          </p:cNvCxnSpPr>
          <p:nvPr/>
        </p:nvCxnSpPr>
        <p:spPr>
          <a:xfrm>
            <a:off x="4808734" y="1929916"/>
            <a:ext cx="641571" cy="1668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A42F711E-1BE3-0D65-222E-372E7E18B6B7}"/>
              </a:ext>
            </a:extLst>
          </p:cNvPr>
          <p:cNvCxnSpPr>
            <a:cxnSpLocks/>
          </p:cNvCxnSpPr>
          <p:nvPr/>
        </p:nvCxnSpPr>
        <p:spPr>
          <a:xfrm flipH="1">
            <a:off x="1130585" y="3602421"/>
            <a:ext cx="248898" cy="10392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DBAD3EBE-5C64-30C7-FEB0-898E52B681EE}"/>
              </a:ext>
            </a:extLst>
          </p:cNvPr>
          <p:cNvCxnSpPr>
            <a:cxnSpLocks/>
          </p:cNvCxnSpPr>
          <p:nvPr/>
        </p:nvCxnSpPr>
        <p:spPr>
          <a:xfrm flipV="1">
            <a:off x="1530313" y="4792717"/>
            <a:ext cx="0" cy="8907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7315326A-4E7D-0BA1-8950-808EC4D3B1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564" b="9430"/>
          <a:stretch>
            <a:fillRect/>
          </a:stretch>
        </p:blipFill>
        <p:spPr>
          <a:xfrm>
            <a:off x="6319921" y="1884177"/>
            <a:ext cx="5549276" cy="3326327"/>
          </a:xfrm>
          <a:prstGeom prst="rect">
            <a:avLst/>
          </a:prstGeom>
        </p:spPr>
      </p:pic>
      <p:sp>
        <p:nvSpPr>
          <p:cNvPr id="22" name="Rechteck 21">
            <a:extLst>
              <a:ext uri="{FF2B5EF4-FFF2-40B4-BE49-F238E27FC236}">
                <a16:creationId xmlns:a16="http://schemas.microsoft.com/office/drawing/2014/main" id="{F6C0E177-5E2E-7F94-8D1A-6F7355B1CD68}"/>
              </a:ext>
            </a:extLst>
          </p:cNvPr>
          <p:cNvSpPr/>
          <p:nvPr/>
        </p:nvSpPr>
        <p:spPr>
          <a:xfrm>
            <a:off x="10139344" y="5707104"/>
            <a:ext cx="1779388" cy="8014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155 B</a:t>
            </a:r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015D7333-60E0-FC09-D350-2BF6B21174F3}"/>
              </a:ext>
            </a:extLst>
          </p:cNvPr>
          <p:cNvCxnSpPr>
            <a:cxnSpLocks/>
          </p:cNvCxnSpPr>
          <p:nvPr/>
        </p:nvCxnSpPr>
        <p:spPr>
          <a:xfrm flipV="1">
            <a:off x="11029038" y="4792717"/>
            <a:ext cx="0" cy="8907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hteck 31">
            <a:extLst>
              <a:ext uri="{FF2B5EF4-FFF2-40B4-BE49-F238E27FC236}">
                <a16:creationId xmlns:a16="http://schemas.microsoft.com/office/drawing/2014/main" id="{AB677401-1DA3-54CC-22F1-1187B4E0B810}"/>
              </a:ext>
            </a:extLst>
          </p:cNvPr>
          <p:cNvSpPr/>
          <p:nvPr/>
        </p:nvSpPr>
        <p:spPr>
          <a:xfrm>
            <a:off x="7228444" y="2780872"/>
            <a:ext cx="1504801" cy="8014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ysClr val="windowText" lastClr="000000"/>
                </a:solidFill>
              </a:rPr>
              <a:t>576 B</a:t>
            </a:r>
            <a:endParaRPr lang="en-US" sz="2800" dirty="0">
              <a:solidFill>
                <a:sysClr val="windowText" lastClr="000000"/>
              </a:solidFill>
            </a:endParaRPr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D2ADEADB-F74D-14DE-218A-F48C5BCE53AF}"/>
              </a:ext>
            </a:extLst>
          </p:cNvPr>
          <p:cNvCxnSpPr>
            <a:cxnSpLocks/>
          </p:cNvCxnSpPr>
          <p:nvPr/>
        </p:nvCxnSpPr>
        <p:spPr>
          <a:xfrm flipH="1">
            <a:off x="7241527" y="3642369"/>
            <a:ext cx="248898" cy="10392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hteck 36">
            <a:extLst>
              <a:ext uri="{FF2B5EF4-FFF2-40B4-BE49-F238E27FC236}">
                <a16:creationId xmlns:a16="http://schemas.microsoft.com/office/drawing/2014/main" id="{E3A7C52C-6EB0-6E3A-7793-A26C196AB2F2}"/>
              </a:ext>
            </a:extLst>
          </p:cNvPr>
          <p:cNvSpPr/>
          <p:nvPr/>
        </p:nvSpPr>
        <p:spPr>
          <a:xfrm>
            <a:off x="9286948" y="1471619"/>
            <a:ext cx="1504801" cy="8014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ysClr val="windowText" lastClr="000000"/>
                </a:solidFill>
              </a:rPr>
              <a:t>68 KB</a:t>
            </a:r>
            <a:endParaRPr lang="en-US" sz="2800" dirty="0">
              <a:solidFill>
                <a:sysClr val="windowText" lastClr="000000"/>
              </a:solidFill>
            </a:endParaRP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7F186C4D-0319-49B8-760B-4D1DCB9EF7BE}"/>
              </a:ext>
            </a:extLst>
          </p:cNvPr>
          <p:cNvCxnSpPr>
            <a:cxnSpLocks/>
          </p:cNvCxnSpPr>
          <p:nvPr/>
        </p:nvCxnSpPr>
        <p:spPr>
          <a:xfrm>
            <a:off x="10791749" y="1929916"/>
            <a:ext cx="641571" cy="1668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hteck 2">
            <a:extLst>
              <a:ext uri="{FF2B5EF4-FFF2-40B4-BE49-F238E27FC236}">
                <a16:creationId xmlns:a16="http://schemas.microsoft.com/office/drawing/2014/main" id="{D1FE29E9-2B35-08AC-5C4B-622F4CEFCC83}"/>
              </a:ext>
            </a:extLst>
          </p:cNvPr>
          <p:cNvSpPr/>
          <p:nvPr/>
        </p:nvSpPr>
        <p:spPr>
          <a:xfrm>
            <a:off x="39261" y="1356799"/>
            <a:ext cx="2530366" cy="8014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ysClr val="windowText" lastClr="000000"/>
                </a:solidFill>
              </a:rPr>
              <a:t>Encryption time (</a:t>
            </a:r>
            <a:r>
              <a:rPr lang="el-GR" sz="2000" b="1" dirty="0">
                <a:solidFill>
                  <a:schemeClr val="tx1"/>
                </a:solidFill>
              </a:rPr>
              <a:t>μ</a:t>
            </a:r>
            <a:r>
              <a:rPr lang="de-DE" sz="2000" b="1" dirty="0">
                <a:solidFill>
                  <a:schemeClr val="tx1"/>
                </a:solidFill>
              </a:rPr>
              <a:t>s)</a:t>
            </a:r>
            <a:endParaRPr lang="en-US" sz="2000" b="1" dirty="0">
              <a:solidFill>
                <a:sysClr val="windowText" lastClr="000000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E4F1C3D-97BC-09F4-0578-926D93D7DEB4}"/>
              </a:ext>
            </a:extLst>
          </p:cNvPr>
          <p:cNvSpPr/>
          <p:nvPr/>
        </p:nvSpPr>
        <p:spPr>
          <a:xfrm>
            <a:off x="6100426" y="1311847"/>
            <a:ext cx="2861236" cy="8014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 err="1">
                <a:solidFill>
                  <a:sysClr val="windowText" lastClr="000000"/>
                </a:solidFill>
              </a:rPr>
              <a:t>Ciphertext</a:t>
            </a:r>
            <a:r>
              <a:rPr lang="de-DE" sz="2000" b="1" dirty="0">
                <a:solidFill>
                  <a:sysClr val="windowText" lastClr="000000"/>
                </a:solidFill>
              </a:rPr>
              <a:t> </a:t>
            </a:r>
            <a:r>
              <a:rPr lang="de-DE" sz="2000" b="1" dirty="0" err="1">
                <a:solidFill>
                  <a:sysClr val="windowText" lastClr="000000"/>
                </a:solidFill>
              </a:rPr>
              <a:t>size</a:t>
            </a:r>
            <a:r>
              <a:rPr lang="de-DE" sz="2000" b="1" dirty="0">
                <a:solidFill>
                  <a:sysClr val="windowText" lastClr="000000"/>
                </a:solidFill>
              </a:rPr>
              <a:t> (</a:t>
            </a:r>
            <a:r>
              <a:rPr lang="de-DE" sz="2000" b="1" dirty="0" err="1">
                <a:solidFill>
                  <a:sysClr val="windowText" lastClr="000000"/>
                </a:solidFill>
              </a:rPr>
              <a:t>bytes</a:t>
            </a:r>
            <a:r>
              <a:rPr lang="de-DE" sz="2000" b="1" dirty="0">
                <a:solidFill>
                  <a:sysClr val="windowText" lastClr="000000"/>
                </a:solidFill>
              </a:rPr>
              <a:t>)</a:t>
            </a:r>
            <a:endParaRPr lang="en-US" sz="20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A8496FB-4AE2-D80F-1EEA-4CE071319584}"/>
              </a:ext>
            </a:extLst>
          </p:cNvPr>
          <p:cNvSpPr/>
          <p:nvPr/>
        </p:nvSpPr>
        <p:spPr>
          <a:xfrm>
            <a:off x="1869902" y="4881987"/>
            <a:ext cx="2530366" cy="8014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ysClr val="windowText" lastClr="000000"/>
                </a:solidFill>
              </a:rPr>
              <a:t>Group </a:t>
            </a:r>
            <a:r>
              <a:rPr lang="de-DE" sz="2000" b="1" dirty="0" err="1">
                <a:solidFill>
                  <a:sysClr val="windowText" lastClr="000000"/>
                </a:solidFill>
              </a:rPr>
              <a:t>size</a:t>
            </a:r>
            <a:endParaRPr lang="en-US" sz="20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4C7FFEB-09DF-E2B9-EC83-E952F5415B0D}"/>
              </a:ext>
            </a:extLst>
          </p:cNvPr>
          <p:cNvSpPr/>
          <p:nvPr/>
        </p:nvSpPr>
        <p:spPr>
          <a:xfrm>
            <a:off x="7829376" y="4881987"/>
            <a:ext cx="2530366" cy="8014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ysClr val="windowText" lastClr="000000"/>
                </a:solidFill>
              </a:rPr>
              <a:t>Group </a:t>
            </a:r>
            <a:r>
              <a:rPr lang="de-DE" sz="2000" b="1" dirty="0" err="1">
                <a:solidFill>
                  <a:sysClr val="windowText" lastClr="000000"/>
                </a:solidFill>
              </a:rPr>
              <a:t>size</a:t>
            </a:r>
            <a:endParaRPr lang="en-US" sz="2000" b="1" dirty="0">
              <a:solidFill>
                <a:sysClr val="windowText" lastClr="000000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345D1DD-2116-5E60-95F0-1069C84FC8DF}"/>
              </a:ext>
            </a:extLst>
          </p:cNvPr>
          <p:cNvSpPr txBox="1"/>
          <p:nvPr/>
        </p:nvSpPr>
        <p:spPr>
          <a:xfrm>
            <a:off x="2993547" y="6451684"/>
            <a:ext cx="7125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Experiments</a:t>
            </a:r>
            <a:r>
              <a:rPr lang="it-IT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it-IT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performed</a:t>
            </a:r>
            <a:r>
              <a:rPr lang="it-IT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on 32 core Intel® Core™ i9-14900K processor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5136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2" grpId="0" animBg="1"/>
      <p:bldP spid="37" grpId="0" animBg="1"/>
      <p:bldP spid="5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AB33B-544D-E244-7067-6D379BE53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feld 11">
            <a:extLst>
              <a:ext uri="{FF2B5EF4-FFF2-40B4-BE49-F238E27FC236}">
                <a16:creationId xmlns:a16="http://schemas.microsoft.com/office/drawing/2014/main" id="{477F72CB-DC37-8CDF-D593-CBC98B54AC7E}"/>
              </a:ext>
            </a:extLst>
          </p:cNvPr>
          <p:cNvSpPr txBox="1"/>
          <p:nvPr/>
        </p:nvSpPr>
        <p:spPr>
          <a:xfrm>
            <a:off x="2993547" y="6451684"/>
            <a:ext cx="7125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Experiments</a:t>
            </a:r>
            <a:r>
              <a:rPr lang="it-IT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it-IT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performed</a:t>
            </a:r>
            <a:r>
              <a:rPr lang="it-IT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on 32 core Intel® Core™ i9-14900K processor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AE57CF5-12AB-3E72-EEE4-F08F9E1E9278}"/>
              </a:ext>
            </a:extLst>
          </p:cNvPr>
          <p:cNvSpPr/>
          <p:nvPr/>
        </p:nvSpPr>
        <p:spPr>
          <a:xfrm>
            <a:off x="39261" y="1356799"/>
            <a:ext cx="2530366" cy="8014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ysClr val="windowText" lastClr="000000"/>
                </a:solidFill>
              </a:rPr>
              <a:t>Encryption time (</a:t>
            </a:r>
            <a:r>
              <a:rPr lang="el-GR" sz="2000" b="1" dirty="0">
                <a:solidFill>
                  <a:schemeClr val="tx1"/>
                </a:solidFill>
              </a:rPr>
              <a:t>μ</a:t>
            </a:r>
            <a:r>
              <a:rPr lang="de-DE" sz="2000" b="1" dirty="0">
                <a:solidFill>
                  <a:schemeClr val="tx1"/>
                </a:solidFill>
              </a:rPr>
              <a:t>s)</a:t>
            </a:r>
            <a:endParaRPr lang="en-US" sz="20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C8C44E6-D580-DF33-5BA5-F5FC8724B936}"/>
              </a:ext>
            </a:extLst>
          </p:cNvPr>
          <p:cNvSpPr/>
          <p:nvPr/>
        </p:nvSpPr>
        <p:spPr>
          <a:xfrm>
            <a:off x="6100426" y="1311847"/>
            <a:ext cx="2861236" cy="8014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 err="1">
                <a:solidFill>
                  <a:sysClr val="windowText" lastClr="000000"/>
                </a:solidFill>
              </a:rPr>
              <a:t>Ciphertext</a:t>
            </a:r>
            <a:r>
              <a:rPr lang="de-DE" sz="2000" b="1" dirty="0">
                <a:solidFill>
                  <a:sysClr val="windowText" lastClr="000000"/>
                </a:solidFill>
              </a:rPr>
              <a:t> </a:t>
            </a:r>
            <a:r>
              <a:rPr lang="de-DE" sz="2000" b="1" dirty="0" err="1">
                <a:solidFill>
                  <a:sysClr val="windowText" lastClr="000000"/>
                </a:solidFill>
              </a:rPr>
              <a:t>size</a:t>
            </a:r>
            <a:r>
              <a:rPr lang="de-DE" sz="2000" b="1" dirty="0">
                <a:solidFill>
                  <a:sysClr val="windowText" lastClr="000000"/>
                </a:solidFill>
              </a:rPr>
              <a:t> (</a:t>
            </a:r>
            <a:r>
              <a:rPr lang="de-DE" sz="2000" b="1" dirty="0" err="1">
                <a:solidFill>
                  <a:sysClr val="windowText" lastClr="000000"/>
                </a:solidFill>
              </a:rPr>
              <a:t>bytes</a:t>
            </a:r>
            <a:r>
              <a:rPr lang="de-DE" sz="2000" b="1" dirty="0">
                <a:solidFill>
                  <a:sysClr val="windowText" lastClr="000000"/>
                </a:solidFill>
              </a:rPr>
              <a:t>)</a:t>
            </a:r>
            <a:endParaRPr lang="en-US" sz="2000" b="1" dirty="0">
              <a:solidFill>
                <a:sysClr val="windowText" lastClr="000000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E6364B8-2D0C-2876-9336-476B6435463C}"/>
              </a:ext>
            </a:extLst>
          </p:cNvPr>
          <p:cNvSpPr/>
          <p:nvPr/>
        </p:nvSpPr>
        <p:spPr>
          <a:xfrm>
            <a:off x="1869902" y="4881987"/>
            <a:ext cx="2530366" cy="8014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ysClr val="windowText" lastClr="000000"/>
                </a:solidFill>
              </a:rPr>
              <a:t>Group </a:t>
            </a:r>
            <a:r>
              <a:rPr lang="de-DE" sz="2000" b="1" dirty="0" err="1">
                <a:solidFill>
                  <a:sysClr val="windowText" lastClr="000000"/>
                </a:solidFill>
              </a:rPr>
              <a:t>size</a:t>
            </a:r>
            <a:endParaRPr lang="en-US" sz="2000" b="1" dirty="0">
              <a:solidFill>
                <a:sysClr val="windowText" lastClr="000000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5891ECF-C0C1-4331-EF6D-924832BC0125}"/>
              </a:ext>
            </a:extLst>
          </p:cNvPr>
          <p:cNvSpPr/>
          <p:nvPr/>
        </p:nvSpPr>
        <p:spPr>
          <a:xfrm>
            <a:off x="7829376" y="4881987"/>
            <a:ext cx="2530366" cy="8014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ysClr val="windowText" lastClr="000000"/>
                </a:solidFill>
              </a:rPr>
              <a:t>Group </a:t>
            </a:r>
            <a:r>
              <a:rPr lang="de-DE" sz="2000" b="1" dirty="0" err="1">
                <a:solidFill>
                  <a:sysClr val="windowText" lastClr="000000"/>
                </a:solidFill>
              </a:rPr>
              <a:t>size</a:t>
            </a:r>
            <a:endParaRPr lang="en-US" sz="2000" b="1" dirty="0">
              <a:solidFill>
                <a:sysClr val="windowText" lastClr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56C7DD5-4210-896A-2A92-61E7F6BF1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564" b="9430"/>
          <a:stretch>
            <a:fillRect/>
          </a:stretch>
        </p:blipFill>
        <p:spPr>
          <a:xfrm>
            <a:off x="322803" y="1884178"/>
            <a:ext cx="5549276" cy="332632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4BDE410-F2F9-A299-F489-455CE0E8B1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564" b="9430"/>
          <a:stretch>
            <a:fillRect/>
          </a:stretch>
        </p:blipFill>
        <p:spPr>
          <a:xfrm>
            <a:off x="6319921" y="1884177"/>
            <a:ext cx="5549276" cy="332632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1F8071B-0222-B37E-0449-1FA796CC3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9"/>
            <a:ext cx="10515600" cy="1325563"/>
          </a:xfrm>
        </p:spPr>
        <p:txBody>
          <a:bodyPr/>
          <a:lstStyle/>
          <a:p>
            <a:r>
              <a:rPr lang="en-US" dirty="0"/>
              <a:t>Anonymity Wrapper vs. Signal’s Approach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32E5EED-3B29-8BA6-889A-6263735D7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21BE-5AB5-4051-B4BD-CDC64C855B3D}" type="slidenum">
              <a:rPr lang="en-US" smtClean="0"/>
              <a:t>12</a:t>
            </a:fld>
            <a:endParaRPr lang="en-US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5A7E8E8-3DFA-0DCB-4432-F4FC0B90FB79}"/>
              </a:ext>
            </a:extLst>
          </p:cNvPr>
          <p:cNvSpPr/>
          <p:nvPr/>
        </p:nvSpPr>
        <p:spPr>
          <a:xfrm>
            <a:off x="777912" y="5707104"/>
            <a:ext cx="1504801" cy="8014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21</a:t>
            </a:r>
            <a:r>
              <a:rPr lang="el-GR" sz="2800" dirty="0">
                <a:solidFill>
                  <a:schemeClr val="tx1"/>
                </a:solidFill>
              </a:rPr>
              <a:t>μ</a:t>
            </a:r>
            <a:r>
              <a:rPr lang="de-DE" sz="2800" dirty="0">
                <a:solidFill>
                  <a:schemeClr val="tx1"/>
                </a:solidFill>
              </a:rPr>
              <a:t>s</a:t>
            </a:r>
            <a:endParaRPr lang="en-US" sz="2800" dirty="0">
              <a:solidFill>
                <a:sysClr val="windowText" lastClr="000000"/>
              </a:solidFill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03A10437-F1F5-214B-CF79-687805CB2D09}"/>
              </a:ext>
            </a:extLst>
          </p:cNvPr>
          <p:cNvSpPr/>
          <p:nvPr/>
        </p:nvSpPr>
        <p:spPr>
          <a:xfrm>
            <a:off x="1117502" y="2740924"/>
            <a:ext cx="1504801" cy="8014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131</a:t>
            </a:r>
            <a:r>
              <a:rPr lang="el-GR" sz="2800" dirty="0">
                <a:solidFill>
                  <a:schemeClr val="tx1"/>
                </a:solidFill>
              </a:rPr>
              <a:t>μ</a:t>
            </a:r>
            <a:r>
              <a:rPr lang="de-DE" sz="2800" dirty="0">
                <a:solidFill>
                  <a:schemeClr val="tx1"/>
                </a:solidFill>
              </a:rPr>
              <a:t>s</a:t>
            </a:r>
            <a:endParaRPr lang="en-US" sz="2800" dirty="0">
              <a:solidFill>
                <a:sysClr val="windowText" lastClr="000000"/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BF8B6C4-C6BD-2BC5-F159-770001F210E0}"/>
              </a:ext>
            </a:extLst>
          </p:cNvPr>
          <p:cNvSpPr/>
          <p:nvPr/>
        </p:nvSpPr>
        <p:spPr>
          <a:xfrm>
            <a:off x="3303933" y="1471619"/>
            <a:ext cx="1504801" cy="8014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6052</a:t>
            </a:r>
            <a:r>
              <a:rPr lang="el-GR" sz="2800" dirty="0">
                <a:solidFill>
                  <a:schemeClr val="tx1"/>
                </a:solidFill>
              </a:rPr>
              <a:t>μ</a:t>
            </a:r>
            <a:r>
              <a:rPr lang="de-DE" sz="2800" dirty="0">
                <a:solidFill>
                  <a:schemeClr val="tx1"/>
                </a:solidFill>
              </a:rPr>
              <a:t>s</a:t>
            </a:r>
            <a:endParaRPr lang="en-US" sz="2800" dirty="0">
              <a:solidFill>
                <a:sysClr val="windowText" lastClr="000000"/>
              </a:solidFill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11ADF553-9CED-4BC2-A1C3-FCA3E3781F2D}"/>
              </a:ext>
            </a:extLst>
          </p:cNvPr>
          <p:cNvSpPr/>
          <p:nvPr/>
        </p:nvSpPr>
        <p:spPr>
          <a:xfrm>
            <a:off x="717494" y="276726"/>
            <a:ext cx="4732811" cy="770104"/>
          </a:xfrm>
          <a:prstGeom prst="rect">
            <a:avLst/>
          </a:prstGeom>
          <a:noFill/>
          <a:ln w="762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076FA576-D951-8932-06E9-85A1D0EE0C94}"/>
              </a:ext>
            </a:extLst>
          </p:cNvPr>
          <p:cNvSpPr/>
          <p:nvPr/>
        </p:nvSpPr>
        <p:spPr>
          <a:xfrm>
            <a:off x="6172200" y="276726"/>
            <a:ext cx="4118473" cy="770104"/>
          </a:xfrm>
          <a:prstGeom prst="rect">
            <a:avLst/>
          </a:prstGeom>
          <a:noFill/>
          <a:ln w="76200">
            <a:solidFill>
              <a:srgbClr val="FF7F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D1EB63C9-78D5-AA8E-B6D6-D2A854132113}"/>
              </a:ext>
            </a:extLst>
          </p:cNvPr>
          <p:cNvCxnSpPr>
            <a:cxnSpLocks/>
          </p:cNvCxnSpPr>
          <p:nvPr/>
        </p:nvCxnSpPr>
        <p:spPr>
          <a:xfrm>
            <a:off x="4808734" y="1929916"/>
            <a:ext cx="641571" cy="1668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715562FF-ADB4-3381-3CB8-76418FE9F3E0}"/>
              </a:ext>
            </a:extLst>
          </p:cNvPr>
          <p:cNvCxnSpPr>
            <a:cxnSpLocks/>
          </p:cNvCxnSpPr>
          <p:nvPr/>
        </p:nvCxnSpPr>
        <p:spPr>
          <a:xfrm flipH="1">
            <a:off x="1130585" y="3602421"/>
            <a:ext cx="248898" cy="10392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85EC3C42-09CB-02FD-A12B-4342DED8534E}"/>
              </a:ext>
            </a:extLst>
          </p:cNvPr>
          <p:cNvCxnSpPr>
            <a:cxnSpLocks/>
          </p:cNvCxnSpPr>
          <p:nvPr/>
        </p:nvCxnSpPr>
        <p:spPr>
          <a:xfrm flipV="1">
            <a:off x="1530313" y="4792717"/>
            <a:ext cx="0" cy="8907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hteck 21">
            <a:extLst>
              <a:ext uri="{FF2B5EF4-FFF2-40B4-BE49-F238E27FC236}">
                <a16:creationId xmlns:a16="http://schemas.microsoft.com/office/drawing/2014/main" id="{BF4ED6AE-B399-E23D-934E-D538A9A403EF}"/>
              </a:ext>
            </a:extLst>
          </p:cNvPr>
          <p:cNvSpPr/>
          <p:nvPr/>
        </p:nvSpPr>
        <p:spPr>
          <a:xfrm>
            <a:off x="10139344" y="5707104"/>
            <a:ext cx="1779388" cy="8014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155 B</a:t>
            </a:r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9BAE2946-876F-DF62-51AC-4A0AC16EB36E}"/>
              </a:ext>
            </a:extLst>
          </p:cNvPr>
          <p:cNvCxnSpPr>
            <a:cxnSpLocks/>
          </p:cNvCxnSpPr>
          <p:nvPr/>
        </p:nvCxnSpPr>
        <p:spPr>
          <a:xfrm flipV="1">
            <a:off x="11029038" y="4792717"/>
            <a:ext cx="0" cy="8907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hteck 31">
            <a:extLst>
              <a:ext uri="{FF2B5EF4-FFF2-40B4-BE49-F238E27FC236}">
                <a16:creationId xmlns:a16="http://schemas.microsoft.com/office/drawing/2014/main" id="{C41003A4-6B95-4BD5-3856-4BA89E2CC449}"/>
              </a:ext>
            </a:extLst>
          </p:cNvPr>
          <p:cNvSpPr/>
          <p:nvPr/>
        </p:nvSpPr>
        <p:spPr>
          <a:xfrm>
            <a:off x="7228444" y="2780872"/>
            <a:ext cx="1504801" cy="8014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ysClr val="windowText" lastClr="000000"/>
                </a:solidFill>
              </a:rPr>
              <a:t>576 B</a:t>
            </a:r>
            <a:endParaRPr lang="en-US" sz="2800" dirty="0">
              <a:solidFill>
                <a:sysClr val="windowText" lastClr="000000"/>
              </a:solidFill>
            </a:endParaRPr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21C016EC-858A-61BC-AD9F-B5AF57862030}"/>
              </a:ext>
            </a:extLst>
          </p:cNvPr>
          <p:cNvCxnSpPr>
            <a:cxnSpLocks/>
          </p:cNvCxnSpPr>
          <p:nvPr/>
        </p:nvCxnSpPr>
        <p:spPr>
          <a:xfrm flipH="1">
            <a:off x="7241527" y="3642369"/>
            <a:ext cx="248898" cy="10392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hteck 36">
            <a:extLst>
              <a:ext uri="{FF2B5EF4-FFF2-40B4-BE49-F238E27FC236}">
                <a16:creationId xmlns:a16="http://schemas.microsoft.com/office/drawing/2014/main" id="{8633194E-8C23-E774-BCD1-0498DD3DCCDA}"/>
              </a:ext>
            </a:extLst>
          </p:cNvPr>
          <p:cNvSpPr/>
          <p:nvPr/>
        </p:nvSpPr>
        <p:spPr>
          <a:xfrm>
            <a:off x="9286948" y="1471619"/>
            <a:ext cx="1504801" cy="8014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ysClr val="windowText" lastClr="000000"/>
                </a:solidFill>
              </a:rPr>
              <a:t>68 KB</a:t>
            </a:r>
            <a:endParaRPr lang="en-US" sz="2800" dirty="0">
              <a:solidFill>
                <a:sysClr val="windowText" lastClr="000000"/>
              </a:solidFill>
            </a:endParaRP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83D00E74-D16D-5AAA-CCCE-5BF3B5F62E3C}"/>
              </a:ext>
            </a:extLst>
          </p:cNvPr>
          <p:cNvCxnSpPr>
            <a:cxnSpLocks/>
          </p:cNvCxnSpPr>
          <p:nvPr/>
        </p:nvCxnSpPr>
        <p:spPr>
          <a:xfrm>
            <a:off x="10791749" y="1929916"/>
            <a:ext cx="641571" cy="1668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hteck 42">
            <a:extLst>
              <a:ext uri="{FF2B5EF4-FFF2-40B4-BE49-F238E27FC236}">
                <a16:creationId xmlns:a16="http://schemas.microsoft.com/office/drawing/2014/main" id="{733AD288-3FC6-540E-D71C-6B4EB027EE48}"/>
              </a:ext>
            </a:extLst>
          </p:cNvPr>
          <p:cNvSpPr/>
          <p:nvPr/>
        </p:nvSpPr>
        <p:spPr>
          <a:xfrm>
            <a:off x="78828" y="1229710"/>
            <a:ext cx="11902965" cy="5628290"/>
          </a:xfrm>
          <a:prstGeom prst="rect">
            <a:avLst/>
          </a:prstGeom>
          <a:solidFill>
            <a:srgbClr val="FFFFFF">
              <a:alpha val="5215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AE0032E3-A18E-371A-70AA-E7307871D2EE}"/>
              </a:ext>
            </a:extLst>
          </p:cNvPr>
          <p:cNvSpPr/>
          <p:nvPr/>
        </p:nvSpPr>
        <p:spPr>
          <a:xfrm>
            <a:off x="4468938" y="3956319"/>
            <a:ext cx="3497875" cy="2437860"/>
          </a:xfrm>
          <a:prstGeom prst="roundRect">
            <a:avLst/>
          </a:prstGeom>
          <a:gradFill flip="none" rotWithShape="1">
            <a:gsLst>
              <a:gs pos="0">
                <a:srgbClr val="FFC000">
                  <a:lumMod val="8000"/>
                  <a:lumOff val="92000"/>
                </a:srgbClr>
              </a:gs>
              <a:gs pos="74000">
                <a:srgbClr val="FFC000"/>
              </a:gs>
              <a:gs pos="83000">
                <a:srgbClr val="FFC000"/>
              </a:gs>
              <a:gs pos="100000">
                <a:srgbClr val="FFC000"/>
              </a:gs>
            </a:gsLst>
            <a:lin ang="5400000" scaled="1"/>
            <a:tileRect/>
          </a:gradFill>
          <a:ln w="28575">
            <a:solidFill>
              <a:srgbClr val="F689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ysClr val="windowText" lastClr="000000"/>
                </a:solidFill>
              </a:rPr>
              <a:t>Receiver state</a:t>
            </a:r>
          </a:p>
          <a:p>
            <a:pPr algn="ctr"/>
            <a:r>
              <a:rPr lang="en-US" sz="2800" b="1" noProof="0" dirty="0">
                <a:solidFill>
                  <a:sysClr val="windowText" lastClr="000000"/>
                </a:solidFill>
              </a:rPr>
              <a:t>+ 600KB/contact</a:t>
            </a:r>
          </a:p>
          <a:p>
            <a:pPr algn="ctr"/>
            <a:r>
              <a:rPr lang="en-US" sz="2800" b="1" i="1" noProof="0" dirty="0">
                <a:solidFill>
                  <a:sysClr val="windowText" lastClr="000000"/>
                </a:solidFill>
              </a:rPr>
              <a:t>i.e., 600MB for 1000 con</a:t>
            </a:r>
            <a:r>
              <a:rPr lang="en-US" sz="2800" b="1" i="1" dirty="0" err="1">
                <a:solidFill>
                  <a:sysClr val="windowText" lastClr="000000"/>
                </a:solidFill>
              </a:rPr>
              <a:t>tacts</a:t>
            </a:r>
            <a:endParaRPr lang="en-US" sz="2800" b="1" i="1" noProof="0" dirty="0">
              <a:solidFill>
                <a:sysClr val="windowText" lastClr="000000"/>
              </a:solidFill>
            </a:endParaRPr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2F0DA4C7-6F0C-972A-DD2C-A98FC2FCD6CE}"/>
              </a:ext>
            </a:extLst>
          </p:cNvPr>
          <p:cNvSpPr/>
          <p:nvPr/>
        </p:nvSpPr>
        <p:spPr>
          <a:xfrm>
            <a:off x="4869886" y="1668876"/>
            <a:ext cx="2604628" cy="1455238"/>
          </a:xfrm>
          <a:prstGeom prst="roundRect">
            <a:avLst/>
          </a:prstGeom>
          <a:gradFill flip="none" rotWithShape="1">
            <a:gsLst>
              <a:gs pos="0">
                <a:srgbClr val="46ADEC">
                  <a:tint val="66000"/>
                  <a:satMod val="160000"/>
                </a:srgbClr>
              </a:gs>
              <a:gs pos="50000">
                <a:srgbClr val="46ADEC">
                  <a:tint val="44500"/>
                  <a:satMod val="160000"/>
                </a:srgbClr>
              </a:gs>
              <a:gs pos="100000">
                <a:srgbClr val="46ADEC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46AD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Sender state </a:t>
            </a:r>
            <a:br>
              <a:rPr lang="en-US" sz="2800" b="1" dirty="0">
                <a:solidFill>
                  <a:schemeClr val="tx1"/>
                </a:solidFill>
              </a:rPr>
            </a:br>
            <a:r>
              <a:rPr lang="en-US" sz="2800" b="1" dirty="0">
                <a:solidFill>
                  <a:schemeClr val="tx1"/>
                </a:solidFill>
              </a:rPr>
              <a:t>+ 192 bytes</a:t>
            </a:r>
          </a:p>
        </p:txBody>
      </p:sp>
      <p:pic>
        <p:nvPicPr>
          <p:cNvPr id="11" name="Grafik 10" descr="Ein Bild, das Cartoon, Smiley, Clipart, Animierter Cartoon enthält.&#10;&#10;KI-generierte Inhalte können fehlerhaft sein.">
            <a:extLst>
              <a:ext uri="{FF2B5EF4-FFF2-40B4-BE49-F238E27FC236}">
                <a16:creationId xmlns:a16="http://schemas.microsoft.com/office/drawing/2014/main" id="{0E7E3AAA-FA6B-973A-14C5-B950D0A8B0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980" y="4995253"/>
            <a:ext cx="1822504" cy="182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186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30CC8-26AF-1AFF-B7DB-55D4B1489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7C8EA3-8BEE-50ED-5D6F-205A3EA50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9"/>
            <a:ext cx="10515600" cy="1325563"/>
          </a:xfrm>
        </p:spPr>
        <p:txBody>
          <a:bodyPr/>
          <a:lstStyle/>
          <a:p>
            <a:r>
              <a:rPr lang="en-US" dirty="0"/>
              <a:t>Why the Large Receiver State?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462710D-C3B6-7EAC-DB3B-674C9D4DF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21BE-5AB5-4051-B4BD-CDC64C855B3D}" type="slidenum">
              <a:rPr lang="en-US" smtClean="0"/>
              <a:t>13</a:t>
            </a:fld>
            <a:endParaRPr lang="en-US" dirty="0"/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370DF1C7-5EFC-B465-9E7F-3851982E6AD5}"/>
              </a:ext>
            </a:extLst>
          </p:cNvPr>
          <p:cNvSpPr/>
          <p:nvPr/>
        </p:nvSpPr>
        <p:spPr>
          <a:xfrm>
            <a:off x="2323242" y="1124196"/>
            <a:ext cx="4334733" cy="549806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92460074-7855-4FB4-859F-D509700EFBE8}"/>
              </a:ext>
            </a:extLst>
          </p:cNvPr>
          <p:cNvCxnSpPr>
            <a:cxnSpLocks/>
          </p:cNvCxnSpPr>
          <p:nvPr/>
        </p:nvCxnSpPr>
        <p:spPr>
          <a:xfrm>
            <a:off x="381017" y="3195311"/>
            <a:ext cx="1942225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B2946536-F18D-05EF-F115-0AA803D612E7}"/>
                  </a:ext>
                </a:extLst>
              </p:cNvPr>
              <p:cNvSpPr txBox="1"/>
              <p:nvPr/>
            </p:nvSpPr>
            <p:spPr>
              <a:xfrm>
                <a:off x="1343924" y="2656701"/>
                <a:ext cx="91270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,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B2946536-F18D-05EF-F115-0AA803D61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924" y="2656701"/>
                <a:ext cx="912703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B65ACD6E-6CAE-B328-B2FA-9E8791FE6BD3}"/>
                  </a:ext>
                </a:extLst>
              </p:cNvPr>
              <p:cNvSpPr txBox="1"/>
              <p:nvPr/>
            </p:nvSpPr>
            <p:spPr>
              <a:xfrm>
                <a:off x="4928891" y="1466862"/>
                <a:ext cx="621004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B65ACD6E-6CAE-B328-B2FA-9E8791FE6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891" y="1466862"/>
                <a:ext cx="621004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fik 4" descr="Ein Bild, das Kreativität enthält.&#10;&#10;Automatisch generierte Beschreibung">
            <a:extLst>
              <a:ext uri="{FF2B5EF4-FFF2-40B4-BE49-F238E27FC236}">
                <a16:creationId xmlns:a16="http://schemas.microsoft.com/office/drawing/2014/main" id="{287BA7C4-7663-DCAD-08C7-CAF7B316A3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148" y="1387812"/>
            <a:ext cx="447239" cy="44723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9F47B39-A918-1DEE-BED7-C7B6B06B3F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48952" y="1350572"/>
            <a:ext cx="304800" cy="3048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CF7E9EB-560B-9C6A-6D79-2BF4916667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32549" y="2608856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73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E253B-5480-8895-DC34-6598D58F9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A6AA8A-AC35-066C-9B01-0ECEC6493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9"/>
            <a:ext cx="10515600" cy="1325563"/>
          </a:xfrm>
        </p:spPr>
        <p:txBody>
          <a:bodyPr/>
          <a:lstStyle/>
          <a:p>
            <a:r>
              <a:rPr lang="en-US" dirty="0"/>
              <a:t>Why the Large Receiver State?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25ACE5-0630-705F-9CF5-1F3F9AA65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21BE-5AB5-4051-B4BD-CDC64C855B3D}" type="slidenum">
              <a:rPr lang="en-US" smtClean="0"/>
              <a:t>14</a:t>
            </a:fld>
            <a:endParaRPr lang="en-US" dirty="0"/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AEB0A762-C57D-5841-FFFB-1A168EAB7D36}"/>
              </a:ext>
            </a:extLst>
          </p:cNvPr>
          <p:cNvSpPr/>
          <p:nvPr/>
        </p:nvSpPr>
        <p:spPr>
          <a:xfrm>
            <a:off x="2323242" y="1124196"/>
            <a:ext cx="4334733" cy="549806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E984D1A1-E2C1-B279-E050-680892DE9E77}"/>
              </a:ext>
            </a:extLst>
          </p:cNvPr>
          <p:cNvCxnSpPr>
            <a:cxnSpLocks/>
          </p:cNvCxnSpPr>
          <p:nvPr/>
        </p:nvCxnSpPr>
        <p:spPr>
          <a:xfrm>
            <a:off x="381017" y="3195311"/>
            <a:ext cx="1942225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24997786-9B27-F5CC-D9D6-EF21B32756D0}"/>
                  </a:ext>
                </a:extLst>
              </p:cNvPr>
              <p:cNvSpPr txBox="1"/>
              <p:nvPr/>
            </p:nvSpPr>
            <p:spPr>
              <a:xfrm>
                <a:off x="1343924" y="2656701"/>
                <a:ext cx="91270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,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24997786-9B27-F5CC-D9D6-EF21B3275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924" y="2656701"/>
                <a:ext cx="912703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996342D3-2A7D-7326-BC5C-F0E04B56FBA0}"/>
                  </a:ext>
                </a:extLst>
              </p:cNvPr>
              <p:cNvSpPr txBox="1"/>
              <p:nvPr/>
            </p:nvSpPr>
            <p:spPr>
              <a:xfrm>
                <a:off x="4928891" y="1466862"/>
                <a:ext cx="44358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996342D3-2A7D-7326-BC5C-F0E04B56F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891" y="1466862"/>
                <a:ext cx="443583" cy="307777"/>
              </a:xfrm>
              <a:prstGeom prst="rect">
                <a:avLst/>
              </a:prstGeom>
              <a:blipFill>
                <a:blip r:embed="rId4"/>
                <a:stretch>
                  <a:fillRect l="-15278" b="-2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FC86E5CF-A6FD-2D0F-A85B-F171F927E0B4}"/>
                  </a:ext>
                </a:extLst>
              </p:cNvPr>
              <p:cNvSpPr txBox="1"/>
              <p:nvPr/>
            </p:nvSpPr>
            <p:spPr>
              <a:xfrm>
                <a:off x="4928892" y="2124920"/>
                <a:ext cx="106516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FC86E5CF-A6FD-2D0F-A85B-F171F927E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892" y="2124920"/>
                <a:ext cx="1065163" cy="307777"/>
              </a:xfrm>
              <a:prstGeom prst="rect">
                <a:avLst/>
              </a:prstGeom>
              <a:blipFill>
                <a:blip r:embed="rId5"/>
                <a:stretch>
                  <a:fillRect l="-6322" r="-4023" b="-16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B636C97F-69CF-9978-C335-FBD6235CF079}"/>
              </a:ext>
            </a:extLst>
          </p:cNvPr>
          <p:cNvCxnSpPr/>
          <p:nvPr/>
        </p:nvCxnSpPr>
        <p:spPr>
          <a:xfrm>
            <a:off x="5058342" y="1748915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35D7D561-8A20-C6BE-6B86-26F50D241EEF}"/>
              </a:ext>
            </a:extLst>
          </p:cNvPr>
          <p:cNvCxnSpPr>
            <a:cxnSpLocks/>
          </p:cNvCxnSpPr>
          <p:nvPr/>
        </p:nvCxnSpPr>
        <p:spPr>
          <a:xfrm>
            <a:off x="5058342" y="1748915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F5434FE2-4D32-DFFB-DFE1-A3E4458058D0}"/>
                  </a:ext>
                </a:extLst>
              </p:cNvPr>
              <p:cNvSpPr txBox="1"/>
              <p:nvPr/>
            </p:nvSpPr>
            <p:spPr>
              <a:xfrm>
                <a:off x="4928892" y="2782978"/>
                <a:ext cx="114236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F5434FE2-4D32-DFFB-DFE1-A3E445805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892" y="2782978"/>
                <a:ext cx="1142364" cy="307777"/>
              </a:xfrm>
              <a:prstGeom prst="rect">
                <a:avLst/>
              </a:prstGeom>
              <a:blipFill>
                <a:blip r:embed="rId6"/>
                <a:stretch>
                  <a:fillRect l="-5882" b="-16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67A17831-259D-C57B-2B55-9EDDB81247C2}"/>
              </a:ext>
            </a:extLst>
          </p:cNvPr>
          <p:cNvCxnSpPr/>
          <p:nvPr/>
        </p:nvCxnSpPr>
        <p:spPr>
          <a:xfrm>
            <a:off x="5058342" y="2417908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CDE5707A-FFDF-BBDC-3B80-529F36E7B6AC}"/>
              </a:ext>
            </a:extLst>
          </p:cNvPr>
          <p:cNvCxnSpPr>
            <a:cxnSpLocks/>
          </p:cNvCxnSpPr>
          <p:nvPr/>
        </p:nvCxnSpPr>
        <p:spPr>
          <a:xfrm>
            <a:off x="5058342" y="2417908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478C008A-0648-4662-A1A3-E7DB164B0C14}"/>
                  </a:ext>
                </a:extLst>
              </p:cNvPr>
              <p:cNvSpPr txBox="1"/>
              <p:nvPr/>
            </p:nvSpPr>
            <p:spPr>
              <a:xfrm>
                <a:off x="4928892" y="3428767"/>
                <a:ext cx="114236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478C008A-0648-4662-A1A3-E7DB164B0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892" y="3428767"/>
                <a:ext cx="1142364" cy="307777"/>
              </a:xfrm>
              <a:prstGeom prst="rect">
                <a:avLst/>
              </a:prstGeom>
              <a:blipFill>
                <a:blip r:embed="rId7"/>
                <a:stretch>
                  <a:fillRect l="-5882" b="-137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AE70D21F-6EE8-EDB2-562C-77C256AACC7D}"/>
              </a:ext>
            </a:extLst>
          </p:cNvPr>
          <p:cNvCxnSpPr/>
          <p:nvPr/>
        </p:nvCxnSpPr>
        <p:spPr>
          <a:xfrm>
            <a:off x="5058342" y="3063697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885C0154-318D-D10E-D447-CFC5EC5A9ECB}"/>
              </a:ext>
            </a:extLst>
          </p:cNvPr>
          <p:cNvCxnSpPr>
            <a:cxnSpLocks/>
          </p:cNvCxnSpPr>
          <p:nvPr/>
        </p:nvCxnSpPr>
        <p:spPr>
          <a:xfrm>
            <a:off x="5058342" y="3063697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F2EC18A0-4882-6254-DC7E-125B42B984DA}"/>
              </a:ext>
            </a:extLst>
          </p:cNvPr>
          <p:cNvCxnSpPr>
            <a:cxnSpLocks/>
          </p:cNvCxnSpPr>
          <p:nvPr/>
        </p:nvCxnSpPr>
        <p:spPr>
          <a:xfrm>
            <a:off x="5054856" y="1746228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68F40A40-03CD-905D-2611-18B058138BE7}"/>
              </a:ext>
            </a:extLst>
          </p:cNvPr>
          <p:cNvCxnSpPr>
            <a:cxnSpLocks/>
          </p:cNvCxnSpPr>
          <p:nvPr/>
        </p:nvCxnSpPr>
        <p:spPr>
          <a:xfrm>
            <a:off x="5054856" y="2412806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EC83E045-D70B-93C0-4904-5FFAFB2837F1}"/>
              </a:ext>
            </a:extLst>
          </p:cNvPr>
          <p:cNvCxnSpPr>
            <a:cxnSpLocks/>
          </p:cNvCxnSpPr>
          <p:nvPr/>
        </p:nvCxnSpPr>
        <p:spPr>
          <a:xfrm>
            <a:off x="5054856" y="3049142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C847AA81-5BD9-F980-C270-F2175775C17D}"/>
              </a:ext>
            </a:extLst>
          </p:cNvPr>
          <p:cNvCxnSpPr>
            <a:cxnSpLocks/>
          </p:cNvCxnSpPr>
          <p:nvPr/>
        </p:nvCxnSpPr>
        <p:spPr>
          <a:xfrm>
            <a:off x="381017" y="4317407"/>
            <a:ext cx="1942225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2ACEAE52-BAC3-582E-3C9D-EB95225F8096}"/>
                  </a:ext>
                </a:extLst>
              </p:cNvPr>
              <p:cNvSpPr txBox="1"/>
              <p:nvPr/>
            </p:nvSpPr>
            <p:spPr>
              <a:xfrm>
                <a:off x="381017" y="3793725"/>
                <a:ext cx="18756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𝐷𝑜𝑆</m:t>
                        </m:r>
                      </m:sub>
                    </m:sSub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,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𝐷𝑜𝑆</m:t>
                        </m:r>
                      </m:sub>
                    </m:sSub>
                  </m:oMath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2ACEAE52-BAC3-582E-3C9D-EB95225F8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17" y="3793725"/>
                <a:ext cx="1875610" cy="461665"/>
              </a:xfrm>
              <a:prstGeom prst="rect">
                <a:avLst/>
              </a:prstGeom>
              <a:blipFill>
                <a:blip r:embed="rId8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25DD25EC-D35D-2078-ED32-3AFC67CE1EAC}"/>
              </a:ext>
            </a:extLst>
          </p:cNvPr>
          <p:cNvSpPr/>
          <p:nvPr/>
        </p:nvSpPr>
        <p:spPr>
          <a:xfrm>
            <a:off x="7780488" y="1525254"/>
            <a:ext cx="3218195" cy="956764"/>
          </a:xfrm>
          <a:prstGeom prst="roundRect">
            <a:avLst/>
          </a:prstGeom>
          <a:gradFill flip="none" rotWithShape="1">
            <a:gsLst>
              <a:gs pos="0">
                <a:srgbClr val="46ADEC">
                  <a:tint val="66000"/>
                  <a:satMod val="160000"/>
                </a:srgbClr>
              </a:gs>
              <a:gs pos="50000">
                <a:srgbClr val="46ADEC">
                  <a:tint val="44500"/>
                  <a:satMod val="160000"/>
                </a:srgbClr>
              </a:gs>
              <a:gs pos="100000">
                <a:srgbClr val="46ADEC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46AD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trial derive keys?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E94934A-A8A1-28F7-4772-C5DB2BDA2D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32549" y="2608856"/>
            <a:ext cx="304800" cy="3048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76BC976-E16C-0E3E-B9FF-1EB5719BFB3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50682" y="1349060"/>
            <a:ext cx="304800" cy="304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hteck: abgerundete Ecken 2">
                <a:extLst>
                  <a:ext uri="{FF2B5EF4-FFF2-40B4-BE49-F238E27FC236}">
                    <a16:creationId xmlns:a16="http://schemas.microsoft.com/office/drawing/2014/main" id="{F864C9BC-C7BA-3189-45AF-F133A827C82E}"/>
                  </a:ext>
                </a:extLst>
              </p:cNvPr>
              <p:cNvSpPr/>
              <p:nvPr/>
            </p:nvSpPr>
            <p:spPr>
              <a:xfrm>
                <a:off x="2359490" y="4074556"/>
                <a:ext cx="4262236" cy="1955244"/>
              </a:xfrm>
              <a:prstGeom prst="roundRect">
                <a:avLst/>
              </a:prstGeom>
              <a:gradFill flip="none" rotWithShape="1">
                <a:gsLst>
                  <a:gs pos="0">
                    <a:srgbClr val="FFC000">
                      <a:lumMod val="8000"/>
                      <a:lumOff val="92000"/>
                    </a:srgbClr>
                  </a:gs>
                  <a:gs pos="74000">
                    <a:srgbClr val="FFC000"/>
                  </a:gs>
                  <a:gs pos="83000">
                    <a:srgbClr val="FFC000"/>
                  </a:gs>
                  <a:gs pos="100000">
                    <a:srgbClr val="FFC000"/>
                  </a:gs>
                </a:gsLst>
                <a:lin ang="5400000" scaled="1"/>
                <a:tileRect/>
              </a:gradFill>
              <a:ln w="28575">
                <a:solidFill>
                  <a:srgbClr val="F6890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000" dirty="0">
                    <a:solidFill>
                      <a:sysClr val="windowText" lastClr="000000"/>
                    </a:solidFill>
                  </a:rPr>
                  <a:t>Fo</a:t>
                </a:r>
                <a:r>
                  <a:rPr lang="en-US" sz="3000" dirty="0">
                    <a:solidFill>
                      <a:schemeClr val="tx1"/>
                    </a:solidFill>
                  </a:rPr>
                  <a:t>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𝐷𝑜𝑆</m:t>
                        </m:r>
                      </m:sub>
                    </m:sSub>
                    <m:r>
                      <a:rPr lang="de-DE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000" dirty="0">
                    <a:solidFill>
                      <a:sysClr val="windowText" lastClr="000000"/>
                    </a:solidFill>
                  </a:rPr>
                  <a:t>need to iterate </a:t>
                </a:r>
                <a:r>
                  <a:rPr lang="en-US" sz="3000" b="1" dirty="0">
                    <a:solidFill>
                      <a:sysClr val="windowText" lastClr="000000"/>
                    </a:solidFill>
                  </a:rPr>
                  <a:t>over all senders</a:t>
                </a:r>
                <a:r>
                  <a:rPr lang="en-US" sz="3000" dirty="0">
                    <a:solidFill>
                      <a:sysClr val="windowText" lastClr="000000"/>
                    </a:solidFill>
                  </a:rPr>
                  <a:t>, expensive!</a:t>
                </a:r>
              </a:p>
            </p:txBody>
          </p:sp>
        </mc:Choice>
        <mc:Fallback xmlns="">
          <p:sp>
            <p:nvSpPr>
              <p:cNvPr id="3" name="Rechteck: abgerundete Ecken 2">
                <a:extLst>
                  <a:ext uri="{FF2B5EF4-FFF2-40B4-BE49-F238E27FC236}">
                    <a16:creationId xmlns:a16="http://schemas.microsoft.com/office/drawing/2014/main" id="{F864C9BC-C7BA-3189-45AF-F133A827C8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9490" y="4074556"/>
                <a:ext cx="4262236" cy="1955244"/>
              </a:xfrm>
              <a:prstGeom prst="roundRect">
                <a:avLst/>
              </a:prstGeom>
              <a:blipFill>
                <a:blip r:embed="rId11"/>
                <a:stretch>
                  <a:fillRect r="-1278"/>
                </a:stretch>
              </a:blipFill>
              <a:ln w="28575">
                <a:solidFill>
                  <a:srgbClr val="F6890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8592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62B53-9657-1A1C-7F5D-CBF074601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496946CD-2304-76F5-75AF-87A1B6AF0E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32549" y="2608856"/>
            <a:ext cx="304800" cy="3048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5211B4E-68A6-6AF4-1F5C-A9C764B279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0682" y="1349060"/>
            <a:ext cx="304800" cy="3048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08B4AC9-5F60-01B4-C58F-BC65C768C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9"/>
            <a:ext cx="10515600" cy="1325563"/>
          </a:xfrm>
        </p:spPr>
        <p:txBody>
          <a:bodyPr/>
          <a:lstStyle/>
          <a:p>
            <a:r>
              <a:rPr lang="en-US" dirty="0"/>
              <a:t>Why the Large Receiver State?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3E53ED9-90D0-139D-8998-6FAA629D3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21BE-5AB5-4051-B4BD-CDC64C855B3D}" type="slidenum">
              <a:rPr lang="en-US" smtClean="0"/>
              <a:t>15</a:t>
            </a:fld>
            <a:endParaRPr lang="en-US" dirty="0"/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5A969A60-E8A5-0E6B-A075-21252D95C108}"/>
              </a:ext>
            </a:extLst>
          </p:cNvPr>
          <p:cNvSpPr/>
          <p:nvPr/>
        </p:nvSpPr>
        <p:spPr>
          <a:xfrm>
            <a:off x="2323242" y="1124196"/>
            <a:ext cx="4334733" cy="549806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7D101830-E7EF-44B5-B0E5-22E76175826F}"/>
              </a:ext>
            </a:extLst>
          </p:cNvPr>
          <p:cNvCxnSpPr>
            <a:cxnSpLocks/>
          </p:cNvCxnSpPr>
          <p:nvPr/>
        </p:nvCxnSpPr>
        <p:spPr>
          <a:xfrm>
            <a:off x="381017" y="3195311"/>
            <a:ext cx="1942225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D370468C-A5E2-FA82-E248-8E4BA91C26C5}"/>
                  </a:ext>
                </a:extLst>
              </p:cNvPr>
              <p:cNvSpPr txBox="1"/>
              <p:nvPr/>
            </p:nvSpPr>
            <p:spPr>
              <a:xfrm>
                <a:off x="1343924" y="2656701"/>
                <a:ext cx="91270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,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D370468C-A5E2-FA82-E248-8E4BA91C2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924" y="2656701"/>
                <a:ext cx="912703" cy="461665"/>
              </a:xfrm>
              <a:prstGeom prst="rect">
                <a:avLst/>
              </a:prstGeom>
              <a:blipFill>
                <a:blip r:embed="rId5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FB07F189-699E-27F6-C5F6-4E111391CB9F}"/>
                  </a:ext>
                </a:extLst>
              </p:cNvPr>
              <p:cNvSpPr txBox="1"/>
              <p:nvPr/>
            </p:nvSpPr>
            <p:spPr>
              <a:xfrm>
                <a:off x="4928891" y="1466862"/>
                <a:ext cx="44358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FB07F189-699E-27F6-C5F6-4E111391C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891" y="1466862"/>
                <a:ext cx="443583" cy="307777"/>
              </a:xfrm>
              <a:prstGeom prst="rect">
                <a:avLst/>
              </a:prstGeom>
              <a:blipFill>
                <a:blip r:embed="rId6"/>
                <a:stretch>
                  <a:fillRect l="-15278" b="-2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67998850-5482-3402-10CC-5C53701DCF82}"/>
                  </a:ext>
                </a:extLst>
              </p:cNvPr>
              <p:cNvSpPr txBox="1"/>
              <p:nvPr/>
            </p:nvSpPr>
            <p:spPr>
              <a:xfrm>
                <a:off x="4928892" y="2124920"/>
                <a:ext cx="106516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67998850-5482-3402-10CC-5C53701DC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892" y="2124920"/>
                <a:ext cx="1065163" cy="307777"/>
              </a:xfrm>
              <a:prstGeom prst="rect">
                <a:avLst/>
              </a:prstGeom>
              <a:blipFill>
                <a:blip r:embed="rId7"/>
                <a:stretch>
                  <a:fillRect l="-6322" r="-4023" b="-16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072B8F8F-CF4D-6A38-B201-566A4A42962D}"/>
              </a:ext>
            </a:extLst>
          </p:cNvPr>
          <p:cNvCxnSpPr/>
          <p:nvPr/>
        </p:nvCxnSpPr>
        <p:spPr>
          <a:xfrm>
            <a:off x="5058342" y="1748915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E25D612B-E118-683B-BF4A-3F3B60D3831B}"/>
              </a:ext>
            </a:extLst>
          </p:cNvPr>
          <p:cNvCxnSpPr>
            <a:cxnSpLocks/>
          </p:cNvCxnSpPr>
          <p:nvPr/>
        </p:nvCxnSpPr>
        <p:spPr>
          <a:xfrm>
            <a:off x="5058342" y="1748915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1F17F366-B492-391C-0FC6-19C5A172E97C}"/>
                  </a:ext>
                </a:extLst>
              </p:cNvPr>
              <p:cNvSpPr txBox="1"/>
              <p:nvPr/>
            </p:nvSpPr>
            <p:spPr>
              <a:xfrm>
                <a:off x="4928892" y="2782978"/>
                <a:ext cx="114236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1F17F366-B492-391C-0FC6-19C5A172E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892" y="2782978"/>
                <a:ext cx="1142364" cy="307777"/>
              </a:xfrm>
              <a:prstGeom prst="rect">
                <a:avLst/>
              </a:prstGeom>
              <a:blipFill>
                <a:blip r:embed="rId8"/>
                <a:stretch>
                  <a:fillRect l="-5882" b="-16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5A74E809-80A7-86FE-3866-FA3B0BE7DA91}"/>
              </a:ext>
            </a:extLst>
          </p:cNvPr>
          <p:cNvCxnSpPr/>
          <p:nvPr/>
        </p:nvCxnSpPr>
        <p:spPr>
          <a:xfrm>
            <a:off x="5058342" y="2417908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7AE1673E-118F-1BC0-1601-46C8ACC9630D}"/>
              </a:ext>
            </a:extLst>
          </p:cNvPr>
          <p:cNvCxnSpPr>
            <a:cxnSpLocks/>
          </p:cNvCxnSpPr>
          <p:nvPr/>
        </p:nvCxnSpPr>
        <p:spPr>
          <a:xfrm>
            <a:off x="5058342" y="2417908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4C5D0261-14E7-4836-D7C2-167D840BABE0}"/>
                  </a:ext>
                </a:extLst>
              </p:cNvPr>
              <p:cNvSpPr txBox="1"/>
              <p:nvPr/>
            </p:nvSpPr>
            <p:spPr>
              <a:xfrm>
                <a:off x="4928892" y="3428767"/>
                <a:ext cx="114236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4C5D0261-14E7-4836-D7C2-167D840BA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892" y="3428767"/>
                <a:ext cx="1142364" cy="307777"/>
              </a:xfrm>
              <a:prstGeom prst="rect">
                <a:avLst/>
              </a:prstGeom>
              <a:blipFill>
                <a:blip r:embed="rId9"/>
                <a:stretch>
                  <a:fillRect l="-5882" b="-137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EEB2955C-2DA2-B6E3-5952-E3792E0E3E7E}"/>
              </a:ext>
            </a:extLst>
          </p:cNvPr>
          <p:cNvCxnSpPr/>
          <p:nvPr/>
        </p:nvCxnSpPr>
        <p:spPr>
          <a:xfrm>
            <a:off x="5058342" y="3063697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9B16CCD5-AC4F-4FBB-40AA-FCB631753A28}"/>
              </a:ext>
            </a:extLst>
          </p:cNvPr>
          <p:cNvCxnSpPr>
            <a:cxnSpLocks/>
          </p:cNvCxnSpPr>
          <p:nvPr/>
        </p:nvCxnSpPr>
        <p:spPr>
          <a:xfrm>
            <a:off x="5058342" y="3063697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73CC29CA-B47B-AD86-DDF9-13CDDB8D9A14}"/>
              </a:ext>
            </a:extLst>
          </p:cNvPr>
          <p:cNvCxnSpPr>
            <a:cxnSpLocks/>
          </p:cNvCxnSpPr>
          <p:nvPr/>
        </p:nvCxnSpPr>
        <p:spPr>
          <a:xfrm>
            <a:off x="5054856" y="1746228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FE9414A4-5BA1-F7CB-1BDA-C7A01638F888}"/>
              </a:ext>
            </a:extLst>
          </p:cNvPr>
          <p:cNvCxnSpPr>
            <a:cxnSpLocks/>
          </p:cNvCxnSpPr>
          <p:nvPr/>
        </p:nvCxnSpPr>
        <p:spPr>
          <a:xfrm>
            <a:off x="5054856" y="2412806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CAB40A7A-DECE-6FFF-6484-6E5C6E5BEA74}"/>
              </a:ext>
            </a:extLst>
          </p:cNvPr>
          <p:cNvCxnSpPr>
            <a:cxnSpLocks/>
          </p:cNvCxnSpPr>
          <p:nvPr/>
        </p:nvCxnSpPr>
        <p:spPr>
          <a:xfrm>
            <a:off x="5054856" y="3049142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888DB9A0-A99F-D152-4D8F-FC5A675339B5}"/>
                  </a:ext>
                </a:extLst>
              </p:cNvPr>
              <p:cNvSpPr txBox="1"/>
              <p:nvPr/>
            </p:nvSpPr>
            <p:spPr>
              <a:xfrm>
                <a:off x="4928892" y="4107758"/>
                <a:ext cx="114236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DE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888DB9A0-A99F-D152-4D8F-FC5A67533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892" y="4107758"/>
                <a:ext cx="1142364" cy="307777"/>
              </a:xfrm>
              <a:prstGeom prst="rect">
                <a:avLst/>
              </a:prstGeom>
              <a:blipFill>
                <a:blip r:embed="rId10"/>
                <a:stretch>
                  <a:fillRect l="-5882" b="-16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FA93C92F-7EA3-119C-6180-B82E5976E230}"/>
              </a:ext>
            </a:extLst>
          </p:cNvPr>
          <p:cNvCxnSpPr/>
          <p:nvPr/>
        </p:nvCxnSpPr>
        <p:spPr>
          <a:xfrm>
            <a:off x="5058342" y="3742688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35D54314-EC08-26C1-00B4-3F1FB3AB73AC}"/>
              </a:ext>
            </a:extLst>
          </p:cNvPr>
          <p:cNvCxnSpPr>
            <a:cxnSpLocks/>
          </p:cNvCxnSpPr>
          <p:nvPr/>
        </p:nvCxnSpPr>
        <p:spPr>
          <a:xfrm>
            <a:off x="5058342" y="3742688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feld 64">
                <a:extLst>
                  <a:ext uri="{FF2B5EF4-FFF2-40B4-BE49-F238E27FC236}">
                    <a16:creationId xmlns:a16="http://schemas.microsoft.com/office/drawing/2014/main" id="{102F5ED3-EAA1-4639-C44B-7EC294BC569C}"/>
                  </a:ext>
                </a:extLst>
              </p:cNvPr>
              <p:cNvSpPr txBox="1"/>
              <p:nvPr/>
            </p:nvSpPr>
            <p:spPr>
              <a:xfrm>
                <a:off x="4928892" y="4753547"/>
                <a:ext cx="114236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de-DE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Textfeld 64">
                <a:extLst>
                  <a:ext uri="{FF2B5EF4-FFF2-40B4-BE49-F238E27FC236}">
                    <a16:creationId xmlns:a16="http://schemas.microsoft.com/office/drawing/2014/main" id="{102F5ED3-EAA1-4639-C44B-7EC294BC5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892" y="4753547"/>
                <a:ext cx="1142364" cy="307777"/>
              </a:xfrm>
              <a:prstGeom prst="rect">
                <a:avLst/>
              </a:prstGeom>
              <a:blipFill>
                <a:blip r:embed="rId11"/>
                <a:stretch>
                  <a:fillRect l="-5882" b="-16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B93E7A89-234F-DFD6-FCB8-9375352AD06D}"/>
              </a:ext>
            </a:extLst>
          </p:cNvPr>
          <p:cNvCxnSpPr/>
          <p:nvPr/>
        </p:nvCxnSpPr>
        <p:spPr>
          <a:xfrm>
            <a:off x="5058342" y="4388477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F99372A8-3658-B225-6062-A19D513EC2E3}"/>
              </a:ext>
            </a:extLst>
          </p:cNvPr>
          <p:cNvCxnSpPr>
            <a:cxnSpLocks/>
          </p:cNvCxnSpPr>
          <p:nvPr/>
        </p:nvCxnSpPr>
        <p:spPr>
          <a:xfrm>
            <a:off x="5058342" y="4388477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F3B1B901-C060-FD96-2F27-791785619484}"/>
              </a:ext>
            </a:extLst>
          </p:cNvPr>
          <p:cNvCxnSpPr>
            <a:cxnSpLocks/>
          </p:cNvCxnSpPr>
          <p:nvPr/>
        </p:nvCxnSpPr>
        <p:spPr>
          <a:xfrm>
            <a:off x="5054856" y="3737586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9ED6DAD3-AEFC-09CA-79C2-0E18207EBBFB}"/>
              </a:ext>
            </a:extLst>
          </p:cNvPr>
          <p:cNvCxnSpPr>
            <a:cxnSpLocks/>
          </p:cNvCxnSpPr>
          <p:nvPr/>
        </p:nvCxnSpPr>
        <p:spPr>
          <a:xfrm>
            <a:off x="5054856" y="4373922"/>
            <a:ext cx="757515" cy="348450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feld 69">
            <a:extLst>
              <a:ext uri="{FF2B5EF4-FFF2-40B4-BE49-F238E27FC236}">
                <a16:creationId xmlns:a16="http://schemas.microsoft.com/office/drawing/2014/main" id="{03B7D430-0106-5E04-5D4D-240FDC1621BF}"/>
              </a:ext>
            </a:extLst>
          </p:cNvPr>
          <p:cNvSpPr txBox="1"/>
          <p:nvPr/>
        </p:nvSpPr>
        <p:spPr>
          <a:xfrm>
            <a:off x="5338191" y="5426027"/>
            <a:ext cx="209994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…</a:t>
            </a:r>
          </a:p>
        </p:txBody>
      </p: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76CF2F09-6293-6881-354B-798FF274791E}"/>
              </a:ext>
            </a:extLst>
          </p:cNvPr>
          <p:cNvCxnSpPr/>
          <p:nvPr/>
        </p:nvCxnSpPr>
        <p:spPr>
          <a:xfrm>
            <a:off x="5058342" y="5087648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83A3F235-DF85-BED7-8A05-E51CECAF7708}"/>
              </a:ext>
            </a:extLst>
          </p:cNvPr>
          <p:cNvCxnSpPr>
            <a:cxnSpLocks/>
          </p:cNvCxnSpPr>
          <p:nvPr/>
        </p:nvCxnSpPr>
        <p:spPr>
          <a:xfrm>
            <a:off x="5058342" y="5087648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74F4D8D5-9C80-DCBC-9D48-F1402561FFB1}"/>
                  </a:ext>
                </a:extLst>
              </p:cNvPr>
              <p:cNvSpPr txBox="1"/>
              <p:nvPr/>
            </p:nvSpPr>
            <p:spPr>
              <a:xfrm>
                <a:off x="4928892" y="6098507"/>
                <a:ext cx="11904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de-DE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74F4D8D5-9C80-DCBC-9D48-F1402561F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892" y="6098507"/>
                <a:ext cx="1190454" cy="307777"/>
              </a:xfrm>
              <a:prstGeom prst="rect">
                <a:avLst/>
              </a:prstGeom>
              <a:blipFill>
                <a:blip r:embed="rId12"/>
                <a:stretch>
                  <a:fillRect l="-5641" b="-98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59B99022-8A3E-2B94-C20F-37214CC09BAF}"/>
              </a:ext>
            </a:extLst>
          </p:cNvPr>
          <p:cNvCxnSpPr/>
          <p:nvPr/>
        </p:nvCxnSpPr>
        <p:spPr>
          <a:xfrm>
            <a:off x="5058342" y="5733437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2A572122-9CCA-87A6-504D-6867DF8027D6}"/>
              </a:ext>
            </a:extLst>
          </p:cNvPr>
          <p:cNvCxnSpPr>
            <a:cxnSpLocks/>
          </p:cNvCxnSpPr>
          <p:nvPr/>
        </p:nvCxnSpPr>
        <p:spPr>
          <a:xfrm>
            <a:off x="5058342" y="5733437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Gerade Verbindung mit Pfeil 75">
            <a:extLst>
              <a:ext uri="{FF2B5EF4-FFF2-40B4-BE49-F238E27FC236}">
                <a16:creationId xmlns:a16="http://schemas.microsoft.com/office/drawing/2014/main" id="{223856FF-1558-5335-32F4-F66C7A65B0FB}"/>
              </a:ext>
            </a:extLst>
          </p:cNvPr>
          <p:cNvCxnSpPr>
            <a:cxnSpLocks/>
          </p:cNvCxnSpPr>
          <p:nvPr/>
        </p:nvCxnSpPr>
        <p:spPr>
          <a:xfrm>
            <a:off x="5054856" y="5082546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Gerade Verbindung mit Pfeil 76">
            <a:extLst>
              <a:ext uri="{FF2B5EF4-FFF2-40B4-BE49-F238E27FC236}">
                <a16:creationId xmlns:a16="http://schemas.microsoft.com/office/drawing/2014/main" id="{520D0523-DA6D-EB9C-228A-C9AA8786C568}"/>
              </a:ext>
            </a:extLst>
          </p:cNvPr>
          <p:cNvCxnSpPr>
            <a:cxnSpLocks/>
          </p:cNvCxnSpPr>
          <p:nvPr/>
        </p:nvCxnSpPr>
        <p:spPr>
          <a:xfrm>
            <a:off x="5054856" y="5718882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0EF6A0AC-B913-F6B6-D19F-85A4A881DD47}"/>
              </a:ext>
            </a:extLst>
          </p:cNvPr>
          <p:cNvCxnSpPr>
            <a:cxnSpLocks/>
          </p:cNvCxnSpPr>
          <p:nvPr/>
        </p:nvCxnSpPr>
        <p:spPr>
          <a:xfrm>
            <a:off x="381017" y="4317407"/>
            <a:ext cx="1942225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A1AD8C20-FD0B-D3AE-8DE1-3DCA102657D3}"/>
                  </a:ext>
                </a:extLst>
              </p:cNvPr>
              <p:cNvSpPr txBox="1"/>
              <p:nvPr/>
            </p:nvSpPr>
            <p:spPr>
              <a:xfrm>
                <a:off x="381017" y="3793725"/>
                <a:ext cx="18756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𝐷𝑜𝑆</m:t>
                        </m:r>
                      </m:sub>
                    </m:sSub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,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𝐷𝑜𝑆</m:t>
                        </m:r>
                      </m:sub>
                    </m:sSub>
                  </m:oMath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A1AD8C20-FD0B-D3AE-8DE1-3DCA10265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17" y="3793725"/>
                <a:ext cx="1875610" cy="461665"/>
              </a:xfrm>
              <a:prstGeom prst="rect">
                <a:avLst/>
              </a:prstGeom>
              <a:blipFill>
                <a:blip r:embed="rId1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CA58E014-2D9D-A3E9-C23B-5BBC1AC5C7CE}"/>
                  </a:ext>
                </a:extLst>
              </p:cNvPr>
              <p:cNvSpPr txBox="1"/>
              <p:nvPr/>
            </p:nvSpPr>
            <p:spPr>
              <a:xfrm>
                <a:off x="6071256" y="6371326"/>
                <a:ext cx="20612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de-DE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=2000</m:t>
                      </m:r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CA58E014-2D9D-A3E9-C23B-5BBC1AC5C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1256" y="6371326"/>
                <a:ext cx="2061280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e 2">
                <a:extLst>
                  <a:ext uri="{FF2B5EF4-FFF2-40B4-BE49-F238E27FC236}">
                    <a16:creationId xmlns:a16="http://schemas.microsoft.com/office/drawing/2014/main" id="{CA8EA1F4-234C-EC97-E8C0-BFACC8002FD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49206" y="2094678"/>
              <a:ext cx="2350020" cy="3108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5010">
                      <a:extLst>
                        <a:ext uri="{9D8B030D-6E8A-4147-A177-3AD203B41FA5}">
                          <a16:colId xmlns:a16="http://schemas.microsoft.com/office/drawing/2014/main" val="2824316310"/>
                        </a:ext>
                      </a:extLst>
                    </a:gridCol>
                    <a:gridCol w="1175010">
                      <a:extLst>
                        <a:ext uri="{9D8B030D-6E8A-4147-A177-3AD203B41FA5}">
                          <a16:colId xmlns:a16="http://schemas.microsoft.com/office/drawing/2014/main" val="3952480044"/>
                        </a:ext>
                      </a:extLst>
                    </a:gridCol>
                  </a:tblGrid>
                  <a:tr h="4632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800" dirty="0">
                              <a:solidFill>
                                <a:sysClr val="windowText" lastClr="000000"/>
                              </a:solidFill>
                            </a:rPr>
                            <a:t>tag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800" dirty="0" err="1">
                              <a:solidFill>
                                <a:sysClr val="windowText" lastClr="000000"/>
                              </a:solidFill>
                            </a:rPr>
                            <a:t>key</a:t>
                          </a:r>
                          <a:endParaRPr lang="de-DE" sz="28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967484"/>
                      </a:ext>
                    </a:extLst>
                  </a:tr>
                  <a:tr h="46326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de-DE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8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8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80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de-DE" sz="28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8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4064364"/>
                      </a:ext>
                    </a:extLst>
                  </a:tr>
                  <a:tr h="46326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de-DE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8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8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80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de-DE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8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87742"/>
                      </a:ext>
                    </a:extLst>
                  </a:tr>
                  <a:tr h="46326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de-DE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8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8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80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de-DE" sz="2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8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6287028"/>
                      </a:ext>
                    </a:extLst>
                  </a:tr>
                  <a:tr h="4632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800" dirty="0">
                              <a:solidFill>
                                <a:sysClr val="windowText" lastClr="000000"/>
                              </a:solidFill>
                            </a:rPr>
                            <a:t>…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800" dirty="0">
                              <a:solidFill>
                                <a:sysClr val="windowText" lastClr="000000"/>
                              </a:solidFill>
                            </a:rPr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6682329"/>
                      </a:ext>
                    </a:extLst>
                  </a:tr>
                  <a:tr h="46326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de-DE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8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8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80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de-DE" sz="2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8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4435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e 2">
                <a:extLst>
                  <a:ext uri="{FF2B5EF4-FFF2-40B4-BE49-F238E27FC236}">
                    <a16:creationId xmlns:a16="http://schemas.microsoft.com/office/drawing/2014/main" id="{CA8EA1F4-234C-EC97-E8C0-BFACC8002FD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49206" y="2094678"/>
              <a:ext cx="2350020" cy="3108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5010">
                      <a:extLst>
                        <a:ext uri="{9D8B030D-6E8A-4147-A177-3AD203B41FA5}">
                          <a16:colId xmlns:a16="http://schemas.microsoft.com/office/drawing/2014/main" val="2824316310"/>
                        </a:ext>
                      </a:extLst>
                    </a:gridCol>
                    <a:gridCol w="1175010">
                      <a:extLst>
                        <a:ext uri="{9D8B030D-6E8A-4147-A177-3AD203B41FA5}">
                          <a16:colId xmlns:a16="http://schemas.microsoft.com/office/drawing/2014/main" val="3952480044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800" dirty="0">
                              <a:solidFill>
                                <a:sysClr val="windowText" lastClr="000000"/>
                              </a:solidFill>
                            </a:rPr>
                            <a:t>tag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800" dirty="0" err="1">
                              <a:solidFill>
                                <a:sysClr val="windowText" lastClr="000000"/>
                              </a:solidFill>
                            </a:rPr>
                            <a:t>key</a:t>
                          </a:r>
                          <a:endParaRPr lang="de-DE" sz="28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96748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5"/>
                          <a:stretch>
                            <a:fillRect l="-515" t="-111765" r="-100515" b="-4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5"/>
                          <a:stretch>
                            <a:fillRect l="-101036" t="-111765" r="-1036" b="-40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406436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5"/>
                          <a:stretch>
                            <a:fillRect l="-515" t="-209302" r="-100515" b="-2988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5"/>
                          <a:stretch>
                            <a:fillRect l="-101036" t="-209302" r="-1036" b="-2988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8774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5"/>
                          <a:stretch>
                            <a:fillRect l="-515" t="-312941" r="-100515" b="-2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5"/>
                          <a:stretch>
                            <a:fillRect l="-101036" t="-312941" r="-1036" b="-20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628702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800" dirty="0">
                              <a:solidFill>
                                <a:sysClr val="windowText" lastClr="000000"/>
                              </a:solidFill>
                            </a:rPr>
                            <a:t>…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800" dirty="0">
                              <a:solidFill>
                                <a:sysClr val="windowText" lastClr="000000"/>
                              </a:solidFill>
                            </a:rPr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668232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15"/>
                          <a:stretch>
                            <a:fillRect l="-515" t="-512941" r="-100515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15"/>
                          <a:stretch>
                            <a:fillRect l="-101036" t="-512941" r="-1036" b="-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4435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1053F92F-3126-7115-7250-334E8A0CE151}"/>
              </a:ext>
            </a:extLst>
          </p:cNvPr>
          <p:cNvSpPr/>
          <p:nvPr/>
        </p:nvSpPr>
        <p:spPr>
          <a:xfrm>
            <a:off x="7718355" y="2909255"/>
            <a:ext cx="3635445" cy="1955244"/>
          </a:xfrm>
          <a:prstGeom prst="roundRect">
            <a:avLst/>
          </a:prstGeom>
          <a:gradFill flip="none" rotWithShape="1">
            <a:gsLst>
              <a:gs pos="0">
                <a:srgbClr val="FFC000">
                  <a:lumMod val="8000"/>
                  <a:lumOff val="92000"/>
                </a:srgbClr>
              </a:gs>
              <a:gs pos="74000">
                <a:srgbClr val="FFC000"/>
              </a:gs>
              <a:gs pos="83000">
                <a:srgbClr val="FFC000"/>
              </a:gs>
              <a:gs pos="100000">
                <a:srgbClr val="FFC000"/>
              </a:gs>
            </a:gsLst>
            <a:lin ang="5400000" scaled="1"/>
            <a:tileRect/>
          </a:gradFill>
          <a:ln w="28575">
            <a:solidFill>
              <a:srgbClr val="F689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ysClr val="windowText" lastClr="000000"/>
                </a:solidFill>
              </a:rPr>
              <a:t>Pre-computed lookup table for each sender!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156BAB2-5DE5-04B9-FD6C-A4584464A498}"/>
              </a:ext>
            </a:extLst>
          </p:cNvPr>
          <p:cNvSpPr/>
          <p:nvPr/>
        </p:nvSpPr>
        <p:spPr>
          <a:xfrm>
            <a:off x="2696816" y="2672193"/>
            <a:ext cx="757515" cy="2601033"/>
          </a:xfrm>
          <a:prstGeom prst="rect">
            <a:avLst/>
          </a:prstGeom>
          <a:noFill/>
          <a:ln w="76200">
            <a:solidFill>
              <a:srgbClr val="46AD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EACB559-B88C-81B7-6D40-B7C077E22E8D}"/>
              </a:ext>
            </a:extLst>
          </p:cNvPr>
          <p:cNvSpPr/>
          <p:nvPr/>
        </p:nvSpPr>
        <p:spPr>
          <a:xfrm>
            <a:off x="4799226" y="1381077"/>
            <a:ext cx="644829" cy="518907"/>
          </a:xfrm>
          <a:prstGeom prst="rect">
            <a:avLst/>
          </a:prstGeom>
          <a:noFill/>
          <a:ln w="76200">
            <a:solidFill>
              <a:srgbClr val="46AD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158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C0BC9-009A-2C34-428D-A128C0152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8DE0FEE0-C6A4-32FF-A69B-445189F137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32549" y="2608856"/>
            <a:ext cx="304800" cy="3048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29B50F2B-F11D-4A05-80A9-541BB0E70B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0682" y="1349060"/>
            <a:ext cx="304800" cy="3048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76ADB91-0FA1-7A43-B63B-8A5D8905C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9"/>
            <a:ext cx="10515600" cy="1325563"/>
          </a:xfrm>
        </p:spPr>
        <p:txBody>
          <a:bodyPr/>
          <a:lstStyle/>
          <a:p>
            <a:r>
              <a:rPr lang="en-US" dirty="0"/>
              <a:t>Fixing the Large Receiver State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0461664-C5C8-B7F6-9FB1-9FE864C4E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21BE-5AB5-4051-B4BD-CDC64C855B3D}" type="slidenum">
              <a:rPr lang="en-US" smtClean="0"/>
              <a:t>16</a:t>
            </a:fld>
            <a:endParaRPr lang="en-US" dirty="0"/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1C0C2131-951A-1447-27A5-A22C5133B731}"/>
              </a:ext>
            </a:extLst>
          </p:cNvPr>
          <p:cNvSpPr/>
          <p:nvPr/>
        </p:nvSpPr>
        <p:spPr>
          <a:xfrm>
            <a:off x="2323242" y="1124196"/>
            <a:ext cx="4334733" cy="549806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B89C5BCD-F024-EF8E-99AB-67E8C13782F1}"/>
              </a:ext>
            </a:extLst>
          </p:cNvPr>
          <p:cNvCxnSpPr>
            <a:cxnSpLocks/>
          </p:cNvCxnSpPr>
          <p:nvPr/>
        </p:nvCxnSpPr>
        <p:spPr>
          <a:xfrm>
            <a:off x="381017" y="3195311"/>
            <a:ext cx="1942225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80382C25-39F7-8213-3A8E-F2EBA41537A1}"/>
                  </a:ext>
                </a:extLst>
              </p:cNvPr>
              <p:cNvSpPr txBox="1"/>
              <p:nvPr/>
            </p:nvSpPr>
            <p:spPr>
              <a:xfrm>
                <a:off x="1343924" y="2656701"/>
                <a:ext cx="91270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,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80382C25-39F7-8213-3A8E-F2EBA4153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924" y="2656701"/>
                <a:ext cx="912703" cy="461665"/>
              </a:xfrm>
              <a:prstGeom prst="rect">
                <a:avLst/>
              </a:prstGeom>
              <a:blipFill>
                <a:blip r:embed="rId5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AFCB58F2-F7ED-2295-36F3-518ED63546F9}"/>
              </a:ext>
            </a:extLst>
          </p:cNvPr>
          <p:cNvCxnSpPr>
            <a:cxnSpLocks/>
          </p:cNvCxnSpPr>
          <p:nvPr/>
        </p:nvCxnSpPr>
        <p:spPr>
          <a:xfrm>
            <a:off x="381017" y="4317407"/>
            <a:ext cx="1942225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8516D138-B4F7-5658-1FFE-F94587B4E6EE}"/>
                  </a:ext>
                </a:extLst>
              </p:cNvPr>
              <p:cNvSpPr txBox="1"/>
              <p:nvPr/>
            </p:nvSpPr>
            <p:spPr>
              <a:xfrm>
                <a:off x="381017" y="3793725"/>
                <a:ext cx="18756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24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DoS</m:t>
                        </m:r>
                      </m:sub>
                    </m:sSub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,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2400" b="0" i="0" dirty="0" smtClean="0">
                            <a:latin typeface="Cambria Math" panose="02040503050406030204" pitchFamily="18" charset="0"/>
                          </a:rPr>
                          <m:t>DoS</m:t>
                        </m:r>
                      </m:sub>
                    </m:sSub>
                  </m:oMath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8516D138-B4F7-5658-1FFE-F94587B4E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17" y="3793725"/>
                <a:ext cx="1875610" cy="461665"/>
              </a:xfrm>
              <a:prstGeom prst="rect">
                <a:avLst/>
              </a:prstGeom>
              <a:blipFill>
                <a:blip r:embed="rId6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E3D33700-8517-209A-33C6-C3C48EFBA66F}"/>
                  </a:ext>
                </a:extLst>
              </p:cNvPr>
              <p:cNvSpPr txBox="1"/>
              <p:nvPr/>
            </p:nvSpPr>
            <p:spPr>
              <a:xfrm>
                <a:off x="6071256" y="6371326"/>
                <a:ext cx="20612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de-DE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=2000</m:t>
                      </m:r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E3D33700-8517-209A-33C6-C3C48EFBA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1256" y="6371326"/>
                <a:ext cx="206128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e 2">
                <a:extLst>
                  <a:ext uri="{FF2B5EF4-FFF2-40B4-BE49-F238E27FC236}">
                    <a16:creationId xmlns:a16="http://schemas.microsoft.com/office/drawing/2014/main" id="{4E73ED14-0EDB-CEB5-E18B-AA27EF2E692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49206" y="2094678"/>
              <a:ext cx="2350020" cy="3108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5010">
                      <a:extLst>
                        <a:ext uri="{9D8B030D-6E8A-4147-A177-3AD203B41FA5}">
                          <a16:colId xmlns:a16="http://schemas.microsoft.com/office/drawing/2014/main" val="2824316310"/>
                        </a:ext>
                      </a:extLst>
                    </a:gridCol>
                    <a:gridCol w="1175010">
                      <a:extLst>
                        <a:ext uri="{9D8B030D-6E8A-4147-A177-3AD203B41FA5}">
                          <a16:colId xmlns:a16="http://schemas.microsoft.com/office/drawing/2014/main" val="3952480044"/>
                        </a:ext>
                      </a:extLst>
                    </a:gridCol>
                  </a:tblGrid>
                  <a:tr h="4632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800" dirty="0">
                              <a:solidFill>
                                <a:sysClr val="windowText" lastClr="000000"/>
                              </a:solidFill>
                            </a:rPr>
                            <a:t>tag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800" dirty="0" err="1">
                              <a:solidFill>
                                <a:sysClr val="windowText" lastClr="000000"/>
                              </a:solidFill>
                            </a:rPr>
                            <a:t>key</a:t>
                          </a:r>
                          <a:endParaRPr lang="de-DE" sz="28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967484"/>
                      </a:ext>
                    </a:extLst>
                  </a:tr>
                  <a:tr h="46326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de-DE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8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8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80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de-DE" sz="28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8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4064364"/>
                      </a:ext>
                    </a:extLst>
                  </a:tr>
                  <a:tr h="46326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de-DE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8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8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80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de-DE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8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87742"/>
                      </a:ext>
                    </a:extLst>
                  </a:tr>
                  <a:tr h="46326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de-DE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8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8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80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de-DE" sz="2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8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6287028"/>
                      </a:ext>
                    </a:extLst>
                  </a:tr>
                  <a:tr h="4632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800" dirty="0">
                              <a:solidFill>
                                <a:sysClr val="windowText" lastClr="000000"/>
                              </a:solidFill>
                            </a:rPr>
                            <a:t>…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800" dirty="0">
                              <a:solidFill>
                                <a:sysClr val="windowText" lastClr="000000"/>
                              </a:solidFill>
                            </a:rPr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6682329"/>
                      </a:ext>
                    </a:extLst>
                  </a:tr>
                  <a:tr h="46326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de-DE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8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8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80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de-DE" sz="2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8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4435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e 2">
                <a:extLst>
                  <a:ext uri="{FF2B5EF4-FFF2-40B4-BE49-F238E27FC236}">
                    <a16:creationId xmlns:a16="http://schemas.microsoft.com/office/drawing/2014/main" id="{4E73ED14-0EDB-CEB5-E18B-AA27EF2E692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49206" y="2094678"/>
              <a:ext cx="2350020" cy="3108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5010">
                      <a:extLst>
                        <a:ext uri="{9D8B030D-6E8A-4147-A177-3AD203B41FA5}">
                          <a16:colId xmlns:a16="http://schemas.microsoft.com/office/drawing/2014/main" val="2824316310"/>
                        </a:ext>
                      </a:extLst>
                    </a:gridCol>
                    <a:gridCol w="1175010">
                      <a:extLst>
                        <a:ext uri="{9D8B030D-6E8A-4147-A177-3AD203B41FA5}">
                          <a16:colId xmlns:a16="http://schemas.microsoft.com/office/drawing/2014/main" val="3952480044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800" dirty="0">
                              <a:solidFill>
                                <a:sysClr val="windowText" lastClr="000000"/>
                              </a:solidFill>
                            </a:rPr>
                            <a:t>tag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800" dirty="0" err="1">
                              <a:solidFill>
                                <a:sysClr val="windowText" lastClr="000000"/>
                              </a:solidFill>
                            </a:rPr>
                            <a:t>key</a:t>
                          </a:r>
                          <a:endParaRPr lang="de-DE" sz="28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96748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515" t="-111765" r="-100515" b="-4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1036" t="-111765" r="-1036" b="-40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406436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515" t="-209302" r="-100515" b="-2988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1036" t="-209302" r="-1036" b="-2988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8774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515" t="-312941" r="-100515" b="-2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1036" t="-312941" r="-1036" b="-20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628702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800" dirty="0">
                              <a:solidFill>
                                <a:sysClr val="windowText" lastClr="000000"/>
                              </a:solidFill>
                            </a:rPr>
                            <a:t>…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800" dirty="0">
                              <a:solidFill>
                                <a:sysClr val="windowText" lastClr="000000"/>
                              </a:solidFill>
                            </a:rPr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668232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8"/>
                          <a:stretch>
                            <a:fillRect l="-515" t="-512941" r="-100515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8"/>
                          <a:stretch>
                            <a:fillRect l="-101036" t="-512941" r="-1036" b="-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4435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hteck 4">
            <a:extLst>
              <a:ext uri="{FF2B5EF4-FFF2-40B4-BE49-F238E27FC236}">
                <a16:creationId xmlns:a16="http://schemas.microsoft.com/office/drawing/2014/main" id="{6DB8FD11-6C4C-FC46-91B9-7F04DF3FD006}"/>
              </a:ext>
            </a:extLst>
          </p:cNvPr>
          <p:cNvSpPr/>
          <p:nvPr/>
        </p:nvSpPr>
        <p:spPr>
          <a:xfrm>
            <a:off x="2696816" y="2672193"/>
            <a:ext cx="757515" cy="2601033"/>
          </a:xfrm>
          <a:prstGeom prst="rect">
            <a:avLst/>
          </a:prstGeom>
          <a:noFill/>
          <a:ln w="76200">
            <a:solidFill>
              <a:srgbClr val="46AD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428EA88-EB13-1130-BE8B-4777FFB87E8C}"/>
              </a:ext>
            </a:extLst>
          </p:cNvPr>
          <p:cNvSpPr/>
          <p:nvPr/>
        </p:nvSpPr>
        <p:spPr>
          <a:xfrm>
            <a:off x="7895552" y="3216462"/>
            <a:ext cx="1599632" cy="1199073"/>
          </a:xfrm>
          <a:prstGeom prst="rect">
            <a:avLst/>
          </a:prstGeom>
          <a:noFill/>
          <a:ln w="76200">
            <a:solidFill>
              <a:srgbClr val="46AD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Counting Bloom Filter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418FE5DF-FCD2-1F44-776E-49CCCF5570A9}"/>
              </a:ext>
            </a:extLst>
          </p:cNvPr>
          <p:cNvCxnSpPr>
            <a:cxnSpLocks/>
          </p:cNvCxnSpPr>
          <p:nvPr/>
        </p:nvCxnSpPr>
        <p:spPr>
          <a:xfrm>
            <a:off x="8695368" y="2648176"/>
            <a:ext cx="0" cy="544114"/>
          </a:xfrm>
          <a:prstGeom prst="straightConnector1">
            <a:avLst/>
          </a:prstGeom>
          <a:ln w="3556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0DA716BE-40F8-48E8-2365-6E2319021DEE}"/>
              </a:ext>
            </a:extLst>
          </p:cNvPr>
          <p:cNvSpPr txBox="1"/>
          <p:nvPr/>
        </p:nvSpPr>
        <p:spPr>
          <a:xfrm>
            <a:off x="8756200" y="2689401"/>
            <a:ext cx="2287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is receivable?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CDA1D236-9642-ECD5-BE6B-A9CF3870FAD7}"/>
              </a:ext>
            </a:extLst>
          </p:cNvPr>
          <p:cNvCxnSpPr>
            <a:cxnSpLocks/>
          </p:cNvCxnSpPr>
          <p:nvPr/>
        </p:nvCxnSpPr>
        <p:spPr>
          <a:xfrm flipV="1">
            <a:off x="9507835" y="4008264"/>
            <a:ext cx="941269" cy="6399"/>
          </a:xfrm>
          <a:prstGeom prst="straightConnector1">
            <a:avLst/>
          </a:prstGeom>
          <a:ln w="3556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5A8E4A33-C8B4-0306-182C-CE1765F7D5D0}"/>
              </a:ext>
            </a:extLst>
          </p:cNvPr>
          <p:cNvSpPr txBox="1"/>
          <p:nvPr/>
        </p:nvSpPr>
        <p:spPr>
          <a:xfrm>
            <a:off x="9495183" y="3540118"/>
            <a:ext cx="66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yes</a:t>
            </a: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D57605A1-9BAF-3534-57B4-69CEC41BBA11}"/>
              </a:ext>
            </a:extLst>
          </p:cNvPr>
          <p:cNvCxnSpPr>
            <a:cxnSpLocks/>
          </p:cNvCxnSpPr>
          <p:nvPr/>
        </p:nvCxnSpPr>
        <p:spPr>
          <a:xfrm>
            <a:off x="8695368" y="4440393"/>
            <a:ext cx="0" cy="1320912"/>
          </a:xfrm>
          <a:prstGeom prst="straightConnector1">
            <a:avLst/>
          </a:prstGeom>
          <a:ln w="3556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BB973989-3C75-9669-D97B-16A9352A0600}"/>
              </a:ext>
            </a:extLst>
          </p:cNvPr>
          <p:cNvSpPr txBox="1"/>
          <p:nvPr/>
        </p:nvSpPr>
        <p:spPr>
          <a:xfrm>
            <a:off x="8695368" y="4799681"/>
            <a:ext cx="648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no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9C4138C3-06FE-2162-A966-F0A0B6F43A73}"/>
                  </a:ext>
                </a:extLst>
              </p:cNvPr>
              <p:cNvSpPr txBox="1"/>
              <p:nvPr/>
            </p:nvSpPr>
            <p:spPr>
              <a:xfrm>
                <a:off x="10449104" y="3745706"/>
                <a:ext cx="16422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derive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9C4138C3-06FE-2162-A966-F0A0B6F43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9104" y="3745706"/>
                <a:ext cx="1642214" cy="461665"/>
              </a:xfrm>
              <a:prstGeom prst="rect">
                <a:avLst/>
              </a:prstGeom>
              <a:blipFill>
                <a:blip r:embed="rId9"/>
                <a:stretch>
                  <a:fillRect l="-557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feld 18">
            <a:extLst>
              <a:ext uri="{FF2B5EF4-FFF2-40B4-BE49-F238E27FC236}">
                <a16:creationId xmlns:a16="http://schemas.microsoft.com/office/drawing/2014/main" id="{BDBF7040-C716-8E08-F9AC-46090501C555}"/>
              </a:ext>
            </a:extLst>
          </p:cNvPr>
          <p:cNvSpPr txBox="1"/>
          <p:nvPr/>
        </p:nvSpPr>
        <p:spPr>
          <a:xfrm>
            <a:off x="8162925" y="5701703"/>
            <a:ext cx="1214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discard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6D1DCB2B-1117-5612-2790-144DEECB83B5}"/>
                  </a:ext>
                </a:extLst>
              </p:cNvPr>
              <p:cNvSpPr txBox="1"/>
              <p:nvPr/>
            </p:nvSpPr>
            <p:spPr>
              <a:xfrm>
                <a:off x="8132536" y="2117996"/>
                <a:ext cx="116599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6D1DCB2B-1117-5612-2790-144DEECB8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2536" y="2117996"/>
                <a:ext cx="1165997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ED373297-513B-1682-4304-8714C3847888}"/>
              </a:ext>
            </a:extLst>
          </p:cNvPr>
          <p:cNvSpPr/>
          <p:nvPr/>
        </p:nvSpPr>
        <p:spPr>
          <a:xfrm>
            <a:off x="9259078" y="517441"/>
            <a:ext cx="2575065" cy="1325563"/>
          </a:xfrm>
          <a:prstGeom prst="roundRect">
            <a:avLst/>
          </a:prstGeom>
          <a:gradFill flip="none" rotWithShape="1">
            <a:gsLst>
              <a:gs pos="0">
                <a:srgbClr val="FFC000">
                  <a:lumMod val="8000"/>
                  <a:lumOff val="92000"/>
                </a:srgbClr>
              </a:gs>
              <a:gs pos="74000">
                <a:srgbClr val="FFC000"/>
              </a:gs>
              <a:gs pos="83000">
                <a:srgbClr val="FFC000"/>
              </a:gs>
              <a:gs pos="100000">
                <a:srgbClr val="FFC000"/>
              </a:gs>
            </a:gsLst>
            <a:lin ang="5400000" scaled="1"/>
            <a:tileRect/>
          </a:gradFill>
          <a:ln w="28575">
            <a:solidFill>
              <a:srgbClr val="F689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+ 38KB/contact</a:t>
            </a:r>
          </a:p>
          <a:p>
            <a:pPr algn="ctr"/>
            <a:r>
              <a:rPr lang="en-US" sz="2400" i="1" dirty="0">
                <a:solidFill>
                  <a:sysClr val="windowText" lastClr="000000"/>
                </a:solidFill>
              </a:rPr>
              <a:t>3.8MB/1000 contacts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1E51710A-D999-EF62-201F-6832EBE7902A}"/>
              </a:ext>
            </a:extLst>
          </p:cNvPr>
          <p:cNvSpPr/>
          <p:nvPr/>
        </p:nvSpPr>
        <p:spPr>
          <a:xfrm>
            <a:off x="6700837" y="4540287"/>
            <a:ext cx="1791904" cy="867143"/>
          </a:xfrm>
          <a:prstGeom prst="roundRect">
            <a:avLst/>
          </a:prstGeom>
          <a:gradFill flip="none" rotWithShape="1">
            <a:gsLst>
              <a:gs pos="0">
                <a:srgbClr val="FFC000">
                  <a:lumMod val="8000"/>
                  <a:lumOff val="92000"/>
                </a:srgbClr>
              </a:gs>
              <a:gs pos="74000">
                <a:srgbClr val="FFC000"/>
              </a:gs>
              <a:gs pos="83000">
                <a:srgbClr val="FFC000"/>
              </a:gs>
              <a:gs pos="100000">
                <a:srgbClr val="FFC000"/>
              </a:gs>
            </a:gsLst>
            <a:lin ang="5400000" scaled="1"/>
            <a:tileRect/>
          </a:gradFill>
          <a:ln w="28575">
            <a:solidFill>
              <a:srgbClr val="F689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No false negatives!</a:t>
            </a:r>
            <a:endParaRPr lang="en-US" sz="2400" i="1" dirty="0">
              <a:solidFill>
                <a:sysClr val="windowText" lastClr="000000"/>
              </a:solidFill>
            </a:endParaRP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F17AF5C7-BCAC-DFE5-9FAE-ACFB87AA3321}"/>
              </a:ext>
            </a:extLst>
          </p:cNvPr>
          <p:cNvSpPr/>
          <p:nvPr/>
        </p:nvSpPr>
        <p:spPr>
          <a:xfrm>
            <a:off x="10043696" y="4153892"/>
            <a:ext cx="1999224" cy="1418133"/>
          </a:xfrm>
          <a:prstGeom prst="roundRect">
            <a:avLst/>
          </a:prstGeom>
          <a:gradFill flip="none" rotWithShape="1">
            <a:gsLst>
              <a:gs pos="0">
                <a:srgbClr val="FFC000">
                  <a:lumMod val="8000"/>
                  <a:lumOff val="92000"/>
                </a:srgbClr>
              </a:gs>
              <a:gs pos="74000">
                <a:srgbClr val="FFC000"/>
              </a:gs>
              <a:gs pos="83000">
                <a:srgbClr val="FFC000"/>
              </a:gs>
              <a:gs pos="100000">
                <a:srgbClr val="FFC000"/>
              </a:gs>
            </a:gsLst>
            <a:lin ang="5400000" scaled="1"/>
            <a:tileRect/>
          </a:gradFill>
          <a:ln w="28575">
            <a:solidFill>
              <a:srgbClr val="F689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False positives rare and cheap!</a:t>
            </a:r>
            <a:endParaRPr lang="en-US" sz="2400" i="1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CA7D6402-8F79-E72E-AEF9-D659931A4BAA}"/>
                  </a:ext>
                </a:extLst>
              </p:cNvPr>
              <p:cNvSpPr txBox="1"/>
              <p:nvPr/>
            </p:nvSpPr>
            <p:spPr>
              <a:xfrm>
                <a:off x="4928891" y="1466862"/>
                <a:ext cx="44358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CA7D6402-8F79-E72E-AEF9-D659931A4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891" y="1466862"/>
                <a:ext cx="443583" cy="307777"/>
              </a:xfrm>
              <a:prstGeom prst="rect">
                <a:avLst/>
              </a:prstGeom>
              <a:blipFill>
                <a:blip r:embed="rId11"/>
                <a:stretch>
                  <a:fillRect l="-15278" b="-2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A22E9C70-FD4E-B381-1002-D7A454AD2491}"/>
                  </a:ext>
                </a:extLst>
              </p:cNvPr>
              <p:cNvSpPr txBox="1"/>
              <p:nvPr/>
            </p:nvSpPr>
            <p:spPr>
              <a:xfrm>
                <a:off x="4928892" y="2124920"/>
                <a:ext cx="106516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A22E9C70-FD4E-B381-1002-D7A454AD2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892" y="2124920"/>
                <a:ext cx="1065163" cy="307777"/>
              </a:xfrm>
              <a:prstGeom prst="rect">
                <a:avLst/>
              </a:prstGeom>
              <a:blipFill>
                <a:blip r:embed="rId12"/>
                <a:stretch>
                  <a:fillRect l="-6322" r="-4023" b="-16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914BB3F5-EE39-E534-8381-10E8789E6DFF}"/>
              </a:ext>
            </a:extLst>
          </p:cNvPr>
          <p:cNvCxnSpPr/>
          <p:nvPr/>
        </p:nvCxnSpPr>
        <p:spPr>
          <a:xfrm>
            <a:off x="5058342" y="1748915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0C1F6ADD-1563-29A9-2EF4-1C88B2DD7B7C}"/>
              </a:ext>
            </a:extLst>
          </p:cNvPr>
          <p:cNvCxnSpPr>
            <a:cxnSpLocks/>
          </p:cNvCxnSpPr>
          <p:nvPr/>
        </p:nvCxnSpPr>
        <p:spPr>
          <a:xfrm>
            <a:off x="5058342" y="1748915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32B8DFCB-084C-49A0-0FC7-687CD26C7987}"/>
                  </a:ext>
                </a:extLst>
              </p:cNvPr>
              <p:cNvSpPr txBox="1"/>
              <p:nvPr/>
            </p:nvSpPr>
            <p:spPr>
              <a:xfrm>
                <a:off x="4928892" y="2782978"/>
                <a:ext cx="114236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32B8DFCB-084C-49A0-0FC7-687CD26C7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892" y="2782978"/>
                <a:ext cx="1142364" cy="307777"/>
              </a:xfrm>
              <a:prstGeom prst="rect">
                <a:avLst/>
              </a:prstGeom>
              <a:blipFill>
                <a:blip r:embed="rId13"/>
                <a:stretch>
                  <a:fillRect l="-5882" b="-16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68A13A66-1381-2257-2801-6413E4FB3984}"/>
              </a:ext>
            </a:extLst>
          </p:cNvPr>
          <p:cNvCxnSpPr/>
          <p:nvPr/>
        </p:nvCxnSpPr>
        <p:spPr>
          <a:xfrm>
            <a:off x="5058342" y="2417908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A593F6F1-B36D-3BA6-0D08-38D7D14E5351}"/>
              </a:ext>
            </a:extLst>
          </p:cNvPr>
          <p:cNvCxnSpPr>
            <a:cxnSpLocks/>
          </p:cNvCxnSpPr>
          <p:nvPr/>
        </p:nvCxnSpPr>
        <p:spPr>
          <a:xfrm>
            <a:off x="5058342" y="2417908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feld 46">
                <a:extLst>
                  <a:ext uri="{FF2B5EF4-FFF2-40B4-BE49-F238E27FC236}">
                    <a16:creationId xmlns:a16="http://schemas.microsoft.com/office/drawing/2014/main" id="{92D4E467-8709-77C1-4208-2ED6AB7E68F0}"/>
                  </a:ext>
                </a:extLst>
              </p:cNvPr>
              <p:cNvSpPr txBox="1"/>
              <p:nvPr/>
            </p:nvSpPr>
            <p:spPr>
              <a:xfrm>
                <a:off x="4928892" y="3428767"/>
                <a:ext cx="114236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feld 46">
                <a:extLst>
                  <a:ext uri="{FF2B5EF4-FFF2-40B4-BE49-F238E27FC236}">
                    <a16:creationId xmlns:a16="http://schemas.microsoft.com/office/drawing/2014/main" id="{92D4E467-8709-77C1-4208-2ED6AB7E6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892" y="3428767"/>
                <a:ext cx="1142364" cy="307777"/>
              </a:xfrm>
              <a:prstGeom prst="rect">
                <a:avLst/>
              </a:prstGeom>
              <a:blipFill>
                <a:blip r:embed="rId14"/>
                <a:stretch>
                  <a:fillRect l="-5882" b="-137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022E74FA-F585-35BE-B057-6D0BBCD0E98C}"/>
              </a:ext>
            </a:extLst>
          </p:cNvPr>
          <p:cNvCxnSpPr/>
          <p:nvPr/>
        </p:nvCxnSpPr>
        <p:spPr>
          <a:xfrm>
            <a:off x="5058342" y="3063697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98077F13-7FB8-0A1F-C04B-089556E5C350}"/>
              </a:ext>
            </a:extLst>
          </p:cNvPr>
          <p:cNvCxnSpPr>
            <a:cxnSpLocks/>
          </p:cNvCxnSpPr>
          <p:nvPr/>
        </p:nvCxnSpPr>
        <p:spPr>
          <a:xfrm>
            <a:off x="5058342" y="3063697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8769E281-2E81-7F51-D265-60DD77BBDBD3}"/>
              </a:ext>
            </a:extLst>
          </p:cNvPr>
          <p:cNvCxnSpPr>
            <a:cxnSpLocks/>
          </p:cNvCxnSpPr>
          <p:nvPr/>
        </p:nvCxnSpPr>
        <p:spPr>
          <a:xfrm>
            <a:off x="5054856" y="1746228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810CDD7B-9ED9-0F66-D21E-EC642AF871D9}"/>
              </a:ext>
            </a:extLst>
          </p:cNvPr>
          <p:cNvCxnSpPr>
            <a:cxnSpLocks/>
          </p:cNvCxnSpPr>
          <p:nvPr/>
        </p:nvCxnSpPr>
        <p:spPr>
          <a:xfrm>
            <a:off x="5054856" y="2412806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142ED8D9-7F6E-2F17-9F8E-96B8B64C6B8F}"/>
              </a:ext>
            </a:extLst>
          </p:cNvPr>
          <p:cNvCxnSpPr>
            <a:cxnSpLocks/>
          </p:cNvCxnSpPr>
          <p:nvPr/>
        </p:nvCxnSpPr>
        <p:spPr>
          <a:xfrm>
            <a:off x="5054856" y="3049142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0E8C47A2-77CA-7F94-EB86-C3237F230C12}"/>
                  </a:ext>
                </a:extLst>
              </p:cNvPr>
              <p:cNvSpPr txBox="1"/>
              <p:nvPr/>
            </p:nvSpPr>
            <p:spPr>
              <a:xfrm>
                <a:off x="4928892" y="4107758"/>
                <a:ext cx="114236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DE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0E8C47A2-77CA-7F94-EB86-C3237F230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892" y="4107758"/>
                <a:ext cx="1142364" cy="307777"/>
              </a:xfrm>
              <a:prstGeom prst="rect">
                <a:avLst/>
              </a:prstGeom>
              <a:blipFill>
                <a:blip r:embed="rId15"/>
                <a:stretch>
                  <a:fillRect l="-5882" b="-16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7178D2C1-B197-816B-343C-7C1F751536C1}"/>
              </a:ext>
            </a:extLst>
          </p:cNvPr>
          <p:cNvCxnSpPr/>
          <p:nvPr/>
        </p:nvCxnSpPr>
        <p:spPr>
          <a:xfrm>
            <a:off x="5058342" y="3742688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1D95235B-5FBD-77DA-79F5-7802C9C64208}"/>
              </a:ext>
            </a:extLst>
          </p:cNvPr>
          <p:cNvCxnSpPr>
            <a:cxnSpLocks/>
          </p:cNvCxnSpPr>
          <p:nvPr/>
        </p:nvCxnSpPr>
        <p:spPr>
          <a:xfrm>
            <a:off x="5058342" y="3742688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feld 62">
                <a:extLst>
                  <a:ext uri="{FF2B5EF4-FFF2-40B4-BE49-F238E27FC236}">
                    <a16:creationId xmlns:a16="http://schemas.microsoft.com/office/drawing/2014/main" id="{2355D26C-4684-5034-4D59-1B29CEE84115}"/>
                  </a:ext>
                </a:extLst>
              </p:cNvPr>
              <p:cNvSpPr txBox="1"/>
              <p:nvPr/>
            </p:nvSpPr>
            <p:spPr>
              <a:xfrm>
                <a:off x="4928892" y="4753547"/>
                <a:ext cx="114236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de-DE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Textfeld 62">
                <a:extLst>
                  <a:ext uri="{FF2B5EF4-FFF2-40B4-BE49-F238E27FC236}">
                    <a16:creationId xmlns:a16="http://schemas.microsoft.com/office/drawing/2014/main" id="{2355D26C-4684-5034-4D59-1B29CEE84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892" y="4753547"/>
                <a:ext cx="1142364" cy="307777"/>
              </a:xfrm>
              <a:prstGeom prst="rect">
                <a:avLst/>
              </a:prstGeom>
              <a:blipFill>
                <a:blip r:embed="rId16"/>
                <a:stretch>
                  <a:fillRect l="-5882" b="-16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6586DCAF-0C06-E475-8A9C-D3AA80A75E10}"/>
              </a:ext>
            </a:extLst>
          </p:cNvPr>
          <p:cNvCxnSpPr/>
          <p:nvPr/>
        </p:nvCxnSpPr>
        <p:spPr>
          <a:xfrm>
            <a:off x="5058342" y="4388477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Gerade Verbindung mit Pfeil 78">
            <a:extLst>
              <a:ext uri="{FF2B5EF4-FFF2-40B4-BE49-F238E27FC236}">
                <a16:creationId xmlns:a16="http://schemas.microsoft.com/office/drawing/2014/main" id="{EAE533FB-79D6-CB4B-3370-E9F071B8516D}"/>
              </a:ext>
            </a:extLst>
          </p:cNvPr>
          <p:cNvCxnSpPr>
            <a:cxnSpLocks/>
          </p:cNvCxnSpPr>
          <p:nvPr/>
        </p:nvCxnSpPr>
        <p:spPr>
          <a:xfrm>
            <a:off x="5058342" y="4388477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5C54CD03-E9F1-8499-F432-0736D9F642F1}"/>
              </a:ext>
            </a:extLst>
          </p:cNvPr>
          <p:cNvCxnSpPr>
            <a:cxnSpLocks/>
          </p:cNvCxnSpPr>
          <p:nvPr/>
        </p:nvCxnSpPr>
        <p:spPr>
          <a:xfrm>
            <a:off x="5054856" y="3737586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1212FE81-ACDC-4F65-260A-B3E8EBA86292}"/>
              </a:ext>
            </a:extLst>
          </p:cNvPr>
          <p:cNvCxnSpPr>
            <a:cxnSpLocks/>
          </p:cNvCxnSpPr>
          <p:nvPr/>
        </p:nvCxnSpPr>
        <p:spPr>
          <a:xfrm>
            <a:off x="5054856" y="4373922"/>
            <a:ext cx="757515" cy="348450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feld 81">
            <a:extLst>
              <a:ext uri="{FF2B5EF4-FFF2-40B4-BE49-F238E27FC236}">
                <a16:creationId xmlns:a16="http://schemas.microsoft.com/office/drawing/2014/main" id="{D9A6907F-AA6D-83BD-E336-4A46EC37A0CD}"/>
              </a:ext>
            </a:extLst>
          </p:cNvPr>
          <p:cNvSpPr txBox="1"/>
          <p:nvPr/>
        </p:nvSpPr>
        <p:spPr>
          <a:xfrm>
            <a:off x="5338191" y="5426027"/>
            <a:ext cx="209994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…</a:t>
            </a:r>
          </a:p>
        </p:txBody>
      </p:sp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B89B943B-DAFB-F11D-520C-91562BF68179}"/>
              </a:ext>
            </a:extLst>
          </p:cNvPr>
          <p:cNvCxnSpPr/>
          <p:nvPr/>
        </p:nvCxnSpPr>
        <p:spPr>
          <a:xfrm>
            <a:off x="5058342" y="5087648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F7F06BC2-8B41-819B-0582-F6EF9BA068E0}"/>
              </a:ext>
            </a:extLst>
          </p:cNvPr>
          <p:cNvCxnSpPr>
            <a:cxnSpLocks/>
          </p:cNvCxnSpPr>
          <p:nvPr/>
        </p:nvCxnSpPr>
        <p:spPr>
          <a:xfrm>
            <a:off x="5058342" y="5087648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5848C08E-5529-7764-DA26-436538A66858}"/>
                  </a:ext>
                </a:extLst>
              </p:cNvPr>
              <p:cNvSpPr txBox="1"/>
              <p:nvPr/>
            </p:nvSpPr>
            <p:spPr>
              <a:xfrm>
                <a:off x="4928892" y="6098507"/>
                <a:ext cx="11904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de-DE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5848C08E-5529-7764-DA26-436538A66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892" y="6098507"/>
                <a:ext cx="1190454" cy="307777"/>
              </a:xfrm>
              <a:prstGeom prst="rect">
                <a:avLst/>
              </a:prstGeom>
              <a:blipFill>
                <a:blip r:embed="rId17"/>
                <a:stretch>
                  <a:fillRect l="-5641" b="-98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Gerade Verbindung mit Pfeil 85">
            <a:extLst>
              <a:ext uri="{FF2B5EF4-FFF2-40B4-BE49-F238E27FC236}">
                <a16:creationId xmlns:a16="http://schemas.microsoft.com/office/drawing/2014/main" id="{32D4F34F-63B7-592F-BF7B-F709361DF926}"/>
              </a:ext>
            </a:extLst>
          </p:cNvPr>
          <p:cNvCxnSpPr/>
          <p:nvPr/>
        </p:nvCxnSpPr>
        <p:spPr>
          <a:xfrm>
            <a:off x="5058342" y="5733437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Gerade Verbindung mit Pfeil 86">
            <a:extLst>
              <a:ext uri="{FF2B5EF4-FFF2-40B4-BE49-F238E27FC236}">
                <a16:creationId xmlns:a16="http://schemas.microsoft.com/office/drawing/2014/main" id="{6E76DEF4-4229-95CE-BD27-968F4B692258}"/>
              </a:ext>
            </a:extLst>
          </p:cNvPr>
          <p:cNvCxnSpPr>
            <a:cxnSpLocks/>
          </p:cNvCxnSpPr>
          <p:nvPr/>
        </p:nvCxnSpPr>
        <p:spPr>
          <a:xfrm>
            <a:off x="5058342" y="5733437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BAFFA7A9-50B2-F625-1036-3B2220BB3BC2}"/>
              </a:ext>
            </a:extLst>
          </p:cNvPr>
          <p:cNvCxnSpPr>
            <a:cxnSpLocks/>
          </p:cNvCxnSpPr>
          <p:nvPr/>
        </p:nvCxnSpPr>
        <p:spPr>
          <a:xfrm>
            <a:off x="5054856" y="5082546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1F9E0FD9-3236-C75B-889B-92551B16E80A}"/>
              </a:ext>
            </a:extLst>
          </p:cNvPr>
          <p:cNvCxnSpPr>
            <a:cxnSpLocks/>
          </p:cNvCxnSpPr>
          <p:nvPr/>
        </p:nvCxnSpPr>
        <p:spPr>
          <a:xfrm>
            <a:off x="5054856" y="5718882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hteck 89">
            <a:extLst>
              <a:ext uri="{FF2B5EF4-FFF2-40B4-BE49-F238E27FC236}">
                <a16:creationId xmlns:a16="http://schemas.microsoft.com/office/drawing/2014/main" id="{8270CF42-9E73-AD4C-F7F0-4311FD4E01A0}"/>
              </a:ext>
            </a:extLst>
          </p:cNvPr>
          <p:cNvSpPr/>
          <p:nvPr/>
        </p:nvSpPr>
        <p:spPr>
          <a:xfrm>
            <a:off x="4799226" y="1381077"/>
            <a:ext cx="644829" cy="518907"/>
          </a:xfrm>
          <a:prstGeom prst="rect">
            <a:avLst/>
          </a:prstGeom>
          <a:noFill/>
          <a:ln w="76200">
            <a:solidFill>
              <a:srgbClr val="46AD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E583DA7E-5453-319A-E6E2-51BB43124C40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3454331" y="3962754"/>
            <a:ext cx="4438587" cy="9956"/>
          </a:xfrm>
          <a:prstGeom prst="straightConnector1">
            <a:avLst/>
          </a:prstGeom>
          <a:ln w="76200">
            <a:solidFill>
              <a:srgbClr val="46ADE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2189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5" grpId="0"/>
      <p:bldP spid="17" grpId="0"/>
      <p:bldP spid="18" grpId="0"/>
      <p:bldP spid="19" grpId="0"/>
      <p:bldP spid="20" grpId="0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E268D-08A1-8888-CB3E-10854BEB8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E2BA37-D50F-70A7-18BC-E450993BA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46" y="-31537"/>
            <a:ext cx="11783923" cy="1325563"/>
          </a:xfrm>
        </p:spPr>
        <p:txBody>
          <a:bodyPr>
            <a:normAutofit/>
          </a:bodyPr>
          <a:lstStyle/>
          <a:p>
            <a:r>
              <a:rPr lang="de-DE" sz="3400" b="1" dirty="0"/>
              <a:t>A </a:t>
            </a:r>
            <a:r>
              <a:rPr lang="de-DE" sz="3400" b="1" dirty="0" err="1"/>
              <a:t>Practical</a:t>
            </a:r>
            <a:r>
              <a:rPr lang="de-DE" sz="3400" b="1" dirty="0"/>
              <a:t> Wrapper Protocol </a:t>
            </a:r>
            <a:r>
              <a:rPr lang="de-DE" sz="3400" b="1" dirty="0" err="1"/>
              <a:t>for</a:t>
            </a:r>
            <a:r>
              <a:rPr lang="de-DE" sz="3400" b="1" dirty="0"/>
              <a:t> </a:t>
            </a:r>
            <a:r>
              <a:rPr lang="de-DE" sz="3400" b="1" dirty="0" err="1"/>
              <a:t>Metadata-Hiding</a:t>
            </a:r>
            <a:r>
              <a:rPr lang="de-DE" sz="3400" b="1" dirty="0"/>
              <a:t> in Messaging </a:t>
            </a:r>
            <a:endParaRPr lang="en-US" sz="3400" b="1" dirty="0"/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7B39A025-E639-FB74-CF4E-56E88E0FFF28}"/>
              </a:ext>
            </a:extLst>
          </p:cNvPr>
          <p:cNvCxnSpPr>
            <a:cxnSpLocks/>
          </p:cNvCxnSpPr>
          <p:nvPr/>
        </p:nvCxnSpPr>
        <p:spPr>
          <a:xfrm>
            <a:off x="4812632" y="3842757"/>
            <a:ext cx="3072584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AB68C954-F5B9-A835-C742-10600BAA1237}"/>
              </a:ext>
            </a:extLst>
          </p:cNvPr>
          <p:cNvSpPr/>
          <p:nvPr/>
        </p:nvSpPr>
        <p:spPr>
          <a:xfrm>
            <a:off x="113938" y="3130718"/>
            <a:ext cx="4600862" cy="358454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3CCBD08C-5797-C674-4B9B-11C7F4633C5B}"/>
              </a:ext>
            </a:extLst>
          </p:cNvPr>
          <p:cNvSpPr/>
          <p:nvPr/>
        </p:nvSpPr>
        <p:spPr>
          <a:xfrm>
            <a:off x="8014859" y="3128053"/>
            <a:ext cx="4084636" cy="35872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0A047F7A-8948-57E3-67B2-4775647B5F19}"/>
                  </a:ext>
                </a:extLst>
              </p:cNvPr>
              <p:cNvSpPr txBox="1"/>
              <p:nvPr/>
            </p:nvSpPr>
            <p:spPr>
              <a:xfrm>
                <a:off x="5662295" y="3333870"/>
                <a:ext cx="1534484" cy="473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0A047F7A-8948-57E3-67B2-4775647B5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295" y="3333870"/>
                <a:ext cx="1534484" cy="4735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E3351516-3BB8-6FB2-FFEA-9783C65B0ED5}"/>
                  </a:ext>
                </a:extLst>
              </p:cNvPr>
              <p:cNvSpPr txBox="1"/>
              <p:nvPr/>
            </p:nvSpPr>
            <p:spPr>
              <a:xfrm>
                <a:off x="417348" y="3130719"/>
                <a:ext cx="44358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E3351516-3BB8-6FB2-FFEA-9783C65B0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348" y="3130719"/>
                <a:ext cx="443583" cy="307777"/>
              </a:xfrm>
              <a:prstGeom prst="rect">
                <a:avLst/>
              </a:prstGeom>
              <a:blipFill>
                <a:blip r:embed="rId4"/>
                <a:stretch>
                  <a:fillRect l="-13699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C3ED4B99-883A-BEDB-E8D1-F6CE7A1733BB}"/>
                  </a:ext>
                </a:extLst>
              </p:cNvPr>
              <p:cNvSpPr txBox="1"/>
              <p:nvPr/>
            </p:nvSpPr>
            <p:spPr>
              <a:xfrm>
                <a:off x="389113" y="3788777"/>
                <a:ext cx="106516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C3ED4B99-883A-BEDB-E8D1-F6CE7A173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13" y="3788777"/>
                <a:ext cx="1065163" cy="307777"/>
              </a:xfrm>
              <a:prstGeom prst="rect">
                <a:avLst/>
              </a:prstGeom>
              <a:blipFill>
                <a:blip r:embed="rId5"/>
                <a:stretch>
                  <a:fillRect l="-6286" r="-3429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33312ED9-E73F-03E5-03A8-8518CD2231FC}"/>
              </a:ext>
            </a:extLst>
          </p:cNvPr>
          <p:cNvCxnSpPr/>
          <p:nvPr/>
        </p:nvCxnSpPr>
        <p:spPr>
          <a:xfrm>
            <a:off x="512599" y="3412772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72EC9DDB-AEF2-C210-50EF-2378A031D625}"/>
              </a:ext>
            </a:extLst>
          </p:cNvPr>
          <p:cNvCxnSpPr>
            <a:cxnSpLocks/>
          </p:cNvCxnSpPr>
          <p:nvPr/>
        </p:nvCxnSpPr>
        <p:spPr>
          <a:xfrm>
            <a:off x="512599" y="3412772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6DD1D3A5-6659-7934-023D-C6F64F6A45E4}"/>
                  </a:ext>
                </a:extLst>
              </p:cNvPr>
              <p:cNvSpPr txBox="1"/>
              <p:nvPr/>
            </p:nvSpPr>
            <p:spPr>
              <a:xfrm>
                <a:off x="383149" y="4446835"/>
                <a:ext cx="114236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6DD1D3A5-6659-7934-023D-C6F64F6A4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49" y="4446835"/>
                <a:ext cx="1142364" cy="307777"/>
              </a:xfrm>
              <a:prstGeom prst="rect">
                <a:avLst/>
              </a:prstGeom>
              <a:blipFill>
                <a:blip r:embed="rId6"/>
                <a:stretch>
                  <a:fillRect l="-5882" b="-13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feld 17">
            <a:extLst>
              <a:ext uri="{FF2B5EF4-FFF2-40B4-BE49-F238E27FC236}">
                <a16:creationId xmlns:a16="http://schemas.microsoft.com/office/drawing/2014/main" id="{445DF465-6C7B-B17A-052E-31E77D17B8E2}"/>
              </a:ext>
            </a:extLst>
          </p:cNvPr>
          <p:cNvSpPr txBox="1"/>
          <p:nvPr/>
        </p:nvSpPr>
        <p:spPr>
          <a:xfrm>
            <a:off x="499346" y="5114529"/>
            <a:ext cx="8353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…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0073D1EB-4AEE-4A10-E356-5A4999D9A2C5}"/>
              </a:ext>
            </a:extLst>
          </p:cNvPr>
          <p:cNvCxnSpPr/>
          <p:nvPr/>
        </p:nvCxnSpPr>
        <p:spPr>
          <a:xfrm>
            <a:off x="512599" y="4081765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3F26FBF2-F4A3-041E-901B-1318C97331B6}"/>
              </a:ext>
            </a:extLst>
          </p:cNvPr>
          <p:cNvCxnSpPr>
            <a:cxnSpLocks/>
          </p:cNvCxnSpPr>
          <p:nvPr/>
        </p:nvCxnSpPr>
        <p:spPr>
          <a:xfrm>
            <a:off x="512599" y="4081765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EBE8C4E8-7B0D-E461-5051-093EF168F2CF}"/>
                  </a:ext>
                </a:extLst>
              </p:cNvPr>
              <p:cNvSpPr txBox="1"/>
              <p:nvPr/>
            </p:nvSpPr>
            <p:spPr>
              <a:xfrm>
                <a:off x="383149" y="5092624"/>
                <a:ext cx="114236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EBE8C4E8-7B0D-E461-5051-093EF168F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49" y="5092624"/>
                <a:ext cx="1142364" cy="307777"/>
              </a:xfrm>
              <a:prstGeom prst="rect">
                <a:avLst/>
              </a:prstGeom>
              <a:blipFill>
                <a:blip r:embed="rId7"/>
                <a:stretch>
                  <a:fillRect l="-5882" b="-13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375B1FCE-26F9-B3DC-9C8D-221BE7C1FB20}"/>
              </a:ext>
            </a:extLst>
          </p:cNvPr>
          <p:cNvCxnSpPr/>
          <p:nvPr/>
        </p:nvCxnSpPr>
        <p:spPr>
          <a:xfrm>
            <a:off x="512599" y="4727554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B44D7662-B60B-89E2-78CA-887188177112}"/>
              </a:ext>
            </a:extLst>
          </p:cNvPr>
          <p:cNvCxnSpPr>
            <a:cxnSpLocks/>
          </p:cNvCxnSpPr>
          <p:nvPr/>
        </p:nvCxnSpPr>
        <p:spPr>
          <a:xfrm>
            <a:off x="512599" y="4727554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5B0E32DF-B3A0-F29C-F899-BCC365F31A2C}"/>
              </a:ext>
            </a:extLst>
          </p:cNvPr>
          <p:cNvCxnSpPr>
            <a:cxnSpLocks/>
          </p:cNvCxnSpPr>
          <p:nvPr/>
        </p:nvCxnSpPr>
        <p:spPr>
          <a:xfrm>
            <a:off x="509113" y="3410085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78C03E6E-E95C-0321-F79E-EC06BB56E5C4}"/>
              </a:ext>
            </a:extLst>
          </p:cNvPr>
          <p:cNvCxnSpPr>
            <a:cxnSpLocks/>
          </p:cNvCxnSpPr>
          <p:nvPr/>
        </p:nvCxnSpPr>
        <p:spPr>
          <a:xfrm>
            <a:off x="509113" y="4076663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23267B07-26D3-6AFC-6AAD-6CB4A92AFFCE}"/>
              </a:ext>
            </a:extLst>
          </p:cNvPr>
          <p:cNvCxnSpPr>
            <a:cxnSpLocks/>
          </p:cNvCxnSpPr>
          <p:nvPr/>
        </p:nvCxnSpPr>
        <p:spPr>
          <a:xfrm>
            <a:off x="509113" y="4712999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89DC0464-0D81-8EF9-CC98-7C1761738590}"/>
                  </a:ext>
                </a:extLst>
              </p:cNvPr>
              <p:cNvSpPr txBox="1"/>
              <p:nvPr/>
            </p:nvSpPr>
            <p:spPr>
              <a:xfrm>
                <a:off x="11007577" y="3130719"/>
                <a:ext cx="44358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89DC0464-0D81-8EF9-CC98-7C1761738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7577" y="3130719"/>
                <a:ext cx="443583" cy="307777"/>
              </a:xfrm>
              <a:prstGeom prst="rect">
                <a:avLst/>
              </a:prstGeom>
              <a:blipFill>
                <a:blip r:embed="rId8"/>
                <a:stretch>
                  <a:fillRect l="-15278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58BA430D-0226-389D-F758-5670997CB75F}"/>
                  </a:ext>
                </a:extLst>
              </p:cNvPr>
              <p:cNvSpPr txBox="1"/>
              <p:nvPr/>
            </p:nvSpPr>
            <p:spPr>
              <a:xfrm>
                <a:off x="10979342" y="3788777"/>
                <a:ext cx="106516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58BA430D-0226-389D-F758-5670997CB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9342" y="3788777"/>
                <a:ext cx="1065163" cy="307777"/>
              </a:xfrm>
              <a:prstGeom prst="rect">
                <a:avLst/>
              </a:prstGeom>
              <a:blipFill>
                <a:blip r:embed="rId9"/>
                <a:stretch>
                  <a:fillRect l="-5714" r="-3429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F31AF481-7EDC-69D9-05A8-4D6D7FF0E994}"/>
              </a:ext>
            </a:extLst>
          </p:cNvPr>
          <p:cNvCxnSpPr/>
          <p:nvPr/>
        </p:nvCxnSpPr>
        <p:spPr>
          <a:xfrm>
            <a:off x="11102828" y="3412772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374129B9-F1D1-8303-988B-E8682C8847C7}"/>
              </a:ext>
            </a:extLst>
          </p:cNvPr>
          <p:cNvCxnSpPr>
            <a:cxnSpLocks/>
          </p:cNvCxnSpPr>
          <p:nvPr/>
        </p:nvCxnSpPr>
        <p:spPr>
          <a:xfrm>
            <a:off x="11102828" y="3412772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7CDCA343-C5C4-44B0-D1E8-E5FDAB2D2C2B}"/>
                  </a:ext>
                </a:extLst>
              </p:cNvPr>
              <p:cNvSpPr txBox="1"/>
              <p:nvPr/>
            </p:nvSpPr>
            <p:spPr>
              <a:xfrm>
                <a:off x="10973378" y="4446835"/>
                <a:ext cx="114236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7CDCA343-C5C4-44B0-D1E8-E5FDAB2D2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3378" y="4446835"/>
                <a:ext cx="1142364" cy="307777"/>
              </a:xfrm>
              <a:prstGeom prst="rect">
                <a:avLst/>
              </a:prstGeom>
              <a:blipFill>
                <a:blip r:embed="rId10"/>
                <a:stretch>
                  <a:fillRect l="-5348" b="-13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feld 32">
            <a:extLst>
              <a:ext uri="{FF2B5EF4-FFF2-40B4-BE49-F238E27FC236}">
                <a16:creationId xmlns:a16="http://schemas.microsoft.com/office/drawing/2014/main" id="{AC194358-04D7-E716-E69E-A5E3AE51D9A2}"/>
              </a:ext>
            </a:extLst>
          </p:cNvPr>
          <p:cNvSpPr txBox="1"/>
          <p:nvPr/>
        </p:nvSpPr>
        <p:spPr>
          <a:xfrm>
            <a:off x="11089575" y="5114529"/>
            <a:ext cx="8353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…</a:t>
            </a: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9CEF535D-19E2-DF49-C02F-2934CB9C2C53}"/>
              </a:ext>
            </a:extLst>
          </p:cNvPr>
          <p:cNvCxnSpPr/>
          <p:nvPr/>
        </p:nvCxnSpPr>
        <p:spPr>
          <a:xfrm>
            <a:off x="11102828" y="4081765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F4BAC706-9CEF-E9EF-9DD0-C87585FB54F5}"/>
              </a:ext>
            </a:extLst>
          </p:cNvPr>
          <p:cNvCxnSpPr>
            <a:cxnSpLocks/>
          </p:cNvCxnSpPr>
          <p:nvPr/>
        </p:nvCxnSpPr>
        <p:spPr>
          <a:xfrm>
            <a:off x="11102828" y="4081765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293FBC78-B0BE-184B-3DEB-88B0530A129B}"/>
                  </a:ext>
                </a:extLst>
              </p:cNvPr>
              <p:cNvSpPr txBox="1"/>
              <p:nvPr/>
            </p:nvSpPr>
            <p:spPr>
              <a:xfrm>
                <a:off x="10973378" y="5092624"/>
                <a:ext cx="114236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293FBC78-B0BE-184B-3DEB-88B0530A1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3378" y="5092624"/>
                <a:ext cx="1142364" cy="307777"/>
              </a:xfrm>
              <a:prstGeom prst="rect">
                <a:avLst/>
              </a:prstGeom>
              <a:blipFill>
                <a:blip r:embed="rId11"/>
                <a:stretch>
                  <a:fillRect l="-5348" b="-13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DF3B9B6A-CFC9-E8D1-23FC-2799EDAFE605}"/>
              </a:ext>
            </a:extLst>
          </p:cNvPr>
          <p:cNvCxnSpPr/>
          <p:nvPr/>
        </p:nvCxnSpPr>
        <p:spPr>
          <a:xfrm>
            <a:off x="11102828" y="4727554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B1AD68AE-F627-73A5-1FD6-6FADB6BB4A93}"/>
              </a:ext>
            </a:extLst>
          </p:cNvPr>
          <p:cNvCxnSpPr>
            <a:cxnSpLocks/>
          </p:cNvCxnSpPr>
          <p:nvPr/>
        </p:nvCxnSpPr>
        <p:spPr>
          <a:xfrm>
            <a:off x="11102828" y="4727554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24F2043A-9CAF-D08B-825B-A68C523CBFB9}"/>
              </a:ext>
            </a:extLst>
          </p:cNvPr>
          <p:cNvCxnSpPr>
            <a:cxnSpLocks/>
          </p:cNvCxnSpPr>
          <p:nvPr/>
        </p:nvCxnSpPr>
        <p:spPr>
          <a:xfrm>
            <a:off x="11099342" y="3410085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07587D66-AB91-F049-46E1-CA3F1D0C60A4}"/>
              </a:ext>
            </a:extLst>
          </p:cNvPr>
          <p:cNvCxnSpPr>
            <a:cxnSpLocks/>
          </p:cNvCxnSpPr>
          <p:nvPr/>
        </p:nvCxnSpPr>
        <p:spPr>
          <a:xfrm>
            <a:off x="11099342" y="4076663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D1E3FFFC-CD52-152F-1D96-91C269FE0641}"/>
              </a:ext>
            </a:extLst>
          </p:cNvPr>
          <p:cNvCxnSpPr>
            <a:cxnSpLocks/>
          </p:cNvCxnSpPr>
          <p:nvPr/>
        </p:nvCxnSpPr>
        <p:spPr>
          <a:xfrm>
            <a:off x="11099342" y="4712999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FBA3CB4A-3DBB-2C34-7E84-293EB8FA7213}"/>
                  </a:ext>
                </a:extLst>
              </p:cNvPr>
              <p:cNvSpPr txBox="1"/>
              <p:nvPr/>
            </p:nvSpPr>
            <p:spPr>
              <a:xfrm>
                <a:off x="417348" y="5740390"/>
                <a:ext cx="443583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FBA3CB4A-3DBB-2C34-7E84-293EB8FA7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348" y="5740390"/>
                <a:ext cx="443583" cy="307777"/>
              </a:xfrm>
              <a:prstGeom prst="rect">
                <a:avLst/>
              </a:prstGeom>
              <a:blipFill>
                <a:blip r:embed="rId12"/>
                <a:stretch>
                  <a:fillRect l="-13699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EFEFDB91-C5AB-E5B3-2FC5-88430DFCC9EF}"/>
              </a:ext>
            </a:extLst>
          </p:cNvPr>
          <p:cNvCxnSpPr>
            <a:cxnSpLocks/>
          </p:cNvCxnSpPr>
          <p:nvPr/>
        </p:nvCxnSpPr>
        <p:spPr>
          <a:xfrm>
            <a:off x="512599" y="6022443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143420FE-89B1-1842-4EF3-11A28585A36E}"/>
              </a:ext>
            </a:extLst>
          </p:cNvPr>
          <p:cNvCxnSpPr>
            <a:cxnSpLocks/>
          </p:cNvCxnSpPr>
          <p:nvPr/>
        </p:nvCxnSpPr>
        <p:spPr>
          <a:xfrm>
            <a:off x="512599" y="6022443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4A11A9BB-BAD1-D4FD-0B73-7A59180BD78F}"/>
              </a:ext>
            </a:extLst>
          </p:cNvPr>
          <p:cNvCxnSpPr>
            <a:cxnSpLocks/>
          </p:cNvCxnSpPr>
          <p:nvPr/>
        </p:nvCxnSpPr>
        <p:spPr>
          <a:xfrm>
            <a:off x="509113" y="6019756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feld 45">
            <a:extLst>
              <a:ext uri="{FF2B5EF4-FFF2-40B4-BE49-F238E27FC236}">
                <a16:creationId xmlns:a16="http://schemas.microsoft.com/office/drawing/2014/main" id="{323F1729-5BCB-9ADB-E167-CBFC867576CC}"/>
              </a:ext>
            </a:extLst>
          </p:cNvPr>
          <p:cNvSpPr txBox="1"/>
          <p:nvPr/>
        </p:nvSpPr>
        <p:spPr>
          <a:xfrm>
            <a:off x="499346" y="6099315"/>
            <a:ext cx="8353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…</a:t>
            </a:r>
          </a:p>
        </p:txBody>
      </p:sp>
      <p:pic>
        <p:nvPicPr>
          <p:cNvPr id="47" name="Grafik 46" descr="Ein Bild, das Kreativität enthält.&#10;&#10;Automatisch generierte Beschreibung">
            <a:extLst>
              <a:ext uri="{FF2B5EF4-FFF2-40B4-BE49-F238E27FC236}">
                <a16:creationId xmlns:a16="http://schemas.microsoft.com/office/drawing/2014/main" id="{947B1D44-7459-9898-FC9B-585E6E8D5F0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77" y="5667261"/>
            <a:ext cx="447239" cy="4472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60534106-4C05-E17B-DEEE-2FE74D113BD6}"/>
                  </a:ext>
                </a:extLst>
              </p:cNvPr>
              <p:cNvSpPr txBox="1"/>
              <p:nvPr/>
            </p:nvSpPr>
            <p:spPr>
              <a:xfrm>
                <a:off x="11005068" y="5740390"/>
                <a:ext cx="443583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60534106-4C05-E17B-DEEE-2FE74D113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5068" y="5740390"/>
                <a:ext cx="443583" cy="307777"/>
              </a:xfrm>
              <a:prstGeom prst="rect">
                <a:avLst/>
              </a:prstGeom>
              <a:blipFill>
                <a:blip r:embed="rId14"/>
                <a:stretch>
                  <a:fillRect l="-13699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888C02E5-D48A-8FC0-9134-D688BA34B188}"/>
              </a:ext>
            </a:extLst>
          </p:cNvPr>
          <p:cNvCxnSpPr>
            <a:cxnSpLocks/>
          </p:cNvCxnSpPr>
          <p:nvPr/>
        </p:nvCxnSpPr>
        <p:spPr>
          <a:xfrm>
            <a:off x="11100319" y="6022443"/>
            <a:ext cx="0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CFA46DC5-26E3-21BC-A615-92E8CF381888}"/>
              </a:ext>
            </a:extLst>
          </p:cNvPr>
          <p:cNvCxnSpPr>
            <a:cxnSpLocks/>
          </p:cNvCxnSpPr>
          <p:nvPr/>
        </p:nvCxnSpPr>
        <p:spPr>
          <a:xfrm>
            <a:off x="11100319" y="6022443"/>
            <a:ext cx="385894" cy="36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079AB1CB-06E0-729E-AD11-D1EF76B7CA9D}"/>
              </a:ext>
            </a:extLst>
          </p:cNvPr>
          <p:cNvCxnSpPr>
            <a:cxnSpLocks/>
          </p:cNvCxnSpPr>
          <p:nvPr/>
        </p:nvCxnSpPr>
        <p:spPr>
          <a:xfrm>
            <a:off x="11096833" y="6019756"/>
            <a:ext cx="757515" cy="348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feld 51">
            <a:extLst>
              <a:ext uri="{FF2B5EF4-FFF2-40B4-BE49-F238E27FC236}">
                <a16:creationId xmlns:a16="http://schemas.microsoft.com/office/drawing/2014/main" id="{896D46EB-ED55-3528-6498-F1A5925CF01A}"/>
              </a:ext>
            </a:extLst>
          </p:cNvPr>
          <p:cNvSpPr txBox="1"/>
          <p:nvPr/>
        </p:nvSpPr>
        <p:spPr>
          <a:xfrm>
            <a:off x="11087066" y="6099315"/>
            <a:ext cx="8353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…</a:t>
            </a:r>
          </a:p>
        </p:txBody>
      </p:sp>
      <p:pic>
        <p:nvPicPr>
          <p:cNvPr id="53" name="Grafik 52" descr="Ein Bild, das Kreativität enthält.&#10;&#10;Automatisch generierte Beschreibung">
            <a:extLst>
              <a:ext uri="{FF2B5EF4-FFF2-40B4-BE49-F238E27FC236}">
                <a16:creationId xmlns:a16="http://schemas.microsoft.com/office/drawing/2014/main" id="{9C7AEBB8-ED32-66C4-FEDE-9140752AB7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9197" y="5667261"/>
            <a:ext cx="447239" cy="4472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2CCEB900-3C69-D657-80F7-79E4648266E4}"/>
                  </a:ext>
                </a:extLst>
              </p:cNvPr>
              <p:cNvSpPr txBox="1"/>
              <p:nvPr/>
            </p:nvSpPr>
            <p:spPr>
              <a:xfrm>
                <a:off x="8013936" y="5995179"/>
                <a:ext cx="3093587" cy="4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         </m:t>
                      </m:r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2CCEB900-3C69-D657-80F7-79E464826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3936" y="5995179"/>
                <a:ext cx="3093587" cy="493405"/>
              </a:xfrm>
              <a:prstGeom prst="rect">
                <a:avLst/>
              </a:prstGeom>
              <a:blipFill>
                <a:blip r:embed="rId15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F353BC0B-D662-23AB-D0F1-BC504564E2D7}"/>
                  </a:ext>
                </a:extLst>
              </p:cNvPr>
              <p:cNvSpPr txBox="1"/>
              <p:nvPr/>
            </p:nvSpPr>
            <p:spPr>
              <a:xfrm>
                <a:off x="1614206" y="4620765"/>
                <a:ext cx="3000309" cy="4010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         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F353BC0B-D662-23AB-D0F1-BC504564E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206" y="4620765"/>
                <a:ext cx="3000309" cy="401072"/>
              </a:xfrm>
              <a:prstGeom prst="rect">
                <a:avLst/>
              </a:prstGeom>
              <a:blipFill>
                <a:blip r:embed="rId16"/>
                <a:stretch>
                  <a:fillRect l="-1220" r="-3455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feld 56">
            <a:extLst>
              <a:ext uri="{FF2B5EF4-FFF2-40B4-BE49-F238E27FC236}">
                <a16:creationId xmlns:a16="http://schemas.microsoft.com/office/drawing/2014/main" id="{2CF8F684-AE7E-26B8-6D73-A43B72C0D8CE}"/>
              </a:ext>
            </a:extLst>
          </p:cNvPr>
          <p:cNvSpPr txBox="1"/>
          <p:nvPr/>
        </p:nvSpPr>
        <p:spPr>
          <a:xfrm>
            <a:off x="3844559" y="4575080"/>
            <a:ext cx="592841" cy="5232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metadata</a:t>
            </a:r>
          </a:p>
        </p:txBody>
      </p:sp>
      <p:sp>
        <p:nvSpPr>
          <p:cNvPr id="62" name="Foliennummernplatzhalter 3">
            <a:extLst>
              <a:ext uri="{FF2B5EF4-FFF2-40B4-BE49-F238E27FC236}">
                <a16:creationId xmlns:a16="http://schemas.microsoft.com/office/drawing/2014/main" id="{4F4F1B86-E193-EE7A-CFD1-78C09CB78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0096" y="6492875"/>
            <a:ext cx="2743200" cy="365125"/>
          </a:xfrm>
        </p:spPr>
        <p:txBody>
          <a:bodyPr/>
          <a:lstStyle/>
          <a:p>
            <a:fld id="{62FC21BE-5AB5-4051-B4BD-CDC64C855B3D}" type="slidenum">
              <a:rPr lang="en-US" noProof="0" smtClean="0"/>
              <a:t>17</a:t>
            </a:fld>
            <a:endParaRPr lang="en-US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1B952E-01A6-F1C5-7855-52DADC0978D6}"/>
              </a:ext>
            </a:extLst>
          </p:cNvPr>
          <p:cNvSpPr txBox="1">
            <a:spLocks/>
          </p:cNvSpPr>
          <p:nvPr/>
        </p:nvSpPr>
        <p:spPr>
          <a:xfrm>
            <a:off x="304802" y="1461187"/>
            <a:ext cx="7710056" cy="1928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ym typeface="Wingdings" panose="05000000000000000000" pitchFamily="2" charset="2"/>
              </a:rPr>
              <a:t>Constant communication overhead</a:t>
            </a:r>
            <a:endParaRPr lang="en-US" dirty="0"/>
          </a:p>
          <a:p>
            <a:r>
              <a:rPr lang="en-US" dirty="0"/>
              <a:t>Strong guarantees on temp. state exposure</a:t>
            </a:r>
          </a:p>
          <a:p>
            <a:r>
              <a:rPr lang="en-US" dirty="0"/>
              <a:t>Signal considers deploying this protocol</a:t>
            </a:r>
          </a:p>
          <a:p>
            <a:endParaRPr lang="en-US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D1874D9-B360-F6B5-E4FE-A7DF80EDE549}"/>
              </a:ext>
            </a:extLst>
          </p:cNvPr>
          <p:cNvSpPr/>
          <p:nvPr/>
        </p:nvSpPr>
        <p:spPr>
          <a:xfrm>
            <a:off x="8591458" y="3694739"/>
            <a:ext cx="1599632" cy="1199073"/>
          </a:xfrm>
          <a:prstGeom prst="rect">
            <a:avLst/>
          </a:prstGeom>
          <a:noFill/>
          <a:ln w="76200">
            <a:solidFill>
              <a:srgbClr val="46AD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Counting Bloom Filter</a:t>
            </a:r>
          </a:p>
        </p:txBody>
      </p:sp>
      <p:pic>
        <p:nvPicPr>
          <p:cNvPr id="61" name="Grafik 60" descr="Ein Bild, das Muster, Pixel, Design enthält.&#10;&#10;KI-generierte Inhalte können fehlerhaft sein.">
            <a:extLst>
              <a:ext uri="{FF2B5EF4-FFF2-40B4-BE49-F238E27FC236}">
                <a16:creationId xmlns:a16="http://schemas.microsoft.com/office/drawing/2014/main" id="{8A55E5DB-BB5F-6783-C549-0F766DE951F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301" y="3904065"/>
            <a:ext cx="2138889" cy="2138889"/>
          </a:xfrm>
          <a:prstGeom prst="rect">
            <a:avLst/>
          </a:prstGeom>
        </p:spPr>
      </p:pic>
      <p:sp>
        <p:nvSpPr>
          <p:cNvPr id="64" name="Textfeld 63">
            <a:extLst>
              <a:ext uri="{FF2B5EF4-FFF2-40B4-BE49-F238E27FC236}">
                <a16:creationId xmlns:a16="http://schemas.microsoft.com/office/drawing/2014/main" id="{EADADB3D-A2F7-7294-7345-BCF316EA5637}"/>
              </a:ext>
            </a:extLst>
          </p:cNvPr>
          <p:cNvSpPr txBox="1"/>
          <p:nvPr/>
        </p:nvSpPr>
        <p:spPr>
          <a:xfrm>
            <a:off x="4201526" y="5873811"/>
            <a:ext cx="4260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eprint.iacr.org/2025/1619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25ED182-817E-489E-C261-F0D8FC749E10}"/>
              </a:ext>
            </a:extLst>
          </p:cNvPr>
          <p:cNvSpPr txBox="1">
            <a:spLocks/>
          </p:cNvSpPr>
          <p:nvPr/>
        </p:nvSpPr>
        <p:spPr>
          <a:xfrm>
            <a:off x="138446" y="916326"/>
            <a:ext cx="10342883" cy="1242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sym typeface="Wingdings" panose="05000000000000000000" pitchFamily="2" charset="2"/>
              </a:rPr>
              <a:t>Lea Thiemt, Paul Rösler, Alexander Bienstock, Rolfe Schmidt, Yevgeniy </a:t>
            </a:r>
            <a:r>
              <a:rPr lang="en-US" sz="2400" i="1" dirty="0" err="1">
                <a:sym typeface="Wingdings" panose="05000000000000000000" pitchFamily="2" charset="2"/>
              </a:rPr>
              <a:t>Dodis</a:t>
            </a:r>
            <a:endParaRPr lang="en-US" sz="2400" i="1" dirty="0"/>
          </a:p>
        </p:txBody>
      </p: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BF0CB4B1-B5DC-CBC6-DB4F-01B2235E55DA}"/>
              </a:ext>
            </a:extLst>
          </p:cNvPr>
          <p:cNvCxnSpPr>
            <a:cxnSpLocks/>
          </p:cNvCxnSpPr>
          <p:nvPr/>
        </p:nvCxnSpPr>
        <p:spPr>
          <a:xfrm>
            <a:off x="9147720" y="3428799"/>
            <a:ext cx="0" cy="232495"/>
          </a:xfrm>
          <a:prstGeom prst="straightConnector1">
            <a:avLst/>
          </a:prstGeom>
          <a:ln w="3556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3A6C1B2A-8946-EA09-9F88-919CF0EA2924}"/>
              </a:ext>
            </a:extLst>
          </p:cNvPr>
          <p:cNvSpPr txBox="1"/>
          <p:nvPr/>
        </p:nvSpPr>
        <p:spPr>
          <a:xfrm>
            <a:off x="9174961" y="3318538"/>
            <a:ext cx="2287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receivable?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4CC37434-7BF1-D3AC-D7CD-634D6B8E7A1D}"/>
                  </a:ext>
                </a:extLst>
              </p:cNvPr>
              <p:cNvSpPr txBox="1"/>
              <p:nvPr/>
            </p:nvSpPr>
            <p:spPr>
              <a:xfrm>
                <a:off x="8565062" y="3054838"/>
                <a:ext cx="116599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4CC37434-7BF1-D3AC-D7CD-634D6B8E7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5062" y="3054838"/>
                <a:ext cx="1165997" cy="46166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1C2F012C-237F-1E37-56C5-03A31744344C}"/>
              </a:ext>
            </a:extLst>
          </p:cNvPr>
          <p:cNvCxnSpPr>
            <a:cxnSpLocks/>
          </p:cNvCxnSpPr>
          <p:nvPr/>
        </p:nvCxnSpPr>
        <p:spPr>
          <a:xfrm>
            <a:off x="8674599" y="4945201"/>
            <a:ext cx="0" cy="232495"/>
          </a:xfrm>
          <a:prstGeom prst="straightConnector1">
            <a:avLst/>
          </a:prstGeom>
          <a:ln w="3556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feld 69">
            <a:extLst>
              <a:ext uri="{FF2B5EF4-FFF2-40B4-BE49-F238E27FC236}">
                <a16:creationId xmlns:a16="http://schemas.microsoft.com/office/drawing/2014/main" id="{338AB709-9552-24ED-D476-BC6863D47EC5}"/>
              </a:ext>
            </a:extLst>
          </p:cNvPr>
          <p:cNvSpPr txBox="1"/>
          <p:nvPr/>
        </p:nvSpPr>
        <p:spPr>
          <a:xfrm>
            <a:off x="8674598" y="4848127"/>
            <a:ext cx="683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no</a:t>
            </a:r>
          </a:p>
        </p:txBody>
      </p: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E1522904-D213-8359-4B71-1810EAE97EAD}"/>
              </a:ext>
            </a:extLst>
          </p:cNvPr>
          <p:cNvCxnSpPr>
            <a:cxnSpLocks/>
          </p:cNvCxnSpPr>
          <p:nvPr/>
        </p:nvCxnSpPr>
        <p:spPr>
          <a:xfrm>
            <a:off x="9691938" y="4945201"/>
            <a:ext cx="0" cy="232495"/>
          </a:xfrm>
          <a:prstGeom prst="straightConnector1">
            <a:avLst/>
          </a:prstGeom>
          <a:ln w="3556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feld 71">
            <a:extLst>
              <a:ext uri="{FF2B5EF4-FFF2-40B4-BE49-F238E27FC236}">
                <a16:creationId xmlns:a16="http://schemas.microsoft.com/office/drawing/2014/main" id="{82F570A3-8E7A-5D9C-DC09-2F2B3B8FE879}"/>
              </a:ext>
            </a:extLst>
          </p:cNvPr>
          <p:cNvSpPr txBox="1"/>
          <p:nvPr/>
        </p:nvSpPr>
        <p:spPr>
          <a:xfrm>
            <a:off x="9691937" y="4848127"/>
            <a:ext cx="683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yes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9A18FB68-300E-77BB-0972-ADF03CD6A21B}"/>
                  </a:ext>
                </a:extLst>
              </p:cNvPr>
              <p:cNvSpPr txBox="1"/>
              <p:nvPr/>
            </p:nvSpPr>
            <p:spPr>
              <a:xfrm>
                <a:off x="8984222" y="5165925"/>
                <a:ext cx="164221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derive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2000" dirty="0"/>
              </a:p>
              <a:p>
                <a:pPr algn="ctr"/>
                <a:r>
                  <a:rPr lang="en-US" sz="2000" dirty="0"/>
                  <a:t>from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𝑐𝑘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9A18FB68-300E-77BB-0972-ADF03CD6A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4222" y="5165925"/>
                <a:ext cx="1642214" cy="707886"/>
              </a:xfrm>
              <a:prstGeom prst="rect">
                <a:avLst/>
              </a:prstGeom>
              <a:blipFill>
                <a:blip r:embed="rId19"/>
                <a:stretch>
                  <a:fillRect t="-3419" b="-145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extfeld 73">
            <a:extLst>
              <a:ext uri="{FF2B5EF4-FFF2-40B4-BE49-F238E27FC236}">
                <a16:creationId xmlns:a16="http://schemas.microsoft.com/office/drawing/2014/main" id="{290318AC-E8FE-7644-B1C0-553A7B49DEB6}"/>
              </a:ext>
            </a:extLst>
          </p:cNvPr>
          <p:cNvSpPr txBox="1"/>
          <p:nvPr/>
        </p:nvSpPr>
        <p:spPr>
          <a:xfrm>
            <a:off x="8113917" y="5133523"/>
            <a:ext cx="1214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discard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F01B6EDD-79F8-53D0-9DBB-E113F08860E9}"/>
              </a:ext>
            </a:extLst>
          </p:cNvPr>
          <p:cNvSpPr txBox="1"/>
          <p:nvPr/>
        </p:nvSpPr>
        <p:spPr>
          <a:xfrm>
            <a:off x="8602146" y="6003403"/>
            <a:ext cx="592841" cy="5232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metadata</a:t>
            </a: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C3B327F4-1CAB-6E27-DB4B-965CB022FDB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196626" y="3316365"/>
            <a:ext cx="304800" cy="304800"/>
          </a:xfrm>
          <a:prstGeom prst="rect">
            <a:avLst/>
          </a:prstGeom>
        </p:spPr>
      </p:pic>
      <p:pic>
        <p:nvPicPr>
          <p:cNvPr id="55" name="Grafik 54">
            <a:extLst>
              <a:ext uri="{FF2B5EF4-FFF2-40B4-BE49-F238E27FC236}">
                <a16:creationId xmlns:a16="http://schemas.microsoft.com/office/drawing/2014/main" id="{5447FE3C-3966-38F4-C236-83F475E930B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7754" y="3034673"/>
            <a:ext cx="304800" cy="304800"/>
          </a:xfrm>
          <a:prstGeom prst="rect">
            <a:avLst/>
          </a:prstGeom>
        </p:spPr>
      </p:pic>
      <p:pic>
        <p:nvPicPr>
          <p:cNvPr id="58" name="Grafik 57">
            <a:extLst>
              <a:ext uri="{FF2B5EF4-FFF2-40B4-BE49-F238E27FC236}">
                <a16:creationId xmlns:a16="http://schemas.microsoft.com/office/drawing/2014/main" id="{E82A6D6D-731F-47B8-F127-C4F999AB617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779908" y="4531890"/>
            <a:ext cx="304800" cy="304800"/>
          </a:xfrm>
          <a:prstGeom prst="rect">
            <a:avLst/>
          </a:prstGeom>
        </p:spPr>
      </p:pic>
      <p:pic>
        <p:nvPicPr>
          <p:cNvPr id="60" name="Grafik 59">
            <a:extLst>
              <a:ext uri="{FF2B5EF4-FFF2-40B4-BE49-F238E27FC236}">
                <a16:creationId xmlns:a16="http://schemas.microsoft.com/office/drawing/2014/main" id="{93691C2F-216E-8435-2788-F5E04038F85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247754" y="3026455"/>
            <a:ext cx="304800" cy="304800"/>
          </a:xfrm>
          <a:prstGeom prst="rect">
            <a:avLst/>
          </a:prstGeom>
        </p:spPr>
      </p:pic>
      <p:pic>
        <p:nvPicPr>
          <p:cNvPr id="67" name="Grafik 66">
            <a:extLst>
              <a:ext uri="{FF2B5EF4-FFF2-40B4-BE49-F238E27FC236}">
                <a16:creationId xmlns:a16="http://schemas.microsoft.com/office/drawing/2014/main" id="{70381D0F-D38F-2CD7-C167-923B932A04F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713238" y="5972460"/>
            <a:ext cx="304800" cy="304800"/>
          </a:xfrm>
          <a:prstGeom prst="rect">
            <a:avLst/>
          </a:prstGeom>
        </p:spPr>
      </p:pic>
      <p:sp>
        <p:nvSpPr>
          <p:cNvPr id="8" name="Stern: 6 Zacken 7">
            <a:extLst>
              <a:ext uri="{FF2B5EF4-FFF2-40B4-BE49-F238E27FC236}">
                <a16:creationId xmlns:a16="http://schemas.microsoft.com/office/drawing/2014/main" id="{BD1B9C39-7B9F-E354-C892-DC247287B8E8}"/>
              </a:ext>
            </a:extLst>
          </p:cNvPr>
          <p:cNvSpPr/>
          <p:nvPr/>
        </p:nvSpPr>
        <p:spPr>
          <a:xfrm rot="520191">
            <a:off x="8746116" y="1142587"/>
            <a:ext cx="3369626" cy="2060219"/>
          </a:xfrm>
          <a:prstGeom prst="star6">
            <a:avLst>
              <a:gd name="adj" fmla="val 36166"/>
              <a:gd name="hf" fmla="val 115470"/>
            </a:avLst>
          </a:prstGeom>
          <a:gradFill flip="none" rotWithShape="1">
            <a:gsLst>
              <a:gs pos="0">
                <a:srgbClr val="FFC000">
                  <a:lumMod val="8000"/>
                  <a:lumOff val="92000"/>
                </a:srgbClr>
              </a:gs>
              <a:gs pos="74000">
                <a:srgbClr val="FFC000"/>
              </a:gs>
              <a:gs pos="83000">
                <a:srgbClr val="FFC000"/>
              </a:gs>
              <a:gs pos="100000">
                <a:srgbClr val="FFC000"/>
              </a:gs>
            </a:gsLst>
            <a:lin ang="5400000" scaled="1"/>
            <a:tileRect/>
          </a:gradFill>
          <a:ln w="28575">
            <a:solidFill>
              <a:srgbClr val="F689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Our group is looking for a Postdoc! </a:t>
            </a:r>
            <a:r>
              <a:rPr lang="en-US" sz="2800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 </a:t>
            </a:r>
            <a:endParaRPr lang="en-US" sz="28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626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LANGUAGE_ID" val="1033"/>
  <p:tag name="EE4P_STYLE_ID" val="6cd991bf-f022-4378-96e7-2c338aeb3f5a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1475</Words>
  <Application>Microsoft Office PowerPoint</Application>
  <PresentationFormat>Breitbild</PresentationFormat>
  <Paragraphs>448</Paragraphs>
  <Slides>17</Slides>
  <Notes>17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Consolas</vt:lpstr>
      <vt:lpstr>Wingdings</vt:lpstr>
      <vt:lpstr>Office</vt:lpstr>
      <vt:lpstr>A Practical Wrapper Protocol for Metadata-Hiding in Messaging </vt:lpstr>
      <vt:lpstr>Online Messaging</vt:lpstr>
      <vt:lpstr>Online Messaging</vt:lpstr>
      <vt:lpstr>Threat Model</vt:lpstr>
      <vt:lpstr>Current Approach: Public Key Encryption</vt:lpstr>
      <vt:lpstr>Our Approach: Anonymity Wrapper</vt:lpstr>
      <vt:lpstr>Our Approach: Anonymity Wrapper</vt:lpstr>
      <vt:lpstr>Messaging 101</vt:lpstr>
      <vt:lpstr>Metadata for Unreliable Networks</vt:lpstr>
      <vt:lpstr>Anonymity Wrapper</vt:lpstr>
      <vt:lpstr>Anonymity Wrapper vs. Signal’s Approach</vt:lpstr>
      <vt:lpstr>Anonymity Wrapper vs. Signal’s Approach</vt:lpstr>
      <vt:lpstr>Why the Large Receiver State?</vt:lpstr>
      <vt:lpstr>Why the Large Receiver State?</vt:lpstr>
      <vt:lpstr>Why the Large Receiver State?</vt:lpstr>
      <vt:lpstr>Fixing the Large Receiver State</vt:lpstr>
      <vt:lpstr>A Practical Wrapper Protocol for Metadata-Hiding in Messaging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Lea Thiemt</dc:creator>
  <cp:lastModifiedBy>Thiemt, Lea</cp:lastModifiedBy>
  <cp:revision>134</cp:revision>
  <dcterms:created xsi:type="dcterms:W3CDTF">2025-04-28T10:01:38Z</dcterms:created>
  <dcterms:modified xsi:type="dcterms:W3CDTF">2026-03-08T14:50:08Z</dcterms:modified>
</cp:coreProperties>
</file>