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32"/>
  </p:notesMasterIdLst>
  <p:sldIdLst>
    <p:sldId id="256" r:id="rId2"/>
    <p:sldId id="346" r:id="rId3"/>
    <p:sldId id="349" r:id="rId4"/>
    <p:sldId id="336" r:id="rId5"/>
    <p:sldId id="348" r:id="rId6"/>
    <p:sldId id="375" r:id="rId7"/>
    <p:sldId id="350" r:id="rId8"/>
    <p:sldId id="343" r:id="rId9"/>
    <p:sldId id="353" r:id="rId10"/>
    <p:sldId id="354" r:id="rId11"/>
    <p:sldId id="355" r:id="rId12"/>
    <p:sldId id="344" r:id="rId13"/>
    <p:sldId id="381" r:id="rId14"/>
    <p:sldId id="378" r:id="rId15"/>
    <p:sldId id="372" r:id="rId16"/>
    <p:sldId id="382" r:id="rId17"/>
    <p:sldId id="383" r:id="rId18"/>
    <p:sldId id="379" r:id="rId19"/>
    <p:sldId id="380" r:id="rId20"/>
    <p:sldId id="340" r:id="rId21"/>
    <p:sldId id="332" r:id="rId22"/>
    <p:sldId id="338" r:id="rId23"/>
    <p:sldId id="313" r:id="rId24"/>
    <p:sldId id="359" r:id="rId25"/>
    <p:sldId id="373" r:id="rId26"/>
    <p:sldId id="363" r:id="rId27"/>
    <p:sldId id="384" r:id="rId28"/>
    <p:sldId id="385" r:id="rId29"/>
    <p:sldId id="370" r:id="rId30"/>
    <p:sldId id="319" r:id="rId31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33"/>
      <p:bold r:id="rId34"/>
      <p:italic r:id="rId35"/>
      <p:boldItalic r:id="rId36"/>
    </p:embeddedFont>
    <p:embeddedFont>
      <p:font typeface="Lato" panose="020F0502020204030203" pitchFamily="34" charset="0"/>
      <p:regular r:id="rId37"/>
      <p:bold r:id="rId38"/>
      <p:italic r:id="rId39"/>
      <p:boldItalic r:id="rId40"/>
    </p:embeddedFont>
    <p:embeddedFont>
      <p:font typeface="Raleway" pitchFamily="2" charset="0"/>
      <p:regular r:id="rId41"/>
      <p:bold r:id="rId42"/>
      <p:italic r:id="rId43"/>
      <p:boldItalic r:id="rId44"/>
    </p:embeddedFont>
    <p:embeddedFont>
      <p:font typeface="UD Digi Kyokasho N-B" panose="02020700000000000000" pitchFamily="17" charset="-128"/>
      <p:bold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8BD2"/>
    <a:srgbClr val="1A1A1A"/>
    <a:srgbClr val="BFBFBF"/>
    <a:srgbClr val="FFECE1"/>
    <a:srgbClr val="E7EFED"/>
    <a:srgbClr val="EB5600"/>
    <a:srgbClr val="FFF2CC"/>
    <a:srgbClr val="F0F0F0"/>
    <a:srgbClr val="F9F9F9"/>
    <a:srgbClr val="CCDE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89212" autoAdjust="0"/>
  </p:normalViewPr>
  <p:slideViewPr>
    <p:cSldViewPr snapToGrid="0">
      <p:cViewPr varScale="1">
        <p:scale>
          <a:sx n="113" d="100"/>
          <a:sy n="113" d="100"/>
        </p:scale>
        <p:origin x="523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5" name="Google Shape;9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30679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8330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34840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8985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7142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0AE2D-C9B9-F9BF-E116-B970E9702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33A62C-81C5-D588-A8C8-66D5D3E9D5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6BE0A2-A010-FD1B-AD4F-7F2B603F1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3457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B59CA-8A42-E1FC-4638-49BF857A6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2CD2F3-5D78-FD23-7A0E-180378E9A5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ED0FCF-9BFE-1293-3054-AFD6E2D366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0028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A0A52-EF37-52F0-783B-3754FF0FE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701875-A4CE-BB9E-E320-AED7B7EE08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B3EB42-661A-618D-BA01-76F1EF3B7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8184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0634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3344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0995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3512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7FD68-FD20-5341-3C86-3AACC0D44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162501-E68C-7207-FFA4-BDA33FF4BF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D46E8E-EE7C-F214-4343-9690334AC7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5641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6644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230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535588" y="1679550"/>
            <a:ext cx="7688100" cy="1664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535765" y="35300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535779" y="518244"/>
            <a:ext cx="1491579" cy="45900"/>
            <a:chOff x="535779" y="518244"/>
            <a:chExt cx="1491579" cy="45900"/>
          </a:xfrm>
        </p:grpSpPr>
        <p:sp>
          <p:nvSpPr>
            <p:cNvPr id="14" name="Google Shape;14;p2"/>
            <p:cNvSpPr/>
            <p:nvPr/>
          </p:nvSpPr>
          <p:spPr>
            <a:xfrm rot="-5400000">
              <a:off x="1072200" y="354764"/>
              <a:ext cx="45826" cy="37285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-5400000">
              <a:off x="700872" y="353188"/>
              <a:ext cx="45826" cy="376012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1817958" y="354744"/>
              <a:ext cx="45900" cy="3729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-5400000">
              <a:off x="1446554" y="353244"/>
              <a:ext cx="45900" cy="3759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535775" y="780125"/>
            <a:ext cx="8000400" cy="535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535775" y="1531300"/>
            <a:ext cx="8000400" cy="33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  <a:defRPr sz="1800"/>
            </a:lvl1pPr>
            <a:lvl2pPr marL="822960" lvl="1" indent="-285750">
              <a:spcBef>
                <a:spcPts val="0"/>
              </a:spcBef>
              <a:spcAft>
                <a:spcPts val="200"/>
              </a:spcAft>
              <a:buSzPts val="1600"/>
              <a:buFont typeface="Courier New" panose="02070309020205020404" pitchFamily="49" charset="0"/>
              <a:buChar char="o"/>
              <a:defRPr sz="1600"/>
            </a:lvl2pPr>
            <a:lvl3pPr marL="1371600" lvl="2" indent="-330200">
              <a:spcBef>
                <a:spcPts val="0"/>
              </a:spcBef>
              <a:spcAft>
                <a:spcPts val="200"/>
              </a:spcAft>
              <a:buSzPts val="1600"/>
              <a:buChar char="■"/>
              <a:defRPr sz="16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pPr lvl="0"/>
            <a:endParaRPr lang="en-US" dirty="0"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28" name="Google Shape;28;p4"/>
          <p:cNvGrpSpPr/>
          <p:nvPr/>
        </p:nvGrpSpPr>
        <p:grpSpPr>
          <a:xfrm>
            <a:off x="535779" y="518207"/>
            <a:ext cx="1491579" cy="45938"/>
            <a:chOff x="535779" y="518207"/>
            <a:chExt cx="1491579" cy="45938"/>
          </a:xfrm>
        </p:grpSpPr>
        <p:sp>
          <p:nvSpPr>
            <p:cNvPr id="29" name="Google Shape;29;p4"/>
            <p:cNvSpPr/>
            <p:nvPr/>
          </p:nvSpPr>
          <p:spPr>
            <a:xfrm rot="-5400000">
              <a:off x="1072183" y="354707"/>
              <a:ext cx="45900" cy="372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4"/>
            <p:cNvSpPr/>
            <p:nvPr/>
          </p:nvSpPr>
          <p:spPr>
            <a:xfrm rot="-5400000">
              <a:off x="700779" y="353207"/>
              <a:ext cx="45900" cy="375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rot="-5400000">
              <a:off x="1817958" y="354744"/>
              <a:ext cx="45900" cy="3729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 rot="-5400000">
              <a:off x="1446554" y="353244"/>
              <a:ext cx="45900" cy="3759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" name="Google Shape;33;p4"/>
          <p:cNvSpPr/>
          <p:nvPr/>
        </p:nvSpPr>
        <p:spPr>
          <a:xfrm>
            <a:off x="0" y="0"/>
            <a:ext cx="9144000" cy="45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>
            <a:spLocks noGrp="1"/>
          </p:cNvSpPr>
          <p:nvPr>
            <p:ph type="title"/>
          </p:nvPr>
        </p:nvSpPr>
        <p:spPr>
          <a:xfrm>
            <a:off x="535775" y="899750"/>
            <a:ext cx="7688400" cy="535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48" name="Google Shape;48;p6"/>
          <p:cNvGrpSpPr/>
          <p:nvPr/>
        </p:nvGrpSpPr>
        <p:grpSpPr>
          <a:xfrm>
            <a:off x="535779" y="518207"/>
            <a:ext cx="1491579" cy="45938"/>
            <a:chOff x="535779" y="518207"/>
            <a:chExt cx="1491579" cy="45938"/>
          </a:xfrm>
        </p:grpSpPr>
        <p:sp>
          <p:nvSpPr>
            <p:cNvPr id="49" name="Google Shape;49;p6"/>
            <p:cNvSpPr/>
            <p:nvPr/>
          </p:nvSpPr>
          <p:spPr>
            <a:xfrm rot="-5400000">
              <a:off x="1072183" y="354707"/>
              <a:ext cx="45900" cy="372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6"/>
            <p:cNvSpPr/>
            <p:nvPr/>
          </p:nvSpPr>
          <p:spPr>
            <a:xfrm rot="-5400000">
              <a:off x="700779" y="353207"/>
              <a:ext cx="45900" cy="375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6"/>
            <p:cNvSpPr/>
            <p:nvPr/>
          </p:nvSpPr>
          <p:spPr>
            <a:xfrm rot="-5400000">
              <a:off x="1817958" y="354744"/>
              <a:ext cx="45900" cy="3729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6"/>
            <p:cNvSpPr/>
            <p:nvPr/>
          </p:nvSpPr>
          <p:spPr>
            <a:xfrm rot="-5400000">
              <a:off x="1446554" y="353244"/>
              <a:ext cx="45900" cy="3759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" name="Google Shape;53;p6"/>
          <p:cNvSpPr/>
          <p:nvPr/>
        </p:nvSpPr>
        <p:spPr>
          <a:xfrm>
            <a:off x="0" y="0"/>
            <a:ext cx="9144000" cy="45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>
            <a:spLocks noGrp="1"/>
          </p:cNvSpPr>
          <p:nvPr>
            <p:ph type="title"/>
          </p:nvPr>
        </p:nvSpPr>
        <p:spPr>
          <a:xfrm>
            <a:off x="535775" y="899750"/>
            <a:ext cx="3495000" cy="1381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body" idx="1"/>
          </p:nvPr>
        </p:nvSpPr>
        <p:spPr>
          <a:xfrm>
            <a:off x="721225" y="23628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58" name="Google Shape;58;p7"/>
          <p:cNvGrpSpPr/>
          <p:nvPr/>
        </p:nvGrpSpPr>
        <p:grpSpPr>
          <a:xfrm>
            <a:off x="535779" y="518207"/>
            <a:ext cx="1491579" cy="45938"/>
            <a:chOff x="535779" y="518207"/>
            <a:chExt cx="1491579" cy="45938"/>
          </a:xfrm>
        </p:grpSpPr>
        <p:sp>
          <p:nvSpPr>
            <p:cNvPr id="59" name="Google Shape;59;p7"/>
            <p:cNvSpPr/>
            <p:nvPr/>
          </p:nvSpPr>
          <p:spPr>
            <a:xfrm rot="-5400000">
              <a:off x="1072183" y="354707"/>
              <a:ext cx="45900" cy="372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7"/>
            <p:cNvSpPr/>
            <p:nvPr/>
          </p:nvSpPr>
          <p:spPr>
            <a:xfrm rot="-5400000">
              <a:off x="700779" y="353207"/>
              <a:ext cx="45900" cy="375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7"/>
            <p:cNvSpPr/>
            <p:nvPr/>
          </p:nvSpPr>
          <p:spPr>
            <a:xfrm rot="-5400000">
              <a:off x="1817958" y="354744"/>
              <a:ext cx="45900" cy="3729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7"/>
            <p:cNvSpPr/>
            <p:nvPr/>
          </p:nvSpPr>
          <p:spPr>
            <a:xfrm rot="-5400000">
              <a:off x="1446554" y="353244"/>
              <a:ext cx="45900" cy="3759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" name="Google Shape;63;p7"/>
          <p:cNvSpPr/>
          <p:nvPr/>
        </p:nvSpPr>
        <p:spPr>
          <a:xfrm>
            <a:off x="0" y="0"/>
            <a:ext cx="9144000" cy="45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6" name="Google Shape;66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" name="Google Shape;68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8069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title"/>
          </p:nvPr>
        </p:nvSpPr>
        <p:spPr>
          <a:xfrm>
            <a:off x="535775" y="899775"/>
            <a:ext cx="3495000" cy="1687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subTitle" idx="1"/>
          </p:nvPr>
        </p:nvSpPr>
        <p:spPr>
          <a:xfrm>
            <a:off x="530850" y="2742650"/>
            <a:ext cx="34950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body" idx="2"/>
          </p:nvPr>
        </p:nvSpPr>
        <p:spPr>
          <a:xfrm>
            <a:off x="5053625" y="933750"/>
            <a:ext cx="34950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302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76" name="Google Shape;76;p9"/>
          <p:cNvGrpSpPr/>
          <p:nvPr/>
        </p:nvGrpSpPr>
        <p:grpSpPr>
          <a:xfrm>
            <a:off x="535779" y="518207"/>
            <a:ext cx="1491579" cy="45938"/>
            <a:chOff x="535779" y="518207"/>
            <a:chExt cx="1491579" cy="45938"/>
          </a:xfrm>
        </p:grpSpPr>
        <p:sp>
          <p:nvSpPr>
            <p:cNvPr id="77" name="Google Shape;77;p9"/>
            <p:cNvSpPr/>
            <p:nvPr/>
          </p:nvSpPr>
          <p:spPr>
            <a:xfrm rot="-5400000">
              <a:off x="1072183" y="354707"/>
              <a:ext cx="45900" cy="372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9"/>
            <p:cNvSpPr/>
            <p:nvPr/>
          </p:nvSpPr>
          <p:spPr>
            <a:xfrm rot="-5400000">
              <a:off x="700779" y="353207"/>
              <a:ext cx="45900" cy="375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9"/>
            <p:cNvSpPr/>
            <p:nvPr/>
          </p:nvSpPr>
          <p:spPr>
            <a:xfrm rot="-5400000">
              <a:off x="1817958" y="354744"/>
              <a:ext cx="45900" cy="3729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9"/>
            <p:cNvSpPr/>
            <p:nvPr/>
          </p:nvSpPr>
          <p:spPr>
            <a:xfrm rot="-5400000">
              <a:off x="1446554" y="353244"/>
              <a:ext cx="45900" cy="3759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6" name="Google Shape;86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" name="Google Shape;88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 txBox="1">
            <a:spLocks noGrp="1"/>
          </p:cNvSpPr>
          <p:nvPr>
            <p:ph type="ctrTitle"/>
          </p:nvPr>
        </p:nvSpPr>
        <p:spPr>
          <a:xfrm>
            <a:off x="535588" y="1536379"/>
            <a:ext cx="8080872" cy="741059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/>
              <a:t>Encryption in the microarchitectural world</a:t>
            </a:r>
            <a:endParaRPr sz="3000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254EABD5-4B0D-A4F2-0EB6-23596FFFC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95" y="3932105"/>
            <a:ext cx="2431552" cy="1157881"/>
          </a:xfrm>
          <a:prstGeom prst="rect">
            <a:avLst/>
          </a:prstGeom>
        </p:spPr>
      </p:pic>
      <p:sp>
        <p:nvSpPr>
          <p:cNvPr id="3" name="Google Shape;98;p13">
            <a:extLst>
              <a:ext uri="{FF2B5EF4-FFF2-40B4-BE49-F238E27FC236}">
                <a16:creationId xmlns:a16="http://schemas.microsoft.com/office/drawing/2014/main" id="{571918EF-5256-8355-A54A-77C8B793D5E9}"/>
              </a:ext>
            </a:extLst>
          </p:cNvPr>
          <p:cNvSpPr txBox="1">
            <a:spLocks/>
          </p:cNvSpPr>
          <p:nvPr/>
        </p:nvSpPr>
        <p:spPr>
          <a:xfrm>
            <a:off x="457570" y="2535152"/>
            <a:ext cx="8080872" cy="1194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 algn="ctr"/>
            <a:r>
              <a:rPr lang="en-US" sz="1800" b="1" u="sng" dirty="0"/>
              <a:t>Ping-Lun Wang</a:t>
            </a:r>
            <a:r>
              <a:rPr lang="en-US" sz="1800" dirty="0"/>
              <a:t>, </a:t>
            </a:r>
            <a:r>
              <a:rPr lang="en-US" altLang="zh-TW" sz="1800" dirty="0"/>
              <a:t>Fraser Brown, Riccardo </a:t>
            </a:r>
            <a:r>
              <a:rPr lang="en-US" altLang="zh-TW" sz="1800" dirty="0" err="1"/>
              <a:t>Paccagnella</a:t>
            </a:r>
            <a:r>
              <a:rPr lang="en-US" altLang="zh-TW" sz="1800" dirty="0"/>
              <a:t>,</a:t>
            </a:r>
          </a:p>
          <a:p>
            <a:pPr marL="0" indent="0" algn="ctr"/>
            <a:r>
              <a:rPr lang="en-US" altLang="zh-TW" sz="1800" dirty="0"/>
              <a:t>Eyal Ronen, Riad S. Wahby, and Yuval </a:t>
            </a:r>
            <a:r>
              <a:rPr lang="en-US" altLang="zh-TW" sz="1800" dirty="0" err="1"/>
              <a:t>Yarom</a:t>
            </a:r>
            <a:endParaRPr lang="en-US" altLang="zh-TW" sz="1800" dirty="0"/>
          </a:p>
          <a:p>
            <a:pPr marL="0" indent="0" algn="ctr"/>
            <a:endParaRPr lang="en-US" sz="1800" dirty="0"/>
          </a:p>
          <a:p>
            <a:pPr marL="0" indent="0" algn="ctr"/>
            <a:r>
              <a:rPr lang="en-US" sz="1800" dirty="0"/>
              <a:t>RWC, 03/09/2026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818B06-5A80-E9AE-4D67-3A00D69E49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6549" y="3987272"/>
            <a:ext cx="1934967" cy="1056508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3A6FE170-5BC5-E67C-D405-68AED479FA2D}"/>
              </a:ext>
            </a:extLst>
          </p:cNvPr>
          <p:cNvGrpSpPr/>
          <p:nvPr/>
        </p:nvGrpSpPr>
        <p:grpSpPr>
          <a:xfrm>
            <a:off x="5738248" y="4204734"/>
            <a:ext cx="3100755" cy="643148"/>
            <a:chOff x="5710850" y="4203983"/>
            <a:chExt cx="3104376" cy="643899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CC0FBA5-1FBD-D6ED-618B-CDE1FE3356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60076"/>
            <a:stretch>
              <a:fillRect/>
            </a:stretch>
          </p:blipFill>
          <p:spPr>
            <a:xfrm>
              <a:off x="5710850" y="4203983"/>
              <a:ext cx="1345916" cy="643899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5F9140B-47DF-B7EE-48E0-EF8AC77BEC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50380"/>
            <a:stretch>
              <a:fillRect/>
            </a:stretch>
          </p:blipFill>
          <p:spPr>
            <a:xfrm>
              <a:off x="7143964" y="4204567"/>
              <a:ext cx="1671262" cy="64331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FF4CE-AD1F-1979-4DA5-5575B618E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Arch</a:t>
            </a:r>
            <a:r>
              <a:rPr lang="en-US" dirty="0">
                <a:solidFill>
                  <a:schemeClr val="accent3"/>
                </a:solidFill>
              </a:rPr>
              <a:t> </a:t>
            </a:r>
            <a:r>
              <a:rPr lang="en-US" dirty="0"/>
              <a:t>vs. </a:t>
            </a:r>
            <a:r>
              <a:rPr lang="en-US" dirty="0">
                <a:solidFill>
                  <a:schemeClr val="accent3"/>
                </a:solidFill>
              </a:rPr>
              <a:t>μArch</a:t>
            </a:r>
            <a:r>
              <a:rPr lang="en-US" dirty="0"/>
              <a:t> components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A509C3-BE38-8AB7-E062-0FD285A3A9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2</a:t>
            </a:fld>
            <a:endParaRPr lang="zh-TW" altLang="en-US"/>
          </a:p>
        </p:txBody>
      </p:sp>
      <p:pic>
        <p:nvPicPr>
          <p:cNvPr id="8" name="Picture 2" descr="ダンボール箱のイラスト">
            <a:extLst>
              <a:ext uri="{FF2B5EF4-FFF2-40B4-BE49-F238E27FC236}">
                <a16:creationId xmlns:a16="http://schemas.microsoft.com/office/drawing/2014/main" id="{FB4BEC7E-375E-E9DB-4F06-495219691D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8441" y="2519037"/>
            <a:ext cx="1585546" cy="1474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空のダンボール箱のイラスト">
            <a:extLst>
              <a:ext uri="{FF2B5EF4-FFF2-40B4-BE49-F238E27FC236}">
                <a16:creationId xmlns:a16="http://schemas.microsoft.com/office/drawing/2014/main" id="{E6A5A58D-34F4-6A49-085D-195B75B324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2534" y="2421262"/>
            <a:ext cx="2240425" cy="1513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字方塊 7">
            <a:extLst>
              <a:ext uri="{FF2B5EF4-FFF2-40B4-BE49-F238E27FC236}">
                <a16:creationId xmlns:a16="http://schemas.microsoft.com/office/drawing/2014/main" id="{E0732933-C124-F6E2-58D6-D47E02844251}"/>
              </a:ext>
            </a:extLst>
          </p:cNvPr>
          <p:cNvSpPr txBox="1"/>
          <p:nvPr/>
        </p:nvSpPr>
        <p:spPr>
          <a:xfrm rot="193031">
            <a:off x="2800350" y="2731327"/>
            <a:ext cx="1104770" cy="318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µArch</a:t>
            </a:r>
          </a:p>
        </p:txBody>
      </p:sp>
      <p:sp>
        <p:nvSpPr>
          <p:cNvPr id="11" name="文字方塊 14">
            <a:extLst>
              <a:ext uri="{FF2B5EF4-FFF2-40B4-BE49-F238E27FC236}">
                <a16:creationId xmlns:a16="http://schemas.microsoft.com/office/drawing/2014/main" id="{0BF3FB6E-4CF6-73CB-3901-CED5AEC5EDCF}"/>
              </a:ext>
            </a:extLst>
          </p:cNvPr>
          <p:cNvSpPr txBox="1"/>
          <p:nvPr/>
        </p:nvSpPr>
        <p:spPr>
          <a:xfrm rot="162115">
            <a:off x="2603955" y="3204473"/>
            <a:ext cx="11328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Consolas" panose="020B0609020204030204" pitchFamily="49" charset="0"/>
              </a:rPr>
              <a:t>ISA</a:t>
            </a:r>
          </a:p>
        </p:txBody>
      </p:sp>
      <p:sp>
        <p:nvSpPr>
          <p:cNvPr id="13" name="Callout: Bent Line 12">
            <a:extLst>
              <a:ext uri="{FF2B5EF4-FFF2-40B4-BE49-F238E27FC236}">
                <a16:creationId xmlns:a16="http://schemas.microsoft.com/office/drawing/2014/main" id="{98AB4DA6-4135-8D04-4316-D8BAA5EBD89D}"/>
              </a:ext>
            </a:extLst>
          </p:cNvPr>
          <p:cNvSpPr/>
          <p:nvPr/>
        </p:nvSpPr>
        <p:spPr>
          <a:xfrm>
            <a:off x="4700991" y="1793889"/>
            <a:ext cx="2480860" cy="825799"/>
          </a:xfrm>
          <a:prstGeom prst="borderCallout2">
            <a:avLst>
              <a:gd name="adj1" fmla="val 50763"/>
              <a:gd name="adj2" fmla="val -1527"/>
              <a:gd name="adj3" fmla="val 50433"/>
              <a:gd name="adj4" fmla="val -17142"/>
              <a:gd name="adj5" fmla="val 131745"/>
              <a:gd name="adj6" fmla="val -38623"/>
            </a:avLst>
          </a:prstGeom>
          <a:noFill/>
          <a:ln>
            <a:solidFill>
              <a:srgbClr val="EB5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Cache hierarchy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Branch predictor (BP)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…</a:t>
            </a:r>
          </a:p>
        </p:txBody>
      </p:sp>
      <p:sp>
        <p:nvSpPr>
          <p:cNvPr id="14" name="文字方塊 6">
            <a:extLst>
              <a:ext uri="{FF2B5EF4-FFF2-40B4-BE49-F238E27FC236}">
                <a16:creationId xmlns:a16="http://schemas.microsoft.com/office/drawing/2014/main" id="{0A4EF693-4458-9905-FEFC-ED48FB3571E3}"/>
              </a:ext>
            </a:extLst>
          </p:cNvPr>
          <p:cNvSpPr txBox="1"/>
          <p:nvPr/>
        </p:nvSpPr>
        <p:spPr>
          <a:xfrm>
            <a:off x="2317033" y="3993595"/>
            <a:ext cx="18069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solidFill>
                  <a:schemeClr val="accent1"/>
                </a:solidFill>
                <a:latin typeface="Lato" panose="020B0604020202020204" charset="0"/>
              </a:rPr>
              <a:t>▲ CPU</a:t>
            </a:r>
            <a:endParaRPr lang="en-US" dirty="0">
              <a:solidFill>
                <a:schemeClr val="accent1"/>
              </a:solidFill>
              <a:latin typeface="Lato" panose="020B0604020202020204" charset="0"/>
            </a:endParaRPr>
          </a:p>
        </p:txBody>
      </p:sp>
      <p:sp>
        <p:nvSpPr>
          <p:cNvPr id="15" name="文字方塊 27">
            <a:extLst>
              <a:ext uri="{FF2B5EF4-FFF2-40B4-BE49-F238E27FC236}">
                <a16:creationId xmlns:a16="http://schemas.microsoft.com/office/drawing/2014/main" id="{ABC85D9E-6FDD-7B72-BFFF-022E750BE4F7}"/>
              </a:ext>
            </a:extLst>
          </p:cNvPr>
          <p:cNvSpPr txBox="1"/>
          <p:nvPr/>
        </p:nvSpPr>
        <p:spPr>
          <a:xfrm>
            <a:off x="0" y="4859675"/>
            <a:ext cx="15604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  <a:latin typeface="Lato" panose="020B0604020202020204" charset="0"/>
              </a:rPr>
              <a:t>Credit: irasutoya.com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79D68D1-8CF1-7C05-4987-EBC3D86748C5}"/>
              </a:ext>
            </a:extLst>
          </p:cNvPr>
          <p:cNvGrpSpPr/>
          <p:nvPr/>
        </p:nvGrpSpPr>
        <p:grpSpPr>
          <a:xfrm>
            <a:off x="4422497" y="3308350"/>
            <a:ext cx="3037846" cy="1165052"/>
            <a:chOff x="4422497" y="3308350"/>
            <a:chExt cx="3037846" cy="1165052"/>
          </a:xfrm>
        </p:grpSpPr>
        <p:sp>
          <p:nvSpPr>
            <p:cNvPr id="12" name="Callout: Bent Line 11">
              <a:extLst>
                <a:ext uri="{FF2B5EF4-FFF2-40B4-BE49-F238E27FC236}">
                  <a16:creationId xmlns:a16="http://schemas.microsoft.com/office/drawing/2014/main" id="{A262AF08-FB79-12DB-6118-AE0D91D482FB}"/>
                </a:ext>
              </a:extLst>
            </p:cNvPr>
            <p:cNvSpPr/>
            <p:nvPr/>
          </p:nvSpPr>
          <p:spPr>
            <a:xfrm>
              <a:off x="4700991" y="3308350"/>
              <a:ext cx="2480861" cy="848503"/>
            </a:xfrm>
            <a:prstGeom prst="borderCallout2">
              <a:avLst>
                <a:gd name="adj1" fmla="val 53734"/>
                <a:gd name="adj2" fmla="val -2711"/>
                <a:gd name="adj3" fmla="val 53404"/>
                <a:gd name="adj4" fmla="val -19415"/>
                <a:gd name="adj5" fmla="val 21209"/>
                <a:gd name="adj6" fmla="val -37908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2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Instruction set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2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Architectural registers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2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…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44753C4-F72D-D398-8F98-3C043ABC0195}"/>
                </a:ext>
              </a:extLst>
            </p:cNvPr>
            <p:cNvSpPr txBox="1"/>
            <p:nvPr/>
          </p:nvSpPr>
          <p:spPr>
            <a:xfrm>
              <a:off x="4422497" y="4165625"/>
              <a:ext cx="303784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Lato" panose="020B0604020202020204" charset="0"/>
                </a:rPr>
                <a:t>Architectural (Arch) components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93C8B6F-751B-C18F-3A14-838A70E38FE2}"/>
              </a:ext>
            </a:extLst>
          </p:cNvPr>
          <p:cNvSpPr txBox="1"/>
          <p:nvPr/>
        </p:nvSpPr>
        <p:spPr>
          <a:xfrm>
            <a:off x="4422497" y="2600762"/>
            <a:ext cx="30378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3"/>
                </a:solidFill>
                <a:latin typeface="Lato" panose="020B0604020202020204" charset="0"/>
              </a:rPr>
              <a:t>Microarchitectural (μArch) components</a:t>
            </a:r>
          </a:p>
        </p:txBody>
      </p:sp>
    </p:spTree>
    <p:extLst>
      <p:ext uri="{BB962C8B-B14F-4D97-AF65-F5344CB8AC3E}">
        <p14:creationId xmlns:p14="http://schemas.microsoft.com/office/powerpoint/2010/main" val="2905287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 animBg="1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ダンボール箱のイラスト">
            <a:extLst>
              <a:ext uri="{FF2B5EF4-FFF2-40B4-BE49-F238E27FC236}">
                <a16:creationId xmlns:a16="http://schemas.microsoft.com/office/drawing/2014/main" id="{5A8CA205-9BB4-7CA0-EEB1-2408685DBD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641" y="2849237"/>
            <a:ext cx="1585546" cy="1474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空のダンボール箱のイラスト">
            <a:extLst>
              <a:ext uri="{FF2B5EF4-FFF2-40B4-BE49-F238E27FC236}">
                <a16:creationId xmlns:a16="http://schemas.microsoft.com/office/drawing/2014/main" id="{3F74C988-A601-7B7C-9B12-9C9476EBC7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34" y="2751462"/>
            <a:ext cx="2240425" cy="1513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12929F28-4CC1-C995-749D-22EECECF3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μWMs: hidden computers in the CPU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AB6B089-DDBF-0569-DBB2-D907D750AE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3</a:t>
            </a:fld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A9DC31A-7A98-7068-82CD-2A1CD0F5BD68}"/>
              </a:ext>
            </a:extLst>
          </p:cNvPr>
          <p:cNvSpPr txBox="1"/>
          <p:nvPr/>
        </p:nvSpPr>
        <p:spPr>
          <a:xfrm>
            <a:off x="662705" y="4363374"/>
            <a:ext cx="18069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solidFill>
                  <a:schemeClr val="bg2"/>
                </a:solidFill>
                <a:latin typeface="Lato" panose="020B0604020202020204" charset="0"/>
              </a:rPr>
              <a:t>▲ CPU</a:t>
            </a:r>
            <a:endParaRPr lang="en-US" dirty="0">
              <a:solidFill>
                <a:schemeClr val="bg2"/>
              </a:solidFill>
              <a:latin typeface="Lato" panose="020B0604020202020204" charset="0"/>
            </a:endParaRPr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5EC64364-2A5E-5353-E879-C11B5D282009}"/>
              </a:ext>
            </a:extLst>
          </p:cNvPr>
          <p:cNvGrpSpPr/>
          <p:nvPr/>
        </p:nvGrpSpPr>
        <p:grpSpPr>
          <a:xfrm>
            <a:off x="1479245" y="1665407"/>
            <a:ext cx="1613464" cy="961212"/>
            <a:chOff x="6630440" y="1832103"/>
            <a:chExt cx="1613464" cy="961212"/>
          </a:xfrm>
        </p:grpSpPr>
        <p:sp>
          <p:nvSpPr>
            <p:cNvPr id="10" name="想法泡泡: 雲朵 9">
              <a:extLst>
                <a:ext uri="{FF2B5EF4-FFF2-40B4-BE49-F238E27FC236}">
                  <a16:creationId xmlns:a16="http://schemas.microsoft.com/office/drawing/2014/main" id="{C31E2177-B39C-ACA7-4F48-40C7CF80A7DE}"/>
                </a:ext>
              </a:extLst>
            </p:cNvPr>
            <p:cNvSpPr/>
            <p:nvPr/>
          </p:nvSpPr>
          <p:spPr>
            <a:xfrm>
              <a:off x="6630440" y="1832103"/>
              <a:ext cx="1613464" cy="961212"/>
            </a:xfrm>
            <a:prstGeom prst="cloudCallout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38" name="Picture 14" descr="電卓のイラスト（文房具）">
              <a:extLst>
                <a:ext uri="{FF2B5EF4-FFF2-40B4-BE49-F238E27FC236}">
                  <a16:creationId xmlns:a16="http://schemas.microsoft.com/office/drawing/2014/main" id="{F1E5D05A-FB9B-168E-8303-35BA2C0CBC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06106" y="2029193"/>
              <a:ext cx="554685" cy="6095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FF1DC86E-5CCA-82F6-707F-9058A428A17D}"/>
              </a:ext>
            </a:extLst>
          </p:cNvPr>
          <p:cNvGrpSpPr/>
          <p:nvPr/>
        </p:nvGrpSpPr>
        <p:grpSpPr>
          <a:xfrm>
            <a:off x="2571457" y="2354363"/>
            <a:ext cx="1964518" cy="861518"/>
            <a:chOff x="2571457" y="2354363"/>
            <a:chExt cx="1964518" cy="861518"/>
          </a:xfrm>
        </p:grpSpPr>
        <p:cxnSp>
          <p:nvCxnSpPr>
            <p:cNvPr id="13" name="直線單箭頭接點 12">
              <a:extLst>
                <a:ext uri="{FF2B5EF4-FFF2-40B4-BE49-F238E27FC236}">
                  <a16:creationId xmlns:a16="http://schemas.microsoft.com/office/drawing/2014/main" id="{FAD8D5B3-2325-7197-1067-F7AE0CB47C70}"/>
                </a:ext>
              </a:extLst>
            </p:cNvPr>
            <p:cNvCxnSpPr>
              <a:cxnSpLocks/>
            </p:cNvCxnSpPr>
            <p:nvPr/>
          </p:nvCxnSpPr>
          <p:spPr>
            <a:xfrm>
              <a:off x="2571457" y="2354363"/>
              <a:ext cx="368153" cy="4262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136E61C5-21F9-9302-20C3-902D186540DA}"/>
                </a:ext>
              </a:extLst>
            </p:cNvPr>
            <p:cNvSpPr txBox="1"/>
            <p:nvPr/>
          </p:nvSpPr>
          <p:spPr>
            <a:xfrm>
              <a:off x="2881643" y="2692661"/>
              <a:ext cx="165433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ja-JP" dirty="0">
                  <a:solidFill>
                    <a:schemeClr val="bg2"/>
                  </a:solidFill>
                  <a:latin typeface="Lato" panose="020B0604020202020204" charset="0"/>
                </a:rPr>
                <a:t>µArch weird machines (µWMs)</a:t>
              </a:r>
              <a:endParaRPr lang="en-US" dirty="0">
                <a:solidFill>
                  <a:schemeClr val="bg2"/>
                </a:solidFill>
                <a:latin typeface="Lato" panose="020B0604020202020204" charset="0"/>
              </a:endParaRPr>
            </a:p>
          </p:txBody>
        </p:sp>
      </p:grpSp>
      <p:sp>
        <p:nvSpPr>
          <p:cNvPr id="8" name="文字方塊 7">
            <a:extLst>
              <a:ext uri="{FF2B5EF4-FFF2-40B4-BE49-F238E27FC236}">
                <a16:creationId xmlns:a16="http://schemas.microsoft.com/office/drawing/2014/main" id="{5C6411CF-7700-E66F-29E0-09C4CECE64F0}"/>
              </a:ext>
            </a:extLst>
          </p:cNvPr>
          <p:cNvSpPr txBox="1"/>
          <p:nvPr/>
        </p:nvSpPr>
        <p:spPr>
          <a:xfrm rot="193031">
            <a:off x="1098550" y="3061527"/>
            <a:ext cx="1104770" cy="318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µArch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3545947D-C6F6-9271-A45B-B4827FFA5FB0}"/>
              </a:ext>
            </a:extLst>
          </p:cNvPr>
          <p:cNvSpPr txBox="1"/>
          <p:nvPr/>
        </p:nvSpPr>
        <p:spPr>
          <a:xfrm rot="162115">
            <a:off x="902155" y="3534673"/>
            <a:ext cx="11328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Consolas" panose="020B0609020204030204" pitchFamily="49" charset="0"/>
              </a:rPr>
              <a:t>ISA</a:t>
            </a:r>
          </a:p>
        </p:txBody>
      </p:sp>
      <p:sp>
        <p:nvSpPr>
          <p:cNvPr id="9" name="文字方塊 5">
            <a:extLst>
              <a:ext uri="{FF2B5EF4-FFF2-40B4-BE49-F238E27FC236}">
                <a16:creationId xmlns:a16="http://schemas.microsoft.com/office/drawing/2014/main" id="{EACAC63F-D096-C30D-6A47-28F6034EE541}"/>
              </a:ext>
            </a:extLst>
          </p:cNvPr>
          <p:cNvSpPr txBox="1"/>
          <p:nvPr/>
        </p:nvSpPr>
        <p:spPr>
          <a:xfrm>
            <a:off x="4735385" y="2997310"/>
            <a:ext cx="41339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ja-JP" altLang="en-US" dirty="0">
                <a:solidFill>
                  <a:schemeClr val="accent1"/>
                </a:solidFill>
                <a:latin typeface="Lato" panose="020B0604020202020204" charset="0"/>
              </a:rPr>
              <a:t>🤯</a:t>
            </a:r>
            <a:r>
              <a:rPr lang="en-US" dirty="0">
                <a:solidFill>
                  <a:schemeClr val="accent1"/>
                </a:solidFill>
                <a:latin typeface="Lato" panose="020B0604020202020204" charset="0"/>
              </a:rPr>
              <a:t> </a:t>
            </a:r>
            <a:r>
              <a:rPr lang="en-US" dirty="0">
                <a:solidFill>
                  <a:schemeClr val="bg2"/>
                </a:solidFill>
                <a:latin typeface="Lato" panose="020B0604020202020204" charset="0"/>
              </a:rPr>
              <a:t>Prevents code analysis</a:t>
            </a:r>
          </a:p>
        </p:txBody>
      </p:sp>
      <p:sp>
        <p:nvSpPr>
          <p:cNvPr id="16" name="文字方塊 5">
            <a:extLst>
              <a:ext uri="{FF2B5EF4-FFF2-40B4-BE49-F238E27FC236}">
                <a16:creationId xmlns:a16="http://schemas.microsoft.com/office/drawing/2014/main" id="{B31558B6-0E9B-9353-381F-03639B7C4D8F}"/>
              </a:ext>
            </a:extLst>
          </p:cNvPr>
          <p:cNvSpPr txBox="1"/>
          <p:nvPr/>
        </p:nvSpPr>
        <p:spPr>
          <a:xfrm>
            <a:off x="4735385" y="2521948"/>
            <a:ext cx="31260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  <a:latin typeface="Lato" panose="020B0604020202020204" charset="0"/>
              </a:rPr>
              <a:t>😎</a:t>
            </a:r>
            <a:r>
              <a:rPr lang="en-US" dirty="0">
                <a:solidFill>
                  <a:schemeClr val="accent1"/>
                </a:solidFill>
                <a:latin typeface="Lato" panose="020B0604020202020204" charset="0"/>
              </a:rPr>
              <a:t> </a:t>
            </a:r>
            <a:r>
              <a:rPr lang="en-US" altLang="zh-TW" dirty="0">
                <a:solidFill>
                  <a:schemeClr val="bg2"/>
                </a:solidFill>
                <a:latin typeface="Lato" panose="020B0604020202020204" charset="0"/>
              </a:rPr>
              <a:t>Hides computational states</a:t>
            </a:r>
            <a:endParaRPr lang="en-US" dirty="0">
              <a:solidFill>
                <a:schemeClr val="bg2"/>
              </a:solidFill>
              <a:latin typeface="Lato" panose="020B0604020202020204" charset="0"/>
            </a:endParaRPr>
          </a:p>
        </p:txBody>
      </p:sp>
      <p:sp>
        <p:nvSpPr>
          <p:cNvPr id="18" name="文字方塊 5">
            <a:extLst>
              <a:ext uri="{FF2B5EF4-FFF2-40B4-BE49-F238E27FC236}">
                <a16:creationId xmlns:a16="http://schemas.microsoft.com/office/drawing/2014/main" id="{2AE5635B-F802-35AB-C150-F3357CB139EE}"/>
              </a:ext>
            </a:extLst>
          </p:cNvPr>
          <p:cNvSpPr txBox="1"/>
          <p:nvPr/>
        </p:nvSpPr>
        <p:spPr>
          <a:xfrm>
            <a:off x="4735385" y="3469104"/>
            <a:ext cx="31260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ja-JP" altLang="en-US" dirty="0">
                <a:solidFill>
                  <a:schemeClr val="accent1"/>
                </a:solidFill>
                <a:latin typeface="Lato" panose="020B0604020202020204" charset="0"/>
              </a:rPr>
              <a:t>😈</a:t>
            </a:r>
            <a:r>
              <a:rPr lang="en-US" dirty="0">
                <a:solidFill>
                  <a:schemeClr val="accent1"/>
                </a:solidFill>
                <a:latin typeface="Lato" panose="020B0604020202020204" charset="0"/>
              </a:rPr>
              <a:t> </a:t>
            </a:r>
            <a:r>
              <a:rPr lang="en-US" dirty="0">
                <a:solidFill>
                  <a:schemeClr val="bg2"/>
                </a:solidFill>
                <a:latin typeface="Lato" panose="020B0604020202020204" charset="0"/>
              </a:rPr>
              <a:t>Defeats debuggers and emulators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E23D30C0-5E0F-AC3C-65C7-481820BAEB9A}"/>
              </a:ext>
            </a:extLst>
          </p:cNvPr>
          <p:cNvSpPr txBox="1"/>
          <p:nvPr/>
        </p:nvSpPr>
        <p:spPr>
          <a:xfrm>
            <a:off x="4735385" y="2046586"/>
            <a:ext cx="40271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>
                <a:solidFill>
                  <a:schemeClr val="bg2"/>
                </a:solidFill>
                <a:latin typeface="Lato" panose="020B0604020202020204" charset="0"/>
              </a:rPr>
              <a:t>µWMs: difficult to analyze!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E94F9863-10A6-F88D-456F-22A4BA288012}"/>
              </a:ext>
            </a:extLst>
          </p:cNvPr>
          <p:cNvSpPr txBox="1"/>
          <p:nvPr/>
        </p:nvSpPr>
        <p:spPr>
          <a:xfrm>
            <a:off x="0" y="4859675"/>
            <a:ext cx="15604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  <a:latin typeface="Lato" panose="020B0604020202020204" charset="0"/>
              </a:rPr>
              <a:t>Credit: irasutoya.com</a:t>
            </a:r>
          </a:p>
        </p:txBody>
      </p:sp>
      <p:sp>
        <p:nvSpPr>
          <p:cNvPr id="3" name="文字方塊 5">
            <a:extLst>
              <a:ext uri="{FF2B5EF4-FFF2-40B4-BE49-F238E27FC236}">
                <a16:creationId xmlns:a16="http://schemas.microsoft.com/office/drawing/2014/main" id="{E774C2B9-DF67-5E50-1844-5B3E0F679EAA}"/>
              </a:ext>
            </a:extLst>
          </p:cNvPr>
          <p:cNvSpPr txBox="1"/>
          <p:nvPr/>
        </p:nvSpPr>
        <p:spPr>
          <a:xfrm>
            <a:off x="4735384" y="4169906"/>
            <a:ext cx="40969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chemeClr val="bg2"/>
                </a:solidFill>
                <a:latin typeface="Lato" panose="020B0604020202020204" charset="0"/>
              </a:rPr>
              <a:t>🤔 Seems to be great for program obfuscation?</a:t>
            </a:r>
          </a:p>
        </p:txBody>
      </p:sp>
    </p:spTree>
    <p:extLst>
      <p:ext uri="{BB962C8B-B14F-4D97-AF65-F5344CB8AC3E}">
        <p14:creationId xmlns:p14="http://schemas.microsoft.com/office/powerpoint/2010/main" val="931943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6" grpId="0"/>
      <p:bldP spid="18" grpId="0"/>
      <p:bldP spid="27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5E6468-EC76-57AC-A62C-5150305AA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Existing µWMs need improvements…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AEB02DC-B669-6934-013B-C3BF925CF5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4</a:t>
            </a:fld>
            <a:endParaRPr lang="zh-TW" altLang="en-US"/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BB66F736-A1AD-4755-DD1B-EC7D5E015373}"/>
              </a:ext>
            </a:extLst>
          </p:cNvPr>
          <p:cNvGrpSpPr/>
          <p:nvPr/>
        </p:nvGrpSpPr>
        <p:grpSpPr>
          <a:xfrm>
            <a:off x="372832" y="1604605"/>
            <a:ext cx="3624937" cy="3352439"/>
            <a:chOff x="372832" y="1604605"/>
            <a:chExt cx="3624937" cy="3352439"/>
          </a:xfrm>
        </p:grpSpPr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2D478963-4D08-7DB3-4BE8-5C12C58FF1AA}"/>
                </a:ext>
              </a:extLst>
            </p:cNvPr>
            <p:cNvGrpSpPr/>
            <p:nvPr/>
          </p:nvGrpSpPr>
          <p:grpSpPr>
            <a:xfrm>
              <a:off x="372832" y="2001435"/>
              <a:ext cx="3624937" cy="2955609"/>
              <a:chOff x="372832" y="2001435"/>
              <a:chExt cx="3624937" cy="2955609"/>
            </a:xfrm>
          </p:grpSpPr>
          <p:pic>
            <p:nvPicPr>
              <p:cNvPr id="6" name="圖片 5">
                <a:extLst>
                  <a:ext uri="{FF2B5EF4-FFF2-40B4-BE49-F238E27FC236}">
                    <a16:creationId xmlns:a16="http://schemas.microsoft.com/office/drawing/2014/main" id="{5471D63E-F717-F511-89CE-DAC195A295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3235" y="2201662"/>
                <a:ext cx="3274534" cy="2523647"/>
              </a:xfrm>
              <a:prstGeom prst="rect">
                <a:avLst/>
              </a:prstGeom>
            </p:spPr>
          </p:pic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F142913C-567A-40E9-BCB5-0D93B2F0E020}"/>
                  </a:ext>
                </a:extLst>
              </p:cNvPr>
              <p:cNvSpPr txBox="1"/>
              <p:nvPr/>
            </p:nvSpPr>
            <p:spPr>
              <a:xfrm>
                <a:off x="983059" y="4680045"/>
                <a:ext cx="291172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accent1"/>
                    </a:solidFill>
                    <a:latin typeface="Lato" panose="020B0604020202020204" charset="0"/>
                  </a:rPr>
                  <a:t>Size (thousands of logic gates)</a:t>
                </a:r>
              </a:p>
            </p:txBody>
          </p:sp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9E52EBD4-4B04-DC57-CAEA-10EB85B22CAE}"/>
                  </a:ext>
                </a:extLst>
              </p:cNvPr>
              <p:cNvSpPr txBox="1"/>
              <p:nvPr/>
            </p:nvSpPr>
            <p:spPr>
              <a:xfrm>
                <a:off x="372832" y="2001435"/>
                <a:ext cx="122045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chemeClr val="accent1"/>
                    </a:solidFill>
                    <a:latin typeface="Lato" panose="020B0604020202020204" charset="0"/>
                  </a:rPr>
                  <a:t>Accuracy (%)</a:t>
                </a:r>
              </a:p>
            </p:txBody>
          </p:sp>
        </p:grp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923D5A6A-D95E-D7BB-D1AF-14C869FAC9F8}"/>
                </a:ext>
              </a:extLst>
            </p:cNvPr>
            <p:cNvSpPr txBox="1"/>
            <p:nvPr/>
          </p:nvSpPr>
          <p:spPr>
            <a:xfrm>
              <a:off x="585708" y="1604605"/>
              <a:ext cx="341206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dirty="0">
                  <a:solidFill>
                    <a:schemeClr val="accent1"/>
                  </a:solidFill>
                  <a:latin typeface="Lato" panose="020B0604020202020204" charset="0"/>
                </a:rPr>
                <a:t>💥 </a:t>
              </a:r>
              <a:r>
                <a:rPr lang="en-US" dirty="0">
                  <a:solidFill>
                    <a:schemeClr val="accent3"/>
                  </a:solidFill>
                  <a:latin typeface="Lato" panose="020B0604020202020204" charset="0"/>
                </a:rPr>
                <a:t>Not scalable for large computations</a:t>
              </a:r>
              <a:endParaRPr lang="en-US" baseline="30000" dirty="0">
                <a:solidFill>
                  <a:schemeClr val="accent3"/>
                </a:solidFill>
                <a:latin typeface="Lato" panose="020B0604020202020204" charset="0"/>
              </a:endParaRPr>
            </a:p>
          </p:txBody>
        </p:sp>
      </p:grpSp>
      <p:grpSp>
        <p:nvGrpSpPr>
          <p:cNvPr id="9" name="群組 8">
            <a:extLst>
              <a:ext uri="{FF2B5EF4-FFF2-40B4-BE49-F238E27FC236}">
                <a16:creationId xmlns:a16="http://schemas.microsoft.com/office/drawing/2014/main" id="{BAA4EAA8-D2FF-D950-3201-B43CA1A0D275}"/>
              </a:ext>
            </a:extLst>
          </p:cNvPr>
          <p:cNvGrpSpPr/>
          <p:nvPr/>
        </p:nvGrpSpPr>
        <p:grpSpPr>
          <a:xfrm>
            <a:off x="4293110" y="1603553"/>
            <a:ext cx="4243065" cy="3173683"/>
            <a:chOff x="4293110" y="1603553"/>
            <a:chExt cx="4243065" cy="3173683"/>
          </a:xfrm>
        </p:grpSpPr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298FB2AB-88BE-C694-20EA-66B2EF89D56B}"/>
                </a:ext>
              </a:extLst>
            </p:cNvPr>
            <p:cNvSpPr txBox="1"/>
            <p:nvPr/>
          </p:nvSpPr>
          <p:spPr>
            <a:xfrm>
              <a:off x="4427306" y="1976469"/>
              <a:ext cx="4108869" cy="2800767"/>
            </a:xfrm>
            <a:prstGeom prst="rect">
              <a:avLst/>
            </a:prstGeom>
            <a:solidFill>
              <a:srgbClr val="FFF2CC"/>
            </a:solidFill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268BD2"/>
                  </a:solidFill>
                  <a:latin typeface="Consolas" panose="020B0609020204030204" pitchFamily="49" charset="0"/>
                </a:rPr>
                <a:t>_32BitValueToCacheState</a:t>
              </a:r>
              <a:r>
                <a:rPr lang="en-US" sz="1100" dirty="0">
                  <a:solidFill>
                    <a:srgbClr val="657B83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 err="1">
                  <a:solidFill>
                    <a:srgbClr val="657B83"/>
                  </a:solidFill>
                  <a:latin typeface="Consolas" panose="020B0609020204030204" pitchFamily="49" charset="0"/>
                </a:rPr>
                <a:t>C_arch</a:t>
              </a:r>
              <a:r>
                <a:rPr lang="en-US" sz="1100" dirty="0">
                  <a:solidFill>
                    <a:srgbClr val="657B83"/>
                  </a:solidFill>
                  <a:latin typeface="Consolas" panose="020B0609020204030204" pitchFamily="49" charset="0"/>
                </a:rPr>
                <a:t>, C1, </a:t>
              </a:r>
              <a:r>
                <a:rPr lang="en-US" sz="1100" dirty="0">
                  <a:solidFill>
                    <a:srgbClr val="B58900"/>
                  </a:solidFill>
                  <a:latin typeface="Consolas" panose="020B0609020204030204" pitchFamily="49" charset="0"/>
                </a:rPr>
                <a:t>NULL</a:t>
              </a:r>
              <a:r>
                <a:rPr lang="en-US" sz="1100" dirty="0">
                  <a:solidFill>
                    <a:srgbClr val="657B83"/>
                  </a:solidFill>
                  <a:latin typeface="Consolas" panose="020B0609020204030204" pitchFamily="49" charset="0"/>
                </a:rPr>
                <a:t>);</a:t>
              </a:r>
            </a:p>
            <a:p>
              <a:r>
                <a:rPr lang="en-US" sz="1100" dirty="0">
                  <a:solidFill>
                    <a:srgbClr val="268BD2"/>
                  </a:solidFill>
                  <a:latin typeface="Consolas" panose="020B0609020204030204" pitchFamily="49" charset="0"/>
                </a:rPr>
                <a:t>_32BitValueToCacheState</a:t>
              </a:r>
              <a:r>
                <a:rPr lang="en-US" sz="1100" dirty="0">
                  <a:solidFill>
                    <a:srgbClr val="657B83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 err="1">
                  <a:solidFill>
                    <a:srgbClr val="657B83"/>
                  </a:solidFill>
                  <a:latin typeface="Consolas" panose="020B0609020204030204" pitchFamily="49" charset="0"/>
                </a:rPr>
                <a:t>D_arch</a:t>
              </a:r>
              <a:r>
                <a:rPr lang="en-US" sz="1100" dirty="0">
                  <a:solidFill>
                    <a:srgbClr val="657B83"/>
                  </a:solidFill>
                  <a:latin typeface="Consolas" panose="020B0609020204030204" pitchFamily="49" charset="0"/>
                </a:rPr>
                <a:t>, D1, </a:t>
              </a:r>
              <a:r>
                <a:rPr lang="en-US" sz="1100" dirty="0">
                  <a:solidFill>
                    <a:srgbClr val="B58900"/>
                  </a:solidFill>
                  <a:latin typeface="Consolas" panose="020B0609020204030204" pitchFamily="49" charset="0"/>
                </a:rPr>
                <a:t>NULL</a:t>
              </a:r>
              <a:r>
                <a:rPr lang="en-US" sz="1100" dirty="0">
                  <a:solidFill>
                    <a:srgbClr val="657B83"/>
                  </a:solidFill>
                  <a:latin typeface="Consolas" panose="020B0609020204030204" pitchFamily="49" charset="0"/>
                </a:rPr>
                <a:t>);</a:t>
              </a:r>
            </a:p>
            <a:p>
              <a:r>
                <a:rPr lang="en-US" sz="1100" dirty="0">
                  <a:solidFill>
                    <a:srgbClr val="268BD2"/>
                  </a:solidFill>
                  <a:latin typeface="Consolas" panose="020B0609020204030204" pitchFamily="49" charset="0"/>
                </a:rPr>
                <a:t>_32BitValueToCacheState</a:t>
              </a:r>
              <a:r>
                <a:rPr lang="en-US" sz="1100" dirty="0">
                  <a:solidFill>
                    <a:srgbClr val="657B83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 err="1">
                  <a:solidFill>
                    <a:srgbClr val="657B83"/>
                  </a:solidFill>
                  <a:latin typeface="Consolas" panose="020B0609020204030204" pitchFamily="49" charset="0"/>
                </a:rPr>
                <a:t>E_arch</a:t>
              </a:r>
              <a:r>
                <a:rPr lang="en-US" sz="1100" dirty="0">
                  <a:solidFill>
                    <a:srgbClr val="657B83"/>
                  </a:solidFill>
                  <a:latin typeface="Consolas" panose="020B0609020204030204" pitchFamily="49" charset="0"/>
                </a:rPr>
                <a:t>, E, </a:t>
              </a:r>
              <a:r>
                <a:rPr lang="en-US" sz="1100" dirty="0">
                  <a:solidFill>
                    <a:srgbClr val="B58900"/>
                  </a:solidFill>
                  <a:latin typeface="Consolas" panose="020B0609020204030204" pitchFamily="49" charset="0"/>
                </a:rPr>
                <a:t>NULL</a:t>
              </a:r>
              <a:r>
                <a:rPr lang="en-US" sz="1100" dirty="0">
                  <a:solidFill>
                    <a:srgbClr val="657B83"/>
                  </a:solidFill>
                  <a:latin typeface="Consolas" panose="020B0609020204030204" pitchFamily="49" charset="0"/>
                </a:rPr>
                <a:t>);</a:t>
              </a:r>
            </a:p>
            <a:p>
              <a:r>
                <a:rPr lang="en-US" sz="1100" dirty="0">
                  <a:solidFill>
                    <a:srgbClr val="268BD2"/>
                  </a:solidFill>
                  <a:latin typeface="Consolas" panose="020B0609020204030204" pitchFamily="49" charset="0"/>
                </a:rPr>
                <a:t>_32BitValueToCacheState</a:t>
              </a:r>
              <a:r>
                <a:rPr lang="en-US" sz="1100" dirty="0">
                  <a:solidFill>
                    <a:srgbClr val="657B83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>
                  <a:solidFill>
                    <a:srgbClr val="268BD2"/>
                  </a:solidFill>
                  <a:latin typeface="Consolas" panose="020B0609020204030204" pitchFamily="49" charset="0"/>
                </a:rPr>
                <a:t>K</a:t>
              </a:r>
              <a:r>
                <a:rPr lang="en-US" sz="1100" dirty="0">
                  <a:solidFill>
                    <a:srgbClr val="657B83"/>
                  </a:solidFill>
                  <a:latin typeface="Consolas" panose="020B0609020204030204" pitchFamily="49" charset="0"/>
                </a:rPr>
                <a:t>[</a:t>
              </a:r>
              <a:r>
                <a:rPr lang="en-US" sz="1100" dirty="0">
                  <a:solidFill>
                    <a:srgbClr val="D33682"/>
                  </a:solidFill>
                  <a:latin typeface="Consolas" panose="020B0609020204030204" pitchFamily="49" charset="0"/>
                </a:rPr>
                <a:t>0</a:t>
              </a:r>
              <a:r>
                <a:rPr lang="en-US" sz="1100" dirty="0">
                  <a:solidFill>
                    <a:srgbClr val="657B83"/>
                  </a:solidFill>
                  <a:latin typeface="Consolas" panose="020B0609020204030204" pitchFamily="49" charset="0"/>
                </a:rPr>
                <a:t>], K0, </a:t>
              </a:r>
              <a:r>
                <a:rPr lang="en-US" sz="1100" dirty="0">
                  <a:solidFill>
                    <a:srgbClr val="B58900"/>
                  </a:solidFill>
                  <a:latin typeface="Consolas" panose="020B0609020204030204" pitchFamily="49" charset="0"/>
                </a:rPr>
                <a:t>NULL</a:t>
              </a:r>
              <a:r>
                <a:rPr lang="en-US" sz="1100" dirty="0">
                  <a:solidFill>
                    <a:srgbClr val="657B83"/>
                  </a:solidFill>
                  <a:latin typeface="Consolas" panose="020B0609020204030204" pitchFamily="49" charset="0"/>
                </a:rPr>
                <a:t>);</a:t>
              </a:r>
            </a:p>
            <a:p>
              <a:r>
                <a:rPr lang="en-US" sz="1100" dirty="0">
                  <a:solidFill>
                    <a:srgbClr val="268BD2"/>
                  </a:solidFill>
                  <a:latin typeface="Consolas" panose="020B0609020204030204" pitchFamily="49" charset="0"/>
                </a:rPr>
                <a:t>_32BitValueToCacheState</a:t>
              </a:r>
              <a:r>
                <a:rPr lang="en-US" sz="1100" dirty="0">
                  <a:solidFill>
                    <a:srgbClr val="657B83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100" dirty="0" err="1">
                  <a:solidFill>
                    <a:srgbClr val="657B83"/>
                  </a:solidFill>
                  <a:latin typeface="Consolas" panose="020B0609020204030204" pitchFamily="49" charset="0"/>
                </a:rPr>
                <a:t>W_arch</a:t>
              </a:r>
              <a:r>
                <a:rPr lang="en-US" sz="1100" dirty="0">
                  <a:solidFill>
                    <a:srgbClr val="657B83"/>
                  </a:solidFill>
                  <a:latin typeface="Consolas" panose="020B0609020204030204" pitchFamily="49" charset="0"/>
                </a:rPr>
                <a:t>, W, </a:t>
              </a:r>
              <a:r>
                <a:rPr lang="en-US" sz="1100" dirty="0">
                  <a:solidFill>
                    <a:srgbClr val="B58900"/>
                  </a:solidFill>
                  <a:latin typeface="Consolas" panose="020B0609020204030204" pitchFamily="49" charset="0"/>
                </a:rPr>
                <a:t>NULL</a:t>
              </a:r>
              <a:r>
                <a:rPr lang="en-US" sz="1100" dirty="0">
                  <a:solidFill>
                    <a:srgbClr val="657B83"/>
                  </a:solidFill>
                  <a:latin typeface="Consolas" panose="020B0609020204030204" pitchFamily="49" charset="0"/>
                </a:rPr>
                <a:t>);</a:t>
              </a:r>
            </a:p>
            <a:p>
              <a:r>
                <a:rPr lang="en-US" sz="1100" dirty="0" err="1">
                  <a:solidFill>
                    <a:srgbClr val="268BD2"/>
                  </a:solidFill>
                  <a:latin typeface="Consolas" panose="020B0609020204030204" pitchFamily="49" charset="0"/>
                </a:rPr>
                <a:t>LeftShift</a:t>
              </a:r>
              <a:r>
                <a:rPr lang="en-US" sz="1100" dirty="0">
                  <a:solidFill>
                    <a:srgbClr val="657B83"/>
                  </a:solidFill>
                  <a:latin typeface="Consolas" panose="020B0609020204030204" pitchFamily="49" charset="0"/>
                </a:rPr>
                <a:t>(A1, A1, </a:t>
              </a:r>
              <a:r>
                <a:rPr lang="en-US" sz="1100" dirty="0">
                  <a:solidFill>
                    <a:srgbClr val="D33682"/>
                  </a:solidFill>
                  <a:latin typeface="Consolas" panose="020B0609020204030204" pitchFamily="49" charset="0"/>
                </a:rPr>
                <a:t>27</a:t>
              </a:r>
              <a:r>
                <a:rPr lang="en-US" sz="1100" dirty="0">
                  <a:solidFill>
                    <a:srgbClr val="657B83"/>
                  </a:solidFill>
                  <a:latin typeface="Consolas" panose="020B0609020204030204" pitchFamily="49" charset="0"/>
                </a:rPr>
                <a:t>);</a:t>
              </a:r>
            </a:p>
            <a:p>
              <a:r>
                <a:rPr lang="en-US" sz="1100" dirty="0" err="1">
                  <a:solidFill>
                    <a:srgbClr val="268BD2"/>
                  </a:solidFill>
                  <a:latin typeface="Consolas" panose="020B0609020204030204" pitchFamily="49" charset="0"/>
                </a:rPr>
                <a:t>mfence</a:t>
              </a:r>
              <a:r>
                <a:rPr lang="en-US" sz="1100" dirty="0">
                  <a:solidFill>
                    <a:srgbClr val="657B83"/>
                  </a:solidFill>
                  <a:latin typeface="Consolas" panose="020B0609020204030204" pitchFamily="49" charset="0"/>
                </a:rPr>
                <a:t>();</a:t>
              </a:r>
            </a:p>
            <a:p>
              <a:r>
                <a:rPr lang="en-US" sz="1100" dirty="0" err="1">
                  <a:solidFill>
                    <a:srgbClr val="268BD2"/>
                  </a:solidFill>
                  <a:latin typeface="Consolas" panose="020B0609020204030204" pitchFamily="49" charset="0"/>
                </a:rPr>
                <a:t>lfence</a:t>
              </a:r>
              <a:r>
                <a:rPr lang="en-US" sz="1100" dirty="0">
                  <a:solidFill>
                    <a:srgbClr val="657B83"/>
                  </a:solidFill>
                  <a:latin typeface="Consolas" panose="020B0609020204030204" pitchFamily="49" charset="0"/>
                </a:rPr>
                <a:t>();</a:t>
              </a:r>
            </a:p>
            <a:p>
              <a:r>
                <a:rPr lang="en-US" sz="1100" dirty="0">
                  <a:solidFill>
                    <a:srgbClr val="657B83"/>
                  </a:solidFill>
                  <a:latin typeface="Consolas" panose="020B0609020204030204" pitchFamily="49" charset="0"/>
                </a:rPr>
                <a:t>trash </a:t>
              </a:r>
              <a:r>
                <a:rPr lang="en-US" sz="1100" dirty="0">
                  <a:solidFill>
                    <a:srgbClr val="859900"/>
                  </a:solidFill>
                  <a:latin typeface="Consolas" panose="020B0609020204030204" pitchFamily="49" charset="0"/>
                </a:rPr>
                <a:t>=</a:t>
              </a:r>
              <a:r>
                <a:rPr lang="en-US" sz="1100" dirty="0">
                  <a:solidFill>
                    <a:srgbClr val="657B8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>
                  <a:solidFill>
                    <a:srgbClr val="268BD2"/>
                  </a:solidFill>
                  <a:latin typeface="Consolas" panose="020B0609020204030204" pitchFamily="49" charset="0"/>
                </a:rPr>
                <a:t>_32BitAnd</a:t>
              </a:r>
              <a:r>
                <a:rPr lang="en-US" sz="1100" dirty="0">
                  <a:solidFill>
                    <a:srgbClr val="657B83"/>
                  </a:solidFill>
                  <a:latin typeface="Consolas" panose="020B0609020204030204" pitchFamily="49" charset="0"/>
                </a:rPr>
                <a:t>(B1, C1, B_AND_C, trash);</a:t>
              </a:r>
            </a:p>
            <a:p>
              <a:r>
                <a:rPr lang="en-US" sz="1100" dirty="0" err="1">
                  <a:solidFill>
                    <a:srgbClr val="268BD2"/>
                  </a:solidFill>
                  <a:latin typeface="Consolas" panose="020B0609020204030204" pitchFamily="49" charset="0"/>
                </a:rPr>
                <a:t>mfence</a:t>
              </a:r>
              <a:r>
                <a:rPr lang="en-US" sz="1100" dirty="0">
                  <a:solidFill>
                    <a:srgbClr val="657B83"/>
                  </a:solidFill>
                  <a:latin typeface="Consolas" panose="020B0609020204030204" pitchFamily="49" charset="0"/>
                </a:rPr>
                <a:t>();</a:t>
              </a:r>
            </a:p>
            <a:p>
              <a:r>
                <a:rPr lang="en-US" sz="1100" dirty="0" err="1">
                  <a:solidFill>
                    <a:srgbClr val="268BD2"/>
                  </a:solidFill>
                  <a:latin typeface="Consolas" panose="020B0609020204030204" pitchFamily="49" charset="0"/>
                </a:rPr>
                <a:t>lfence</a:t>
              </a:r>
              <a:r>
                <a:rPr lang="en-US" sz="1100" dirty="0">
                  <a:solidFill>
                    <a:srgbClr val="657B83"/>
                  </a:solidFill>
                  <a:latin typeface="Consolas" panose="020B0609020204030204" pitchFamily="49" charset="0"/>
                </a:rPr>
                <a:t>();</a:t>
              </a:r>
            </a:p>
            <a:p>
              <a:r>
                <a:rPr lang="en-US" sz="1100" dirty="0">
                  <a:solidFill>
                    <a:srgbClr val="657B83"/>
                  </a:solidFill>
                  <a:latin typeface="Consolas" panose="020B0609020204030204" pitchFamily="49" charset="0"/>
                </a:rPr>
                <a:t>trash </a:t>
              </a:r>
              <a:r>
                <a:rPr lang="en-US" sz="1100" dirty="0">
                  <a:solidFill>
                    <a:srgbClr val="859900"/>
                  </a:solidFill>
                  <a:latin typeface="Consolas" panose="020B0609020204030204" pitchFamily="49" charset="0"/>
                </a:rPr>
                <a:t>=</a:t>
              </a:r>
              <a:r>
                <a:rPr lang="en-US" sz="1100" dirty="0">
                  <a:solidFill>
                    <a:srgbClr val="657B8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>
                  <a:solidFill>
                    <a:srgbClr val="268BD2"/>
                  </a:solidFill>
                  <a:latin typeface="Consolas" panose="020B0609020204030204" pitchFamily="49" charset="0"/>
                </a:rPr>
                <a:t>_32BitNot</a:t>
              </a:r>
              <a:r>
                <a:rPr lang="en-US" sz="1100" dirty="0">
                  <a:solidFill>
                    <a:srgbClr val="657B83"/>
                  </a:solidFill>
                  <a:latin typeface="Consolas" panose="020B0609020204030204" pitchFamily="49" charset="0"/>
                </a:rPr>
                <a:t>(B2, NOT_B, trash);</a:t>
              </a:r>
            </a:p>
            <a:p>
              <a:r>
                <a:rPr lang="en-US" sz="1100" dirty="0" err="1">
                  <a:solidFill>
                    <a:srgbClr val="268BD2"/>
                  </a:solidFill>
                  <a:latin typeface="Consolas" panose="020B0609020204030204" pitchFamily="49" charset="0"/>
                </a:rPr>
                <a:t>mfence</a:t>
              </a:r>
              <a:r>
                <a:rPr lang="en-US" sz="1100" dirty="0">
                  <a:solidFill>
                    <a:srgbClr val="657B83"/>
                  </a:solidFill>
                  <a:latin typeface="Consolas" panose="020B0609020204030204" pitchFamily="49" charset="0"/>
                </a:rPr>
                <a:t>();</a:t>
              </a:r>
            </a:p>
            <a:p>
              <a:r>
                <a:rPr lang="en-US" sz="1100" dirty="0" err="1">
                  <a:solidFill>
                    <a:srgbClr val="268BD2"/>
                  </a:solidFill>
                  <a:latin typeface="Consolas" panose="020B0609020204030204" pitchFamily="49" charset="0"/>
                </a:rPr>
                <a:t>lfence</a:t>
              </a:r>
              <a:r>
                <a:rPr lang="en-US" sz="1100" dirty="0">
                  <a:solidFill>
                    <a:srgbClr val="657B83"/>
                  </a:solidFill>
                  <a:latin typeface="Consolas" panose="020B0609020204030204" pitchFamily="49" charset="0"/>
                </a:rPr>
                <a:t>();</a:t>
              </a:r>
            </a:p>
            <a:p>
              <a:r>
                <a:rPr lang="en-US" sz="1100" dirty="0">
                  <a:solidFill>
                    <a:srgbClr val="657B83"/>
                  </a:solidFill>
                  <a:latin typeface="Consolas" panose="020B0609020204030204" pitchFamily="49" charset="0"/>
                </a:rPr>
                <a:t>trash </a:t>
              </a:r>
              <a:r>
                <a:rPr lang="en-US" sz="1100" dirty="0">
                  <a:solidFill>
                    <a:srgbClr val="859900"/>
                  </a:solidFill>
                  <a:latin typeface="Consolas" panose="020B0609020204030204" pitchFamily="49" charset="0"/>
                </a:rPr>
                <a:t>=</a:t>
              </a:r>
              <a:r>
                <a:rPr lang="en-US" sz="1100" dirty="0">
                  <a:solidFill>
                    <a:srgbClr val="657B8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100" dirty="0">
                  <a:solidFill>
                    <a:srgbClr val="268BD2"/>
                  </a:solidFill>
                  <a:latin typeface="Consolas" panose="020B0609020204030204" pitchFamily="49" charset="0"/>
                </a:rPr>
                <a:t>_32BitAnd</a:t>
              </a:r>
              <a:r>
                <a:rPr lang="en-US" sz="1100" dirty="0">
                  <a:solidFill>
                    <a:srgbClr val="657B83"/>
                  </a:solidFill>
                  <a:latin typeface="Consolas" panose="020B0609020204030204" pitchFamily="49" charset="0"/>
                </a:rPr>
                <a:t>(NOT_B, D1, NOT_B_AND_D, trash);</a:t>
              </a:r>
              <a:br>
                <a:rPr lang="en-US" sz="1100" dirty="0">
                  <a:solidFill>
                    <a:srgbClr val="657B83"/>
                  </a:solidFill>
                  <a:latin typeface="Consolas" panose="020B0609020204030204" pitchFamily="49" charset="0"/>
                </a:rPr>
              </a:br>
              <a:r>
                <a:rPr lang="en-US" sz="1100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… </a:t>
              </a:r>
              <a:r>
                <a:rPr lang="en-US" sz="1100" i="1" dirty="0">
                  <a:solidFill>
                    <a:srgbClr val="93A1A1"/>
                  </a:solidFill>
                  <a:latin typeface="Consolas" panose="020B0609020204030204" pitchFamily="49" charset="0"/>
                </a:rPr>
                <a:t>// 128 lines in total</a:t>
              </a:r>
              <a:endParaRPr lang="en-US" sz="1100" dirty="0">
                <a:solidFill>
                  <a:srgbClr val="657B83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9D0F0083-1DEF-5CFA-F670-353AF17FD6B7}"/>
                </a:ext>
              </a:extLst>
            </p:cNvPr>
            <p:cNvSpPr txBox="1"/>
            <p:nvPr/>
          </p:nvSpPr>
          <p:spPr>
            <a:xfrm>
              <a:off x="4293110" y="1603553"/>
              <a:ext cx="42430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dirty="0">
                  <a:solidFill>
                    <a:schemeClr val="accent1"/>
                  </a:solidFill>
                  <a:latin typeface="Lato" panose="020B0604020202020204" charset="0"/>
                </a:rPr>
                <a:t>💥 </a:t>
              </a:r>
              <a:r>
                <a:rPr lang="en-US" dirty="0">
                  <a:solidFill>
                    <a:schemeClr val="accent3"/>
                  </a:solidFill>
                  <a:latin typeface="Lato" panose="020B0604020202020204" charset="0"/>
                </a:rPr>
                <a:t>Difficult to create new µWMs</a:t>
              </a:r>
              <a:endParaRPr lang="en-US" baseline="30000" dirty="0">
                <a:solidFill>
                  <a:schemeClr val="accent3"/>
                </a:solidFill>
                <a:latin typeface="Lato" panose="020B0604020202020204" charset="0"/>
              </a:endParaRPr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03DF3E3-3CE7-26CD-4FDD-F14A70CB5EF4}"/>
              </a:ext>
            </a:extLst>
          </p:cNvPr>
          <p:cNvCxnSpPr/>
          <p:nvPr/>
        </p:nvCxnSpPr>
        <p:spPr>
          <a:xfrm>
            <a:off x="4978400" y="2187148"/>
            <a:ext cx="1284514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68599CA-91AF-6916-2749-5320B9D23FCF}"/>
              </a:ext>
            </a:extLst>
          </p:cNvPr>
          <p:cNvCxnSpPr>
            <a:cxnSpLocks/>
          </p:cNvCxnSpPr>
          <p:nvPr/>
        </p:nvCxnSpPr>
        <p:spPr>
          <a:xfrm>
            <a:off x="4521461" y="3028977"/>
            <a:ext cx="696425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AF769B7-A4F2-CE22-405D-30CD0403F9D2}"/>
              </a:ext>
            </a:extLst>
          </p:cNvPr>
          <p:cNvCxnSpPr>
            <a:cxnSpLocks/>
          </p:cNvCxnSpPr>
          <p:nvPr/>
        </p:nvCxnSpPr>
        <p:spPr>
          <a:xfrm>
            <a:off x="5116547" y="3536977"/>
            <a:ext cx="696425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4FD32F4-36B9-8EAF-479E-983A2CE23ECE}"/>
              </a:ext>
            </a:extLst>
          </p:cNvPr>
          <p:cNvCxnSpPr>
            <a:cxnSpLocks/>
          </p:cNvCxnSpPr>
          <p:nvPr/>
        </p:nvCxnSpPr>
        <p:spPr>
          <a:xfrm>
            <a:off x="5116547" y="4037720"/>
            <a:ext cx="696425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94DBC48-344C-1621-AB3A-7A456A742010}"/>
              </a:ext>
            </a:extLst>
          </p:cNvPr>
          <p:cNvCxnSpPr>
            <a:cxnSpLocks/>
          </p:cNvCxnSpPr>
          <p:nvPr/>
        </p:nvCxnSpPr>
        <p:spPr>
          <a:xfrm>
            <a:off x="4514204" y="4211891"/>
            <a:ext cx="696425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65ED374-290A-9795-CCD1-7A0BABEE000D}"/>
              </a:ext>
            </a:extLst>
          </p:cNvPr>
          <p:cNvCxnSpPr>
            <a:cxnSpLocks/>
          </p:cNvCxnSpPr>
          <p:nvPr/>
        </p:nvCxnSpPr>
        <p:spPr>
          <a:xfrm>
            <a:off x="4521461" y="4386062"/>
            <a:ext cx="696425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8088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D45A3-F06B-A8D6-4C87-DE333C3AD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774" y="780125"/>
            <a:ext cx="8216339" cy="535200"/>
          </a:xfrm>
        </p:spPr>
        <p:txBody>
          <a:bodyPr/>
          <a:lstStyle/>
          <a:p>
            <a:r>
              <a:rPr lang="en-US" dirty="0"/>
              <a:t>Our work: </a:t>
            </a:r>
            <a:r>
              <a:rPr lang="en-US" altLang="zh-TW" dirty="0"/>
              <a:t>Flexo and Transient Arch Execution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4A8F5F-53CF-47A4-C5A8-FC25C36B8F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5</a:t>
            </a:fld>
            <a:endParaRPr lang="zh-TW" altLang="en-US"/>
          </a:p>
        </p:txBody>
      </p:sp>
      <p:sp>
        <p:nvSpPr>
          <p:cNvPr id="13" name="文字方塊 10">
            <a:extLst>
              <a:ext uri="{FF2B5EF4-FFF2-40B4-BE49-F238E27FC236}">
                <a16:creationId xmlns:a16="http://schemas.microsoft.com/office/drawing/2014/main" id="{04D2E41F-9E82-1551-7349-935B766E6449}"/>
              </a:ext>
            </a:extLst>
          </p:cNvPr>
          <p:cNvSpPr txBox="1"/>
          <p:nvPr/>
        </p:nvSpPr>
        <p:spPr>
          <a:xfrm>
            <a:off x="0" y="4859675"/>
            <a:ext cx="15604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  <a:latin typeface="Lato" panose="020B0604020202020204" charset="0"/>
              </a:rPr>
              <a:t>Credit: irasutoya.com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C4C89D8-3E46-F8D6-7272-2E9CF336EA45}"/>
              </a:ext>
            </a:extLst>
          </p:cNvPr>
          <p:cNvGrpSpPr/>
          <p:nvPr/>
        </p:nvGrpSpPr>
        <p:grpSpPr>
          <a:xfrm>
            <a:off x="224625" y="1630937"/>
            <a:ext cx="1915803" cy="2159545"/>
            <a:chOff x="389725" y="1630937"/>
            <a:chExt cx="1915803" cy="2159545"/>
          </a:xfrm>
        </p:grpSpPr>
        <p:pic>
          <p:nvPicPr>
            <p:cNvPr id="5" name="Picture 4" descr="空のダンボール箱のイラスト">
              <a:extLst>
                <a:ext uri="{FF2B5EF4-FFF2-40B4-BE49-F238E27FC236}">
                  <a16:creationId xmlns:a16="http://schemas.microsoft.com/office/drawing/2014/main" id="{6BD324C8-DFF7-84BB-11A0-AE13BB9E80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9725" y="2497011"/>
              <a:ext cx="1914677" cy="12934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1E2C540E-35A9-210E-7DBA-488B43DDC7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5391" y="1630937"/>
              <a:ext cx="1420462" cy="17321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0A3FC8D-D49A-A244-9185-1C39BDFCF327}"/>
                </a:ext>
              </a:extLst>
            </p:cNvPr>
            <p:cNvGrpSpPr/>
            <p:nvPr/>
          </p:nvGrpSpPr>
          <p:grpSpPr>
            <a:xfrm>
              <a:off x="389726" y="2497010"/>
              <a:ext cx="1915802" cy="1293472"/>
              <a:chOff x="535776" y="2497010"/>
              <a:chExt cx="1915802" cy="1293472"/>
            </a:xfrm>
          </p:grpSpPr>
          <p:pic>
            <p:nvPicPr>
              <p:cNvPr id="7" name="圖片 11" descr="一張含有 米色 的圖片&#10;&#10;自動產生的描述">
                <a:extLst>
                  <a:ext uri="{FF2B5EF4-FFF2-40B4-BE49-F238E27FC236}">
                    <a16:creationId xmlns:a16="http://schemas.microsoft.com/office/drawing/2014/main" id="{F4AE4D99-32ED-15EF-F8EA-27B156ACAF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5776" y="2497010"/>
                <a:ext cx="1915802" cy="1293472"/>
              </a:xfrm>
              <a:prstGeom prst="rect">
                <a:avLst/>
              </a:prstGeom>
            </p:spPr>
          </p:pic>
          <p:sp>
            <p:nvSpPr>
              <p:cNvPr id="14" name="文字方塊 14">
                <a:extLst>
                  <a:ext uri="{FF2B5EF4-FFF2-40B4-BE49-F238E27FC236}">
                    <a16:creationId xmlns:a16="http://schemas.microsoft.com/office/drawing/2014/main" id="{77B5B797-0162-908B-49ED-EA5DE1BFA49D}"/>
                  </a:ext>
                </a:extLst>
              </p:cNvPr>
              <p:cNvSpPr txBox="1"/>
              <p:nvPr/>
            </p:nvSpPr>
            <p:spPr>
              <a:xfrm rot="162115">
                <a:off x="730661" y="3132244"/>
                <a:ext cx="11328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chemeClr val="bg2"/>
                    </a:solidFill>
                    <a:latin typeface="Consolas" panose="020B0609020204030204" pitchFamily="49" charset="0"/>
                  </a:rPr>
                  <a:t>ISA</a:t>
                </a:r>
              </a:p>
            </p:txBody>
          </p: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619950A-171B-FA55-D828-F2098BF9DD22}"/>
              </a:ext>
            </a:extLst>
          </p:cNvPr>
          <p:cNvGrpSpPr/>
          <p:nvPr/>
        </p:nvGrpSpPr>
        <p:grpSpPr>
          <a:xfrm>
            <a:off x="4488652" y="1679574"/>
            <a:ext cx="1915803" cy="2110908"/>
            <a:chOff x="4236699" y="1679574"/>
            <a:chExt cx="1915803" cy="2110908"/>
          </a:xfrm>
        </p:grpSpPr>
        <p:pic>
          <p:nvPicPr>
            <p:cNvPr id="12" name="Picture 11" descr="空のダンボール箱のイラスト">
              <a:extLst>
                <a:ext uri="{FF2B5EF4-FFF2-40B4-BE49-F238E27FC236}">
                  <a16:creationId xmlns:a16="http://schemas.microsoft.com/office/drawing/2014/main" id="{EB5A0ED8-AB93-7A01-CD1C-9D9759323A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37825" y="2497011"/>
              <a:ext cx="1914677" cy="12934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E1C5260-A6EB-28A7-990B-47B2F997254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b="32847"/>
            <a:stretch>
              <a:fillRect/>
            </a:stretch>
          </p:blipFill>
          <p:spPr>
            <a:xfrm>
              <a:off x="4463877" y="1679574"/>
              <a:ext cx="1461445" cy="1323975"/>
            </a:xfrm>
            <a:prstGeom prst="rect">
              <a:avLst/>
            </a:prstGeom>
          </p:spPr>
        </p:pic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176CF8C-BC43-F4F2-5E8E-807178F52FEE}"/>
                </a:ext>
              </a:extLst>
            </p:cNvPr>
            <p:cNvGrpSpPr/>
            <p:nvPr/>
          </p:nvGrpSpPr>
          <p:grpSpPr>
            <a:xfrm>
              <a:off x="4236699" y="2497007"/>
              <a:ext cx="1915802" cy="1293472"/>
              <a:chOff x="535776" y="2497010"/>
              <a:chExt cx="1915802" cy="1293472"/>
            </a:xfrm>
          </p:grpSpPr>
          <p:pic>
            <p:nvPicPr>
              <p:cNvPr id="18" name="圖片 11" descr="一張含有 米色 的圖片&#10;&#10;自動產生的描述">
                <a:extLst>
                  <a:ext uri="{FF2B5EF4-FFF2-40B4-BE49-F238E27FC236}">
                    <a16:creationId xmlns:a16="http://schemas.microsoft.com/office/drawing/2014/main" id="{98AF8DE2-9B1D-4F5C-6111-B0FACD51E6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5776" y="2497010"/>
                <a:ext cx="1915802" cy="1293472"/>
              </a:xfrm>
              <a:prstGeom prst="rect">
                <a:avLst/>
              </a:prstGeom>
            </p:spPr>
          </p:pic>
          <p:sp>
            <p:nvSpPr>
              <p:cNvPr id="19" name="文字方塊 14">
                <a:extLst>
                  <a:ext uri="{FF2B5EF4-FFF2-40B4-BE49-F238E27FC236}">
                    <a16:creationId xmlns:a16="http://schemas.microsoft.com/office/drawing/2014/main" id="{8B892900-ADC7-20B1-320E-907C144FFDEA}"/>
                  </a:ext>
                </a:extLst>
              </p:cNvPr>
              <p:cNvSpPr txBox="1"/>
              <p:nvPr/>
            </p:nvSpPr>
            <p:spPr>
              <a:xfrm rot="162115">
                <a:off x="730661" y="3132244"/>
                <a:ext cx="11328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chemeClr val="bg2"/>
                    </a:solidFill>
                    <a:latin typeface="Consolas" panose="020B0609020204030204" pitchFamily="49" charset="0"/>
                  </a:rPr>
                  <a:t>ISA</a:t>
                </a:r>
              </a:p>
            </p:txBody>
          </p:sp>
        </p:grpSp>
      </p:grpSp>
      <p:sp>
        <p:nvSpPr>
          <p:cNvPr id="21" name="文字方塊 13">
            <a:extLst>
              <a:ext uri="{FF2B5EF4-FFF2-40B4-BE49-F238E27FC236}">
                <a16:creationId xmlns:a16="http://schemas.microsoft.com/office/drawing/2014/main" id="{B5C404CA-07D6-E2CB-D3F6-A880A43B5010}"/>
              </a:ext>
            </a:extLst>
          </p:cNvPr>
          <p:cNvSpPr txBox="1"/>
          <p:nvPr/>
        </p:nvSpPr>
        <p:spPr>
          <a:xfrm>
            <a:off x="2053557" y="2343120"/>
            <a:ext cx="2501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chemeClr val="bg2"/>
                </a:solidFill>
                <a:latin typeface="Lato" panose="020B0604020202020204" charset="0"/>
              </a:rPr>
              <a:t>✨ Improved construction!</a:t>
            </a:r>
          </a:p>
        </p:txBody>
      </p:sp>
      <p:sp>
        <p:nvSpPr>
          <p:cNvPr id="24" name="文字方塊 14">
            <a:extLst>
              <a:ext uri="{FF2B5EF4-FFF2-40B4-BE49-F238E27FC236}">
                <a16:creationId xmlns:a16="http://schemas.microsoft.com/office/drawing/2014/main" id="{210D6F73-7032-A386-45E2-E41E27C26637}"/>
              </a:ext>
            </a:extLst>
          </p:cNvPr>
          <p:cNvSpPr txBox="1"/>
          <p:nvPr/>
        </p:nvSpPr>
        <p:spPr>
          <a:xfrm>
            <a:off x="2053557" y="2650483"/>
            <a:ext cx="21648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chemeClr val="bg2"/>
                </a:solidFill>
                <a:latin typeface="Lato" panose="020B0604020202020204" charset="0"/>
              </a:rPr>
              <a:t>✨ Compiler for μWMs!</a:t>
            </a:r>
          </a:p>
        </p:txBody>
      </p:sp>
      <p:sp>
        <p:nvSpPr>
          <p:cNvPr id="31" name="文字方塊 5">
            <a:extLst>
              <a:ext uri="{FF2B5EF4-FFF2-40B4-BE49-F238E27FC236}">
                <a16:creationId xmlns:a16="http://schemas.microsoft.com/office/drawing/2014/main" id="{DC73705E-BA80-2E36-28CB-32E8188AF9D8}"/>
              </a:ext>
            </a:extLst>
          </p:cNvPr>
          <p:cNvSpPr txBox="1"/>
          <p:nvPr/>
        </p:nvSpPr>
        <p:spPr>
          <a:xfrm>
            <a:off x="2053557" y="2957432"/>
            <a:ext cx="22161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chemeClr val="bg2"/>
                </a:solidFill>
                <a:latin typeface="Lato" panose="020B0604020202020204" charset="0"/>
              </a:rPr>
              <a:t>✨ μWM binary packer!</a:t>
            </a:r>
          </a:p>
        </p:txBody>
      </p:sp>
      <p:sp>
        <p:nvSpPr>
          <p:cNvPr id="32" name="文字方塊 13">
            <a:extLst>
              <a:ext uri="{FF2B5EF4-FFF2-40B4-BE49-F238E27FC236}">
                <a16:creationId xmlns:a16="http://schemas.microsoft.com/office/drawing/2014/main" id="{3C648176-D404-AF47-2C4D-9BE9E6906344}"/>
              </a:ext>
            </a:extLst>
          </p:cNvPr>
          <p:cNvSpPr txBox="1"/>
          <p:nvPr/>
        </p:nvSpPr>
        <p:spPr>
          <a:xfrm>
            <a:off x="6363395" y="2365345"/>
            <a:ext cx="27443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chemeClr val="bg2"/>
                </a:solidFill>
                <a:latin typeface="Lato" panose="020B0604020202020204" charset="0"/>
              </a:rPr>
              <a:t>✨ New μWM: weird programs!</a:t>
            </a:r>
          </a:p>
        </p:txBody>
      </p:sp>
      <p:sp>
        <p:nvSpPr>
          <p:cNvPr id="33" name="文字方塊 14">
            <a:extLst>
              <a:ext uri="{FF2B5EF4-FFF2-40B4-BE49-F238E27FC236}">
                <a16:creationId xmlns:a16="http://schemas.microsoft.com/office/drawing/2014/main" id="{E83891AF-333E-7DDF-CC83-DC7B0B93C800}"/>
              </a:ext>
            </a:extLst>
          </p:cNvPr>
          <p:cNvSpPr txBox="1"/>
          <p:nvPr/>
        </p:nvSpPr>
        <p:spPr>
          <a:xfrm>
            <a:off x="6363395" y="2672708"/>
            <a:ext cx="21648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chemeClr val="bg2"/>
                </a:solidFill>
                <a:latin typeface="Lato" panose="020B0604020202020204" charset="0"/>
              </a:rPr>
              <a:t>✨ Large state storage!</a:t>
            </a:r>
          </a:p>
        </p:txBody>
      </p:sp>
      <p:sp>
        <p:nvSpPr>
          <p:cNvPr id="34" name="文字方塊 5">
            <a:extLst>
              <a:ext uri="{FF2B5EF4-FFF2-40B4-BE49-F238E27FC236}">
                <a16:creationId xmlns:a16="http://schemas.microsoft.com/office/drawing/2014/main" id="{D9A125DD-6B61-64F4-A203-6B553EA4A3D2}"/>
              </a:ext>
            </a:extLst>
          </p:cNvPr>
          <p:cNvSpPr txBox="1"/>
          <p:nvPr/>
        </p:nvSpPr>
        <p:spPr>
          <a:xfrm>
            <a:off x="6363395" y="2979657"/>
            <a:ext cx="22161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chemeClr val="bg2"/>
                </a:solidFill>
                <a:latin typeface="Lato" panose="020B0604020202020204" charset="0"/>
              </a:rPr>
              <a:t>✨ 543× speedup!</a:t>
            </a:r>
          </a:p>
        </p:txBody>
      </p:sp>
      <p:sp>
        <p:nvSpPr>
          <p:cNvPr id="35" name="文字方塊 26">
            <a:extLst>
              <a:ext uri="{FF2B5EF4-FFF2-40B4-BE49-F238E27FC236}">
                <a16:creationId xmlns:a16="http://schemas.microsoft.com/office/drawing/2014/main" id="{9BCD9F24-FBB1-138C-C11A-F3DAD49138D6}"/>
              </a:ext>
            </a:extLst>
          </p:cNvPr>
          <p:cNvSpPr txBox="1"/>
          <p:nvPr/>
        </p:nvSpPr>
        <p:spPr>
          <a:xfrm>
            <a:off x="2097920" y="1999882"/>
            <a:ext cx="24380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>
                <a:solidFill>
                  <a:schemeClr val="bg2"/>
                </a:solidFill>
                <a:latin typeface="Lato" panose="020B0604020202020204" charset="0"/>
              </a:rPr>
              <a:t>Flexo</a:t>
            </a:r>
          </a:p>
        </p:txBody>
      </p:sp>
      <p:sp>
        <p:nvSpPr>
          <p:cNvPr id="36" name="文字方塊 26">
            <a:extLst>
              <a:ext uri="{FF2B5EF4-FFF2-40B4-BE49-F238E27FC236}">
                <a16:creationId xmlns:a16="http://schemas.microsoft.com/office/drawing/2014/main" id="{96100EFE-8F6F-FD30-BD60-348CAE2BD995}"/>
              </a:ext>
            </a:extLst>
          </p:cNvPr>
          <p:cNvSpPr txBox="1"/>
          <p:nvPr/>
        </p:nvSpPr>
        <p:spPr>
          <a:xfrm>
            <a:off x="6388813" y="1999261"/>
            <a:ext cx="24380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>
                <a:solidFill>
                  <a:schemeClr val="bg2"/>
                </a:solidFill>
                <a:latin typeface="Lato" panose="020B0604020202020204" charset="0"/>
              </a:rPr>
              <a:t>Transient Arch Execution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258D80C-6077-98E9-F92C-703A2BFC8307}"/>
              </a:ext>
            </a:extLst>
          </p:cNvPr>
          <p:cNvSpPr txBox="1"/>
          <p:nvPr/>
        </p:nvSpPr>
        <p:spPr>
          <a:xfrm>
            <a:off x="409259" y="3829050"/>
            <a:ext cx="3619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chemeClr val="accent1"/>
                </a:solidFill>
                <a:latin typeface="Lato" panose="020B0604020202020204" charset="0"/>
              </a:rPr>
              <a:t>Bending microarchitectural weird machines towards practicality [USENIX Security 24]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8914794-7EEC-53E1-78D1-45B52A78E701}"/>
              </a:ext>
            </a:extLst>
          </p:cNvPr>
          <p:cNvSpPr txBox="1"/>
          <p:nvPr/>
        </p:nvSpPr>
        <p:spPr>
          <a:xfrm>
            <a:off x="4715830" y="3829050"/>
            <a:ext cx="37995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chemeClr val="accent1"/>
                </a:solidFill>
                <a:latin typeface="Lato" panose="020B0604020202020204" charset="0"/>
              </a:rPr>
              <a:t>Transient architectural execution:</a:t>
            </a:r>
          </a:p>
          <a:p>
            <a:pPr algn="l"/>
            <a:r>
              <a:rPr lang="en-US" dirty="0">
                <a:solidFill>
                  <a:schemeClr val="accent1"/>
                </a:solidFill>
                <a:latin typeface="Lato" panose="020B0604020202020204" charset="0"/>
              </a:rPr>
              <a:t>from weird gates to weird programs [SP 26]</a:t>
            </a:r>
          </a:p>
        </p:txBody>
      </p:sp>
    </p:spTree>
    <p:extLst>
      <p:ext uri="{BB962C8B-B14F-4D97-AF65-F5344CB8AC3E}">
        <p14:creationId xmlns:p14="http://schemas.microsoft.com/office/powerpoint/2010/main" val="4287929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1" grpId="0"/>
      <p:bldP spid="24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38CE0-E739-A5ED-1894-DB8C4F5D0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3D2D9-94AB-9EC7-C0C3-8A567AB79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450" y="1757402"/>
            <a:ext cx="7688400" cy="1244700"/>
          </a:xfrm>
        </p:spPr>
        <p:txBody>
          <a:bodyPr/>
          <a:lstStyle/>
          <a:p>
            <a:r>
              <a:rPr lang="en-US" sz="5400" dirty="0"/>
              <a:t>Background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FF20A2-8A60-23EE-418E-2F518B895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49" y="3267182"/>
            <a:ext cx="8027557" cy="586106"/>
          </a:xfrm>
        </p:spPr>
        <p:txBody>
          <a:bodyPr lIns="0"/>
          <a:lstStyle/>
          <a:p>
            <a:pPr marL="146050" indent="0">
              <a:buNone/>
            </a:pPr>
            <a:r>
              <a:rPr lang="en-US" sz="2400" dirty="0" err="1"/>
              <a:t>μWMs</a:t>
            </a:r>
            <a:r>
              <a:rPr lang="en-US" sz="2400" dirty="0"/>
              <a:t> and weird computation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7A0420-9368-2EEA-DA3C-8FAF91BB4A1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3322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8937CFC3-77BA-F15E-BBBD-337528AD77F0}"/>
              </a:ext>
            </a:extLst>
          </p:cNvPr>
          <p:cNvGrpSpPr/>
          <p:nvPr/>
        </p:nvGrpSpPr>
        <p:grpSpPr>
          <a:xfrm>
            <a:off x="5017603" y="1784350"/>
            <a:ext cx="3352796" cy="2536825"/>
            <a:chOff x="5017603" y="1784350"/>
            <a:chExt cx="3352796" cy="2536825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591DE82-066E-BD27-6455-EFBF94749622}"/>
                </a:ext>
              </a:extLst>
            </p:cNvPr>
            <p:cNvSpPr/>
            <p:nvPr/>
          </p:nvSpPr>
          <p:spPr>
            <a:xfrm>
              <a:off x="5017605" y="1784350"/>
              <a:ext cx="3352793" cy="93662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6DF4627-4FE7-53D3-5CA9-34A86D43E7F4}"/>
                </a:ext>
              </a:extLst>
            </p:cNvPr>
            <p:cNvSpPr txBox="1"/>
            <p:nvPr/>
          </p:nvSpPr>
          <p:spPr>
            <a:xfrm>
              <a:off x="6087579" y="1784350"/>
              <a:ext cx="2282820" cy="936625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l"/>
              <a:r>
                <a:rPr lang="en-US" altLang="zh-TW" sz="1600" b="1" dirty="0">
                  <a:solidFill>
                    <a:schemeClr val="bg1"/>
                  </a:solidFill>
                  <a:latin typeface="Lato" panose="020B0604020202020204" charset="0"/>
                </a:rPr>
                <a:t>Microarchitectural “Weird” Computation</a:t>
              </a:r>
              <a:endParaRPr lang="en-US" sz="1600" b="1" dirty="0">
                <a:solidFill>
                  <a:schemeClr val="bg1"/>
                </a:solidFill>
                <a:latin typeface="Lato" panose="020B060402020202020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FE3B8EC-638B-1A89-E8CF-A3D9A2E2BA00}"/>
                </a:ext>
              </a:extLst>
            </p:cNvPr>
            <p:cNvSpPr/>
            <p:nvPr/>
          </p:nvSpPr>
          <p:spPr>
            <a:xfrm>
              <a:off x="5017603" y="2720975"/>
              <a:ext cx="3352795" cy="1600200"/>
            </a:xfrm>
            <a:prstGeom prst="rect">
              <a:avLst/>
            </a:prstGeom>
            <a:solidFill>
              <a:srgbClr val="FFECE1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6F73AB04-855C-FCCC-ED6A-5046E61C51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8218" t="1440" r="18599" b="54162"/>
            <a:stretch>
              <a:fillRect/>
            </a:stretch>
          </p:blipFill>
          <p:spPr>
            <a:xfrm>
              <a:off x="5131900" y="1838914"/>
              <a:ext cx="898527" cy="77000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CBD2670-659B-EE4B-AA59-C6AC2AC18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</a:t>
            </a:r>
            <a:r>
              <a:rPr lang="en-US" altLang="zh-TW" dirty="0">
                <a:solidFill>
                  <a:schemeClr val="tx1"/>
                </a:solidFill>
              </a:rPr>
              <a:t>Arch</a:t>
            </a:r>
            <a:r>
              <a:rPr lang="en-US" dirty="0"/>
              <a:t> to </a:t>
            </a:r>
            <a:r>
              <a:rPr lang="en-US" dirty="0">
                <a:solidFill>
                  <a:schemeClr val="accent3"/>
                </a:solidFill>
              </a:rPr>
              <a:t>μArch “weird” computation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626E73-D65A-2B47-9A22-20EECA3CFD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7</a:t>
            </a:fld>
            <a:endParaRPr lang="zh-TW" alt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4E13B80-DD33-2E11-7606-9FE2FA2460F3}"/>
              </a:ext>
            </a:extLst>
          </p:cNvPr>
          <p:cNvGrpSpPr/>
          <p:nvPr/>
        </p:nvGrpSpPr>
        <p:grpSpPr>
          <a:xfrm>
            <a:off x="650873" y="1784350"/>
            <a:ext cx="2790827" cy="2536825"/>
            <a:chOff x="650873" y="1784350"/>
            <a:chExt cx="2790827" cy="253682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F90B32F-CAE6-3CBC-070E-C0B7419EA713}"/>
                </a:ext>
              </a:extLst>
            </p:cNvPr>
            <p:cNvSpPr/>
            <p:nvPr/>
          </p:nvSpPr>
          <p:spPr>
            <a:xfrm>
              <a:off x="650875" y="1784350"/>
              <a:ext cx="2790825" cy="93662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26" name="Picture 2" descr="CPUのイラスト（コンピューター）">
              <a:extLst>
                <a:ext uri="{FF2B5EF4-FFF2-40B4-BE49-F238E27FC236}">
                  <a16:creationId xmlns:a16="http://schemas.microsoft.com/office/drawing/2014/main" id="{C6312F68-16F6-189C-D747-0B374D6386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416538">
              <a:off x="727075" y="1847057"/>
              <a:ext cx="983789" cy="8485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B7B05A7-9E8D-6E44-F753-6CEDA9375C84}"/>
                </a:ext>
              </a:extLst>
            </p:cNvPr>
            <p:cNvSpPr txBox="1"/>
            <p:nvPr/>
          </p:nvSpPr>
          <p:spPr>
            <a:xfrm>
              <a:off x="1720849" y="1784350"/>
              <a:ext cx="1584325" cy="936625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l"/>
              <a:r>
                <a:rPr lang="en-US" altLang="zh-TW" sz="1600" b="1" dirty="0">
                  <a:solidFill>
                    <a:schemeClr val="bg1"/>
                  </a:solidFill>
                  <a:latin typeface="Lato" panose="020B0604020202020204" charset="0"/>
                </a:rPr>
                <a:t>Architectural Computation</a:t>
              </a:r>
              <a:endParaRPr lang="en-US" sz="1600" b="1" dirty="0">
                <a:solidFill>
                  <a:schemeClr val="bg1"/>
                </a:solidFill>
                <a:latin typeface="Lato" panose="020B060402020202020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FF3B263-412E-1B7E-1809-639D557A4238}"/>
                </a:ext>
              </a:extLst>
            </p:cNvPr>
            <p:cNvSpPr/>
            <p:nvPr/>
          </p:nvSpPr>
          <p:spPr>
            <a:xfrm>
              <a:off x="650873" y="2720975"/>
              <a:ext cx="2790825" cy="1600200"/>
            </a:xfrm>
            <a:prstGeom prst="rect">
              <a:avLst/>
            </a:prstGeom>
            <a:solidFill>
              <a:srgbClr val="E7EFED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0B56705-4342-697C-7941-5E70760C273E}"/>
                </a:ext>
              </a:extLst>
            </p:cNvPr>
            <p:cNvSpPr txBox="1"/>
            <p:nvPr/>
          </p:nvSpPr>
          <p:spPr>
            <a:xfrm>
              <a:off x="650873" y="2813255"/>
              <a:ext cx="4254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dirty="0">
                  <a:latin typeface="Lato" panose="020B0604020202020204" charset="0"/>
                </a:rPr>
                <a:t>✅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195CAF1-67FA-A557-2E63-6D31495C34F7}"/>
                </a:ext>
              </a:extLst>
            </p:cNvPr>
            <p:cNvSpPr txBox="1"/>
            <p:nvPr/>
          </p:nvSpPr>
          <p:spPr>
            <a:xfrm>
              <a:off x="1044573" y="2813173"/>
              <a:ext cx="23971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latin typeface="Lato" panose="020B0604020202020204" charset="0"/>
                </a:rPr>
                <a:t>State: registers and memory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505F585-5970-881E-26EA-ED5D392871D7}"/>
                </a:ext>
              </a:extLst>
            </p:cNvPr>
            <p:cNvSpPr txBox="1"/>
            <p:nvPr/>
          </p:nvSpPr>
          <p:spPr>
            <a:xfrm>
              <a:off x="1044573" y="3015144"/>
              <a:ext cx="20097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Architecturally visible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2693EB5-712E-DF0D-5A17-8881D5B0045F}"/>
                </a:ext>
              </a:extLst>
            </p:cNvPr>
            <p:cNvSpPr txBox="1"/>
            <p:nvPr/>
          </p:nvSpPr>
          <p:spPr>
            <a:xfrm>
              <a:off x="650873" y="3557614"/>
              <a:ext cx="4254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dirty="0">
                  <a:latin typeface="Lato" panose="020B0604020202020204" charset="0"/>
                </a:rPr>
                <a:t>✅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811B5C5-E373-06CE-C118-F15C53FBCDE0}"/>
                </a:ext>
              </a:extLst>
            </p:cNvPr>
            <p:cNvSpPr txBox="1"/>
            <p:nvPr/>
          </p:nvSpPr>
          <p:spPr>
            <a:xfrm>
              <a:off x="1044572" y="3564970"/>
              <a:ext cx="239712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latin typeface="Lato" panose="020B0604020202020204" charset="0"/>
                </a:rPr>
                <a:t>Compute: ISA instructions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5C2481A-8D03-CC88-8024-971F46F86612}"/>
                </a:ext>
              </a:extLst>
            </p:cNvPr>
            <p:cNvSpPr txBox="1"/>
            <p:nvPr/>
          </p:nvSpPr>
          <p:spPr>
            <a:xfrm>
              <a:off x="1044574" y="3786528"/>
              <a:ext cx="20097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ADD, AND, MOV, JMP</a:t>
              </a:r>
            </a:p>
          </p:txBody>
        </p:sp>
      </p:grp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AB7C5BD1-800C-5F38-C4FC-9E94F0588D6F}"/>
              </a:ext>
            </a:extLst>
          </p:cNvPr>
          <p:cNvSpPr/>
          <p:nvPr/>
        </p:nvSpPr>
        <p:spPr>
          <a:xfrm>
            <a:off x="3784597" y="2882029"/>
            <a:ext cx="768350" cy="478005"/>
          </a:xfrm>
          <a:prstGeom prst="rightArrow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4608661-B829-B008-9D4A-0058B09006AF}"/>
              </a:ext>
            </a:extLst>
          </p:cNvPr>
          <p:cNvGrpSpPr/>
          <p:nvPr/>
        </p:nvGrpSpPr>
        <p:grpSpPr>
          <a:xfrm>
            <a:off x="5017603" y="2813173"/>
            <a:ext cx="3475524" cy="663636"/>
            <a:chOff x="5017603" y="2813173"/>
            <a:chExt cx="3475524" cy="663636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4214122-008E-E581-4260-EEC6FFCCA000}"/>
                </a:ext>
              </a:extLst>
            </p:cNvPr>
            <p:cNvSpPr txBox="1"/>
            <p:nvPr/>
          </p:nvSpPr>
          <p:spPr>
            <a:xfrm>
              <a:off x="5017603" y="2813255"/>
              <a:ext cx="4254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dirty="0">
                  <a:latin typeface="Lato" panose="020B0604020202020204" charset="0"/>
                </a:rPr>
                <a:t>🔥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48DE858-0113-18DF-1863-7FAA7AE119BD}"/>
                </a:ext>
              </a:extLst>
            </p:cNvPr>
            <p:cNvSpPr txBox="1"/>
            <p:nvPr/>
          </p:nvSpPr>
          <p:spPr>
            <a:xfrm>
              <a:off x="5411303" y="2813173"/>
              <a:ext cx="30818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latin typeface="Lato" panose="020B0604020202020204" charset="0"/>
                </a:rPr>
                <a:t>State: </a:t>
              </a:r>
              <a:r>
                <a:rPr lang="en-US" sz="1200" b="1" dirty="0">
                  <a:solidFill>
                    <a:schemeClr val="accent3"/>
                  </a:solidFill>
                  <a:latin typeface="Lato" panose="020B0604020202020204" charset="0"/>
                </a:rPr>
                <a:t>“weird” registers</a:t>
              </a:r>
              <a:r>
                <a:rPr lang="en-US" sz="1200" b="1" dirty="0">
                  <a:latin typeface="Lato" panose="020B0604020202020204" charset="0"/>
                </a:rPr>
                <a:t> using μArch state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3B968FE-CE19-7F3E-8C8F-67F010DC0D46}"/>
                </a:ext>
              </a:extLst>
            </p:cNvPr>
            <p:cNvSpPr txBox="1"/>
            <p:nvPr/>
          </p:nvSpPr>
          <p:spPr>
            <a:xfrm>
              <a:off x="5411303" y="3015144"/>
              <a:ext cx="2921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Cached = 1</a:t>
              </a:r>
            </a:p>
            <a:p>
              <a:r>
                <a:rPr lang="en-US" sz="1200" dirty="0">
                  <a:solidFill>
                    <a:schemeClr val="accent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Not cached = 0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CE78A2D-AF23-4DC5-4BC4-10A18CA0E0FA}"/>
              </a:ext>
            </a:extLst>
          </p:cNvPr>
          <p:cNvGrpSpPr/>
          <p:nvPr/>
        </p:nvGrpSpPr>
        <p:grpSpPr>
          <a:xfrm>
            <a:off x="5017603" y="3557614"/>
            <a:ext cx="3352796" cy="690579"/>
            <a:chOff x="5017603" y="3557614"/>
            <a:chExt cx="3352796" cy="690579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F2DD90C-AD64-70B6-B518-6550F4412CD1}"/>
                </a:ext>
              </a:extLst>
            </p:cNvPr>
            <p:cNvSpPr txBox="1"/>
            <p:nvPr/>
          </p:nvSpPr>
          <p:spPr>
            <a:xfrm>
              <a:off x="5017603" y="3557614"/>
              <a:ext cx="4254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Lato" panose="020B0604020202020204" charset="0"/>
                </a:rPr>
                <a:t>🔥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483B69D-F7B2-2B51-6F94-4BCADDC84357}"/>
                </a:ext>
              </a:extLst>
            </p:cNvPr>
            <p:cNvSpPr txBox="1"/>
            <p:nvPr/>
          </p:nvSpPr>
          <p:spPr>
            <a:xfrm>
              <a:off x="5411303" y="3564970"/>
              <a:ext cx="29590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latin typeface="Lato" panose="020B0604020202020204" charset="0"/>
                </a:rPr>
                <a:t>Compute: hardware side-effects</a:t>
              </a:r>
              <a:endParaRPr lang="en-US" sz="120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FE84A1E-3BFB-D0A9-28C5-7B389DFC3FA4}"/>
                </a:ext>
              </a:extLst>
            </p:cNvPr>
            <p:cNvSpPr txBox="1"/>
            <p:nvPr/>
          </p:nvSpPr>
          <p:spPr>
            <a:xfrm>
              <a:off x="5411305" y="3786528"/>
              <a:ext cx="29590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accent3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“Weird gates”</a:t>
              </a:r>
              <a:r>
                <a:rPr lang="en-US" sz="1200" dirty="0">
                  <a:solidFill>
                    <a:schemeClr val="accent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compute with memory operations during transient execution</a:t>
              </a:r>
            </a:p>
          </p:txBody>
        </p:sp>
      </p:grpSp>
      <p:sp>
        <p:nvSpPr>
          <p:cNvPr id="32" name="文字方塊 10">
            <a:extLst>
              <a:ext uri="{FF2B5EF4-FFF2-40B4-BE49-F238E27FC236}">
                <a16:creationId xmlns:a16="http://schemas.microsoft.com/office/drawing/2014/main" id="{92F300B4-BAA4-54B3-CFD4-08D6F04A89F8}"/>
              </a:ext>
            </a:extLst>
          </p:cNvPr>
          <p:cNvSpPr txBox="1"/>
          <p:nvPr/>
        </p:nvSpPr>
        <p:spPr>
          <a:xfrm>
            <a:off x="0" y="4859675"/>
            <a:ext cx="15604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  <a:latin typeface="Lato" panose="020B0604020202020204" charset="0"/>
              </a:rPr>
              <a:t>Credit: irasutoya.com</a:t>
            </a:r>
          </a:p>
        </p:txBody>
      </p:sp>
    </p:spTree>
    <p:extLst>
      <p:ext uri="{BB962C8B-B14F-4D97-AF65-F5344CB8AC3E}">
        <p14:creationId xmlns:p14="http://schemas.microsoft.com/office/powerpoint/2010/main" val="2778445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3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0005AED5-300C-A81E-71D5-0ACC9A43EEE7}"/>
              </a:ext>
            </a:extLst>
          </p:cNvPr>
          <p:cNvGrpSpPr/>
          <p:nvPr/>
        </p:nvGrpSpPr>
        <p:grpSpPr>
          <a:xfrm>
            <a:off x="5278653" y="2425350"/>
            <a:ext cx="2084447" cy="1412531"/>
            <a:chOff x="5278653" y="2425350"/>
            <a:chExt cx="2084447" cy="1412531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B6C7591-3209-F97B-FF39-EC9E4E851DDB}"/>
                </a:ext>
              </a:extLst>
            </p:cNvPr>
            <p:cNvGrpSpPr/>
            <p:nvPr/>
          </p:nvGrpSpPr>
          <p:grpSpPr>
            <a:xfrm>
              <a:off x="5278653" y="2425350"/>
              <a:ext cx="2084447" cy="276999"/>
              <a:chOff x="2945314" y="2462470"/>
              <a:chExt cx="2084447" cy="276999"/>
            </a:xfrm>
          </p:grpSpPr>
          <p:sp>
            <p:nvSpPr>
              <p:cNvPr id="11" name="文字方塊 27">
                <a:extLst>
                  <a:ext uri="{FF2B5EF4-FFF2-40B4-BE49-F238E27FC236}">
                    <a16:creationId xmlns:a16="http://schemas.microsoft.com/office/drawing/2014/main" id="{B14DB911-F2F7-5D55-98C4-E720DC921CF2}"/>
                  </a:ext>
                </a:extLst>
              </p:cNvPr>
              <p:cNvSpPr txBox="1"/>
              <p:nvPr/>
            </p:nvSpPr>
            <p:spPr>
              <a:xfrm>
                <a:off x="2945314" y="2462470"/>
                <a:ext cx="208444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accent3"/>
                    </a:solidFill>
                    <a:latin typeface="Lato" panose="020B0604020202020204" charset="0"/>
                  </a:rPr>
                  <a:t>Transient execution</a:t>
                </a:r>
              </a:p>
            </p:txBody>
          </p:sp>
          <p:cxnSp>
            <p:nvCxnSpPr>
              <p:cNvPr id="12" name="直線單箭頭接點 29">
                <a:extLst>
                  <a:ext uri="{FF2B5EF4-FFF2-40B4-BE49-F238E27FC236}">
                    <a16:creationId xmlns:a16="http://schemas.microsoft.com/office/drawing/2014/main" id="{F35720A5-A841-EF31-E28A-EF54A4082A9D}"/>
                  </a:ext>
                </a:extLst>
              </p:cNvPr>
              <p:cNvCxnSpPr/>
              <p:nvPr/>
            </p:nvCxnSpPr>
            <p:spPr>
              <a:xfrm>
                <a:off x="2947415" y="2705502"/>
                <a:ext cx="2076844" cy="0"/>
              </a:xfrm>
              <a:prstGeom prst="straightConnector1">
                <a:avLst/>
              </a:prstGeom>
              <a:ln>
                <a:solidFill>
                  <a:schemeClr val="accent3"/>
                </a:solidFill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" name="Straight Connector 31">
              <a:extLst>
                <a:ext uri="{FF2B5EF4-FFF2-40B4-BE49-F238E27FC236}">
                  <a16:creationId xmlns:a16="http://schemas.microsoft.com/office/drawing/2014/main" id="{4CA735C9-995C-4131-340B-E5BDE02EA7D2}"/>
                </a:ext>
              </a:extLst>
            </p:cNvPr>
            <p:cNvCxnSpPr>
              <a:cxnSpLocks/>
            </p:cNvCxnSpPr>
            <p:nvPr/>
          </p:nvCxnSpPr>
          <p:spPr>
            <a:xfrm>
              <a:off x="5280754" y="2579053"/>
              <a:ext cx="0" cy="1205749"/>
            </a:xfrm>
            <a:prstGeom prst="line">
              <a:avLst/>
            </a:prstGeom>
            <a:ln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31">
              <a:extLst>
                <a:ext uri="{FF2B5EF4-FFF2-40B4-BE49-F238E27FC236}">
                  <a16:creationId xmlns:a16="http://schemas.microsoft.com/office/drawing/2014/main" id="{61C25C69-24BC-A141-6612-13908EA17F56}"/>
                </a:ext>
              </a:extLst>
            </p:cNvPr>
            <p:cNvCxnSpPr>
              <a:cxnSpLocks/>
            </p:cNvCxnSpPr>
            <p:nvPr/>
          </p:nvCxnSpPr>
          <p:spPr>
            <a:xfrm>
              <a:off x="7357598" y="2579053"/>
              <a:ext cx="0" cy="1205749"/>
            </a:xfrm>
            <a:prstGeom prst="line">
              <a:avLst/>
            </a:prstGeom>
            <a:ln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文字方塊 27">
              <a:extLst>
                <a:ext uri="{FF2B5EF4-FFF2-40B4-BE49-F238E27FC236}">
                  <a16:creationId xmlns:a16="http://schemas.microsoft.com/office/drawing/2014/main" id="{5FCCC680-E3F0-25D5-5B60-042015C45B79}"/>
                </a:ext>
              </a:extLst>
            </p:cNvPr>
            <p:cNvSpPr txBox="1"/>
            <p:nvPr/>
          </p:nvSpPr>
          <p:spPr>
            <a:xfrm>
              <a:off x="5282509" y="3560882"/>
              <a:ext cx="20768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2"/>
                  </a:solidFill>
                  <a:latin typeface="Lato" panose="020B0604020202020204" charset="0"/>
                </a:rPr>
                <a:t>Exec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638E80E-06B6-3C57-1FBB-24F0F4C15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construction of a weird gate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700BBF-8DE1-0E83-A876-2367DDF2C0C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8</a:t>
            </a:fld>
            <a:endParaRPr lang="zh-TW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481131-B5C8-E281-F4FA-E3E07AE5430B}"/>
              </a:ext>
            </a:extLst>
          </p:cNvPr>
          <p:cNvSpPr/>
          <p:nvPr/>
        </p:nvSpPr>
        <p:spPr>
          <a:xfrm>
            <a:off x="535777" y="2101379"/>
            <a:ext cx="3435350" cy="4254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How weird gates work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00869C-2EE9-57E3-3F0D-2D04001DE308}"/>
              </a:ext>
            </a:extLst>
          </p:cNvPr>
          <p:cNvSpPr/>
          <p:nvPr/>
        </p:nvSpPr>
        <p:spPr>
          <a:xfrm>
            <a:off x="535775" y="2526830"/>
            <a:ext cx="3435350" cy="15762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43076F-B3EA-B114-E6B0-708AA97BF928}"/>
              </a:ext>
            </a:extLst>
          </p:cNvPr>
          <p:cNvSpPr txBox="1"/>
          <p:nvPr/>
        </p:nvSpPr>
        <p:spPr>
          <a:xfrm>
            <a:off x="535773" y="2657218"/>
            <a:ext cx="425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Lato" panose="020B0604020202020204" charset="0"/>
              </a:rPr>
              <a:t>1️⃣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2AC0AEE-DDC8-9AA2-A3AA-1E8B1ED758F3}"/>
              </a:ext>
            </a:extLst>
          </p:cNvPr>
          <p:cNvSpPr txBox="1"/>
          <p:nvPr/>
        </p:nvSpPr>
        <p:spPr>
          <a:xfrm>
            <a:off x="929473" y="2657136"/>
            <a:ext cx="30416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dirty="0">
                <a:latin typeface="Lato" panose="020B0604020202020204" charset="0"/>
              </a:rPr>
              <a:t>Trigger transient execution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7BEE14C-616C-3762-2D78-D89F9CCAD18D}"/>
              </a:ext>
            </a:extLst>
          </p:cNvPr>
          <p:cNvSpPr txBox="1"/>
          <p:nvPr/>
        </p:nvSpPr>
        <p:spPr>
          <a:xfrm>
            <a:off x="535773" y="3158356"/>
            <a:ext cx="425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Lato" panose="020B0604020202020204" charset="0"/>
              </a:rPr>
              <a:t>2️⃣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3FDA9A6-BF86-318E-A624-4937C8208EDA}"/>
              </a:ext>
            </a:extLst>
          </p:cNvPr>
          <p:cNvSpPr txBox="1"/>
          <p:nvPr/>
        </p:nvSpPr>
        <p:spPr>
          <a:xfrm>
            <a:off x="929473" y="3158274"/>
            <a:ext cx="30416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dirty="0">
                <a:latin typeface="Lato" panose="020B0604020202020204" charset="0"/>
              </a:rPr>
              <a:t>Compute with input latency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D3E6D02-74E7-F63B-1AB7-8BB4981AF12A}"/>
              </a:ext>
            </a:extLst>
          </p:cNvPr>
          <p:cNvSpPr txBox="1"/>
          <p:nvPr/>
        </p:nvSpPr>
        <p:spPr>
          <a:xfrm>
            <a:off x="535773" y="3659494"/>
            <a:ext cx="425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Lato" panose="020B0604020202020204" charset="0"/>
              </a:rPr>
              <a:t>3️⃣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203DD8C-3D63-E1E4-2DA9-8A8F53DA52FF}"/>
              </a:ext>
            </a:extLst>
          </p:cNvPr>
          <p:cNvSpPr txBox="1"/>
          <p:nvPr/>
        </p:nvSpPr>
        <p:spPr>
          <a:xfrm>
            <a:off x="929473" y="3659412"/>
            <a:ext cx="30416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dirty="0">
                <a:latin typeface="Lato" panose="020B0604020202020204" charset="0"/>
              </a:rPr>
              <a:t>Access output weird registers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739E5A4-B4EF-3C40-842C-F065A227913E}"/>
              </a:ext>
            </a:extLst>
          </p:cNvPr>
          <p:cNvGrpSpPr/>
          <p:nvPr/>
        </p:nvGrpSpPr>
        <p:grpSpPr>
          <a:xfrm>
            <a:off x="4320410" y="3395518"/>
            <a:ext cx="4634904" cy="307777"/>
            <a:chOff x="4320410" y="3395518"/>
            <a:chExt cx="4634904" cy="307777"/>
          </a:xfrm>
        </p:grpSpPr>
        <p:cxnSp>
          <p:nvCxnSpPr>
            <p:cNvPr id="3" name="Straight Arrow Connector 20">
              <a:extLst>
                <a:ext uri="{FF2B5EF4-FFF2-40B4-BE49-F238E27FC236}">
                  <a16:creationId xmlns:a16="http://schemas.microsoft.com/office/drawing/2014/main" id="{F8CFB26C-1FEC-44ED-7C20-BA49221C7D7C}"/>
                </a:ext>
              </a:extLst>
            </p:cNvPr>
            <p:cNvCxnSpPr>
              <a:cxnSpLocks/>
            </p:cNvCxnSpPr>
            <p:nvPr/>
          </p:nvCxnSpPr>
          <p:spPr>
            <a:xfrm>
              <a:off x="4320410" y="3551584"/>
              <a:ext cx="4044109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21">
              <a:extLst>
                <a:ext uri="{FF2B5EF4-FFF2-40B4-BE49-F238E27FC236}">
                  <a16:creationId xmlns:a16="http://schemas.microsoft.com/office/drawing/2014/main" id="{82BE7B9D-9F67-C73A-840B-3B4A1E480C10}"/>
                </a:ext>
              </a:extLst>
            </p:cNvPr>
            <p:cNvSpPr txBox="1"/>
            <p:nvPr/>
          </p:nvSpPr>
          <p:spPr>
            <a:xfrm>
              <a:off x="8357743" y="3395518"/>
              <a:ext cx="5975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Lato" panose="020B0604020202020204" charset="0"/>
                </a:rPr>
                <a:t>Time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F2BA347-1E5C-B10E-F98F-55104128BA18}"/>
              </a:ext>
            </a:extLst>
          </p:cNvPr>
          <p:cNvSpPr txBox="1"/>
          <p:nvPr/>
        </p:nvSpPr>
        <p:spPr>
          <a:xfrm>
            <a:off x="5065928" y="2260286"/>
            <a:ext cx="425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Lato" panose="020B0604020202020204" charset="0"/>
              </a:rPr>
              <a:t>1️⃣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48DC6F-9128-F913-CE08-2072B37CCC7C}"/>
              </a:ext>
            </a:extLst>
          </p:cNvPr>
          <p:cNvSpPr txBox="1"/>
          <p:nvPr/>
        </p:nvSpPr>
        <p:spPr>
          <a:xfrm>
            <a:off x="5367346" y="2956095"/>
            <a:ext cx="3668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Lato" panose="020B0604020202020204" charset="0"/>
              </a:rPr>
              <a:t>2️⃣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D3A25DB-7B0E-A6B1-7675-3D95EB2A8C7E}"/>
              </a:ext>
            </a:extLst>
          </p:cNvPr>
          <p:cNvCxnSpPr>
            <a:cxnSpLocks/>
            <a:stCxn id="19" idx="3"/>
            <a:endCxn id="15" idx="1"/>
          </p:cNvCxnSpPr>
          <p:nvPr/>
        </p:nvCxnSpPr>
        <p:spPr>
          <a:xfrm>
            <a:off x="5734160" y="3109984"/>
            <a:ext cx="1189153" cy="0"/>
          </a:xfrm>
          <a:prstGeom prst="line">
            <a:avLst/>
          </a:prstGeom>
          <a:ln w="12700">
            <a:solidFill>
              <a:schemeClr val="bg2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67A9E2B5-931C-EDE2-0C0A-C45DB5986B49}"/>
              </a:ext>
            </a:extLst>
          </p:cNvPr>
          <p:cNvGrpSpPr/>
          <p:nvPr/>
        </p:nvGrpSpPr>
        <p:grpSpPr>
          <a:xfrm>
            <a:off x="4314912" y="2869290"/>
            <a:ext cx="963741" cy="968591"/>
            <a:chOff x="4314912" y="2869290"/>
            <a:chExt cx="963741" cy="968591"/>
          </a:xfrm>
        </p:grpSpPr>
        <p:sp>
          <p:nvSpPr>
            <p:cNvPr id="50" name="文字方塊 27">
              <a:extLst>
                <a:ext uri="{FF2B5EF4-FFF2-40B4-BE49-F238E27FC236}">
                  <a16:creationId xmlns:a16="http://schemas.microsoft.com/office/drawing/2014/main" id="{8776530C-1D8F-E9F5-A8D7-E1711E118B9F}"/>
                </a:ext>
              </a:extLst>
            </p:cNvPr>
            <p:cNvSpPr txBox="1"/>
            <p:nvPr/>
          </p:nvSpPr>
          <p:spPr>
            <a:xfrm>
              <a:off x="4314912" y="3560882"/>
              <a:ext cx="9637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2"/>
                  </a:solidFill>
                  <a:latin typeface="Lato" panose="020B0604020202020204" charset="0"/>
                </a:rPr>
                <a:t>Init</a:t>
              </a:r>
            </a:p>
          </p:txBody>
        </p:sp>
        <p:sp>
          <p:nvSpPr>
            <p:cNvPr id="56" name="文字方塊 27">
              <a:extLst>
                <a:ext uri="{FF2B5EF4-FFF2-40B4-BE49-F238E27FC236}">
                  <a16:creationId xmlns:a16="http://schemas.microsoft.com/office/drawing/2014/main" id="{F2287809-576E-C8A1-08CB-520FBA3CB58C}"/>
                </a:ext>
              </a:extLst>
            </p:cNvPr>
            <p:cNvSpPr txBox="1"/>
            <p:nvPr/>
          </p:nvSpPr>
          <p:spPr>
            <a:xfrm>
              <a:off x="4321167" y="2869290"/>
              <a:ext cx="9099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2"/>
                  </a:solidFill>
                  <a:latin typeface="Lato" panose="020B0604020202020204" charset="0"/>
                </a:rPr>
                <a:t>Inputs</a:t>
              </a:r>
            </a:p>
            <a:p>
              <a:pPr algn="ctr"/>
              <a:r>
                <a:rPr lang="en-US" sz="1200" dirty="0">
                  <a:solidFill>
                    <a:schemeClr val="bg2"/>
                  </a:solidFill>
                  <a:latin typeface="Lato" panose="020B0604020202020204" charset="0"/>
                </a:rPr>
                <a:t>in μArch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9D71F1E-D352-7D22-56BB-44A0D741A262}"/>
              </a:ext>
            </a:extLst>
          </p:cNvPr>
          <p:cNvGrpSpPr/>
          <p:nvPr/>
        </p:nvGrpSpPr>
        <p:grpSpPr>
          <a:xfrm>
            <a:off x="7359354" y="2869290"/>
            <a:ext cx="998388" cy="968591"/>
            <a:chOff x="7359354" y="2869290"/>
            <a:chExt cx="998388" cy="968591"/>
          </a:xfrm>
        </p:grpSpPr>
        <p:sp>
          <p:nvSpPr>
            <p:cNvPr id="55" name="文字方塊 27">
              <a:extLst>
                <a:ext uri="{FF2B5EF4-FFF2-40B4-BE49-F238E27FC236}">
                  <a16:creationId xmlns:a16="http://schemas.microsoft.com/office/drawing/2014/main" id="{DCA145AF-50C0-06C9-E174-B4FAAFBC77B5}"/>
                </a:ext>
              </a:extLst>
            </p:cNvPr>
            <p:cNvSpPr txBox="1"/>
            <p:nvPr/>
          </p:nvSpPr>
          <p:spPr>
            <a:xfrm>
              <a:off x="7359354" y="3560882"/>
              <a:ext cx="9983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2"/>
                  </a:solidFill>
                  <a:latin typeface="Lato" panose="020B0604020202020204" charset="0"/>
                </a:rPr>
                <a:t>End</a:t>
              </a:r>
            </a:p>
          </p:txBody>
        </p:sp>
        <p:sp>
          <p:nvSpPr>
            <p:cNvPr id="58" name="文字方塊 27">
              <a:extLst>
                <a:ext uri="{FF2B5EF4-FFF2-40B4-BE49-F238E27FC236}">
                  <a16:creationId xmlns:a16="http://schemas.microsoft.com/office/drawing/2014/main" id="{E86D248C-4537-401C-A634-B45BA00EF413}"/>
                </a:ext>
              </a:extLst>
            </p:cNvPr>
            <p:cNvSpPr txBox="1"/>
            <p:nvPr/>
          </p:nvSpPr>
          <p:spPr>
            <a:xfrm>
              <a:off x="7454365" y="2869290"/>
              <a:ext cx="7805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2"/>
                  </a:solidFill>
                  <a:latin typeface="Lato" panose="020B0604020202020204" charset="0"/>
                </a:rPr>
                <a:t>Outputs in μArch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1C0169EF-4A72-60E3-6CC0-50ED59F87CE0}"/>
              </a:ext>
            </a:extLst>
          </p:cNvPr>
          <p:cNvSpPr txBox="1"/>
          <p:nvPr/>
        </p:nvSpPr>
        <p:spPr>
          <a:xfrm>
            <a:off x="6923313" y="2956095"/>
            <a:ext cx="3668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Lato" panose="020B0604020202020204" charset="0"/>
              </a:rPr>
              <a:t>3️⃣</a:t>
            </a:r>
          </a:p>
        </p:txBody>
      </p:sp>
    </p:spTree>
    <p:extLst>
      <p:ext uri="{BB962C8B-B14F-4D97-AF65-F5344CB8AC3E}">
        <p14:creationId xmlns:p14="http://schemas.microsoft.com/office/powerpoint/2010/main" val="1797990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1B7C7-0DB1-F19F-1F6A-47B3591BE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A9EC9E8-88EB-48B2-7AE0-9174E0791813}"/>
              </a:ext>
            </a:extLst>
          </p:cNvPr>
          <p:cNvSpPr/>
          <p:nvPr/>
        </p:nvSpPr>
        <p:spPr>
          <a:xfrm>
            <a:off x="535775" y="2788104"/>
            <a:ext cx="3435350" cy="196174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24C614-B91D-44CF-B235-C5D89948F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construction of a weird gate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84C3B4-EC7D-11FD-D175-16F6A0B3E5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9</a:t>
            </a:fld>
            <a:endParaRPr lang="zh-TW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E1540C-D088-EF23-BA12-F40B2F0A8FB8}"/>
              </a:ext>
            </a:extLst>
          </p:cNvPr>
          <p:cNvSpPr txBox="1"/>
          <p:nvPr/>
        </p:nvSpPr>
        <p:spPr>
          <a:xfrm>
            <a:off x="4320410" y="1549838"/>
            <a:ext cx="4331465" cy="1200329"/>
          </a:xfrm>
          <a:prstGeom prst="rect">
            <a:avLst/>
          </a:prstGeom>
          <a:solidFill>
            <a:srgbClr val="FFF2CC"/>
          </a:solidFill>
        </p:spPr>
        <p:txBody>
          <a:bodyPr wrap="square" rtlCol="0">
            <a:spAutoFit/>
          </a:bodyPr>
          <a:lstStyle/>
          <a:p>
            <a:r>
              <a:rPr lang="en-US" sz="18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8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condition</a:t>
            </a: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lang="en-US" sz="1800" dirty="0">
                <a:solidFill>
                  <a:srgbClr val="657B83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800" dirty="0">
                <a:solidFill>
                  <a:srgbClr val="657B83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 err="1">
                <a:solidFill>
                  <a:srgbClr val="268BD2"/>
                </a:solidFill>
                <a:latin typeface="Consolas" panose="020B0609020204030204" pitchFamily="49" charset="0"/>
              </a:rPr>
              <a:t>tmp</a:t>
            </a:r>
            <a:r>
              <a:rPr lang="en-US" sz="1800" dirty="0">
                <a:solidFill>
                  <a:srgbClr val="268BD2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59900"/>
                </a:solidFill>
                <a:latin typeface="Consolas" panose="020B0609020204030204" pitchFamily="49" charset="0"/>
              </a:rPr>
              <a:t>+= </a:t>
            </a:r>
            <a:r>
              <a:rPr lang="en-US" sz="1800" dirty="0">
                <a:solidFill>
                  <a:srgbClr val="268BD2"/>
                </a:solidFill>
                <a:latin typeface="Consolas" panose="020B0609020204030204" pitchFamily="49" charset="0"/>
              </a:rPr>
              <a:t>out</a:t>
            </a:r>
            <a:r>
              <a:rPr lang="en-US" sz="1800" dirty="0">
                <a:solidFill>
                  <a:srgbClr val="657B83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>
                <a:solidFill>
                  <a:srgbClr val="268BD2"/>
                </a:solidFill>
                <a:latin typeface="Consolas" panose="020B0609020204030204" pitchFamily="49" charset="0"/>
              </a:rPr>
              <a:t>in1</a:t>
            </a:r>
            <a:r>
              <a:rPr lang="en-US" sz="1800" dirty="0">
                <a:solidFill>
                  <a:srgbClr val="657B83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>
                <a:solidFill>
                  <a:srgbClr val="D33682"/>
                </a:solidFill>
                <a:latin typeface="Consolas" panose="020B0609020204030204" pitchFamily="49" charset="0"/>
              </a:rPr>
              <a:t>0</a:t>
            </a:r>
            <a:r>
              <a:rPr lang="en-US" sz="1800" dirty="0">
                <a:solidFill>
                  <a:srgbClr val="657B83"/>
                </a:solidFill>
                <a:latin typeface="Consolas" panose="020B0609020204030204" pitchFamily="49" charset="0"/>
              </a:rPr>
              <a:t>]</a:t>
            </a:r>
            <a:r>
              <a:rPr lang="en-US" sz="1800" dirty="0">
                <a:solidFill>
                  <a:srgbClr val="859900"/>
                </a:solidFill>
                <a:latin typeface="Consolas" panose="020B0609020204030204" pitchFamily="49" charset="0"/>
              </a:rPr>
              <a:t> +</a:t>
            </a:r>
            <a:r>
              <a:rPr lang="en-US" sz="1800" dirty="0">
                <a:solidFill>
                  <a:srgbClr val="657B8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68BD2"/>
                </a:solidFill>
                <a:latin typeface="Consolas" panose="020B0609020204030204" pitchFamily="49" charset="0"/>
              </a:rPr>
              <a:t>in2</a:t>
            </a:r>
            <a:r>
              <a:rPr lang="en-US" sz="1800" dirty="0">
                <a:solidFill>
                  <a:srgbClr val="657B83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>
                <a:solidFill>
                  <a:srgbClr val="D33682"/>
                </a:solidFill>
                <a:latin typeface="Consolas" panose="020B0609020204030204" pitchFamily="49" charset="0"/>
              </a:rPr>
              <a:t>0</a:t>
            </a:r>
            <a:r>
              <a:rPr lang="en-US" sz="1800" dirty="0">
                <a:solidFill>
                  <a:srgbClr val="657B83"/>
                </a:solidFill>
                <a:latin typeface="Consolas" panose="020B0609020204030204" pitchFamily="49" charset="0"/>
              </a:rPr>
              <a:t>]];</a:t>
            </a:r>
          </a:p>
          <a:p>
            <a:r>
              <a:rPr lang="en-US" sz="1800" dirty="0">
                <a:solidFill>
                  <a:srgbClr val="657B83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800" dirty="0">
                <a:solidFill>
                  <a:srgbClr val="268BD2"/>
                </a:solidFill>
                <a:latin typeface="Consolas" panose="020B0609020204030204" pitchFamily="49" charset="0"/>
              </a:rPr>
              <a:t>end</a:t>
            </a:r>
            <a:r>
              <a:rPr lang="en-US" sz="1800" dirty="0">
                <a:solidFill>
                  <a:srgbClr val="657B83"/>
                </a:solidFill>
                <a:latin typeface="Consolas" panose="020B0609020204030204" pitchFamily="49" charset="0"/>
              </a:rPr>
              <a:t>();</a:t>
            </a:r>
            <a:endParaRPr lang="en-US" sz="1800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3D0A02-EFAC-34BC-D17F-C87E5BB111AB}"/>
              </a:ext>
            </a:extLst>
          </p:cNvPr>
          <p:cNvSpPr/>
          <p:nvPr/>
        </p:nvSpPr>
        <p:spPr>
          <a:xfrm>
            <a:off x="535777" y="1549838"/>
            <a:ext cx="3435350" cy="4254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How weird gates work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F8113A-DD02-5E72-151B-998F42DD53B9}"/>
              </a:ext>
            </a:extLst>
          </p:cNvPr>
          <p:cNvSpPr/>
          <p:nvPr/>
        </p:nvSpPr>
        <p:spPr>
          <a:xfrm>
            <a:off x="535775" y="1975288"/>
            <a:ext cx="3435350" cy="8128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D85178-1FC8-D3CF-BFE5-F37ACB318ED3}"/>
              </a:ext>
            </a:extLst>
          </p:cNvPr>
          <p:cNvSpPr txBox="1"/>
          <p:nvPr/>
        </p:nvSpPr>
        <p:spPr>
          <a:xfrm>
            <a:off x="535773" y="2047621"/>
            <a:ext cx="425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Lato" panose="020B0604020202020204" charset="0"/>
              </a:rPr>
              <a:t>1️⃣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56E164-58EC-4A22-F850-27C3FD7D0E74}"/>
              </a:ext>
            </a:extLst>
          </p:cNvPr>
          <p:cNvSpPr txBox="1"/>
          <p:nvPr/>
        </p:nvSpPr>
        <p:spPr>
          <a:xfrm>
            <a:off x="929473" y="2047539"/>
            <a:ext cx="30416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dirty="0">
                <a:latin typeface="Lato" panose="020B0604020202020204" charset="0"/>
              </a:rPr>
              <a:t>Trigger transient execution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DB39E9-00CE-D197-EDE6-E81AA7B823A0}"/>
              </a:ext>
            </a:extLst>
          </p:cNvPr>
          <p:cNvSpPr txBox="1"/>
          <p:nvPr/>
        </p:nvSpPr>
        <p:spPr>
          <a:xfrm>
            <a:off x="929473" y="2249510"/>
            <a:ext cx="3041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Branch misprediction, return address misprediction, etc.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8BF5488-9EE4-B1F4-BEDD-963321DB3655}"/>
              </a:ext>
            </a:extLst>
          </p:cNvPr>
          <p:cNvSpPr txBox="1"/>
          <p:nvPr/>
        </p:nvSpPr>
        <p:spPr>
          <a:xfrm>
            <a:off x="535773" y="2836041"/>
            <a:ext cx="425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Lato" panose="020B0604020202020204" charset="0"/>
              </a:rPr>
              <a:t>2️⃣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A59001-2B9B-E124-4386-D4B7F2AEFC75}"/>
              </a:ext>
            </a:extLst>
          </p:cNvPr>
          <p:cNvSpPr txBox="1"/>
          <p:nvPr/>
        </p:nvSpPr>
        <p:spPr>
          <a:xfrm>
            <a:off x="929473" y="2835959"/>
            <a:ext cx="30416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dirty="0">
                <a:latin typeface="Lato" panose="020B0604020202020204" charset="0"/>
              </a:rPr>
              <a:t>Compute with input latency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80DBDA-2BC2-5D43-54ED-645D22EC1019}"/>
              </a:ext>
            </a:extLst>
          </p:cNvPr>
          <p:cNvSpPr txBox="1"/>
          <p:nvPr/>
        </p:nvSpPr>
        <p:spPr>
          <a:xfrm>
            <a:off x="929473" y="3037930"/>
            <a:ext cx="30416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Depending on the cache state, input weird registers may have different latency.</a:t>
            </a:r>
          </a:p>
          <a:p>
            <a:pPr algn="l"/>
            <a:r>
              <a:rPr lang="en-US" sz="1200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Cached → </a:t>
            </a:r>
            <a:r>
              <a:rPr lang="en-US" sz="12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short cache hit</a:t>
            </a:r>
          </a:p>
          <a:p>
            <a:r>
              <a:rPr lang="en-US" sz="1200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 cached → </a:t>
            </a:r>
            <a:r>
              <a:rPr lang="en-US" sz="1200" dirty="0">
                <a:solidFill>
                  <a:schemeClr val="accent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long cache miss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A92092E-8B46-3AC8-05BF-89780719F2D2}"/>
              </a:ext>
            </a:extLst>
          </p:cNvPr>
          <p:cNvSpPr txBox="1"/>
          <p:nvPr/>
        </p:nvSpPr>
        <p:spPr>
          <a:xfrm>
            <a:off x="535773" y="3966402"/>
            <a:ext cx="425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Lato" panose="020B0604020202020204" charset="0"/>
              </a:rPr>
              <a:t>3️⃣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CB6971C-43FA-7D96-5C63-346984E11F0D}"/>
              </a:ext>
            </a:extLst>
          </p:cNvPr>
          <p:cNvSpPr txBox="1"/>
          <p:nvPr/>
        </p:nvSpPr>
        <p:spPr>
          <a:xfrm>
            <a:off x="929473" y="3966320"/>
            <a:ext cx="30416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dirty="0">
                <a:latin typeface="Lato" panose="020B0604020202020204" charset="0"/>
              </a:rPr>
              <a:t>Access output weird registers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BC54692-34B6-6F4F-E119-E06C5942BEC7}"/>
              </a:ext>
            </a:extLst>
          </p:cNvPr>
          <p:cNvSpPr txBox="1"/>
          <p:nvPr/>
        </p:nvSpPr>
        <p:spPr>
          <a:xfrm>
            <a:off x="929473" y="4168291"/>
            <a:ext cx="3041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Write the results to output weird registers via memory loads.</a:t>
            </a:r>
          </a:p>
        </p:txBody>
      </p:sp>
      <p:sp>
        <p:nvSpPr>
          <p:cNvPr id="24" name="TextBox 38">
            <a:extLst>
              <a:ext uri="{FF2B5EF4-FFF2-40B4-BE49-F238E27FC236}">
                <a16:creationId xmlns:a16="http://schemas.microsoft.com/office/drawing/2014/main" id="{78922E02-91F8-50CA-E6B3-033737D31042}"/>
              </a:ext>
            </a:extLst>
          </p:cNvPr>
          <p:cNvSpPr txBox="1"/>
          <p:nvPr/>
        </p:nvSpPr>
        <p:spPr>
          <a:xfrm>
            <a:off x="6465986" y="3006277"/>
            <a:ext cx="1204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 u="none" strike="noStrike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condition</a:t>
            </a:r>
            <a:r>
              <a:rPr lang="en-US" sz="1200" dirty="0">
                <a:solidFill>
                  <a:srgbClr val="657B83"/>
                </a:solidFill>
                <a:latin typeface="Consolas" panose="020B0609020204030204" pitchFamily="49" charset="0"/>
              </a:rPr>
              <a:t>()</a:t>
            </a:r>
            <a:endParaRPr lang="en-US" sz="1200" dirty="0">
              <a:latin typeface="Lato" panose="020B0604020202020204" charset="0"/>
            </a:endParaRPr>
          </a:p>
          <a:p>
            <a:pPr algn="ctr"/>
            <a:r>
              <a:rPr lang="en-US" sz="1200" dirty="0">
                <a:solidFill>
                  <a:schemeClr val="bg2"/>
                </a:solidFill>
                <a:latin typeface="Lato" panose="020B0604020202020204" charset="0"/>
              </a:rPr>
              <a:t>returns</a:t>
            </a:r>
          </a:p>
        </p:txBody>
      </p:sp>
      <p:sp>
        <p:nvSpPr>
          <p:cNvPr id="51" name="TextBox 38">
            <a:extLst>
              <a:ext uri="{FF2B5EF4-FFF2-40B4-BE49-F238E27FC236}">
                <a16:creationId xmlns:a16="http://schemas.microsoft.com/office/drawing/2014/main" id="{64B8001D-11C1-8314-D4A5-BEB3B2A4D1B3}"/>
              </a:ext>
            </a:extLst>
          </p:cNvPr>
          <p:cNvSpPr txBox="1"/>
          <p:nvPr/>
        </p:nvSpPr>
        <p:spPr>
          <a:xfrm>
            <a:off x="4765584" y="3001609"/>
            <a:ext cx="10588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2"/>
                </a:solidFill>
                <a:latin typeface="Lato" panose="020B0604020202020204" charset="0"/>
              </a:rPr>
              <a:t>BP predicts</a:t>
            </a:r>
          </a:p>
          <a:p>
            <a:pPr algn="ctr"/>
            <a:r>
              <a:rPr lang="en-US" sz="1200" dirty="0">
                <a:solidFill>
                  <a:schemeClr val="accent3"/>
                </a:solidFill>
                <a:latin typeface="Lato" panose="020B0604020202020204" charset="0"/>
              </a:rPr>
              <a:t>(incorrectly)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6E1E4A1-1D61-9384-8A88-544F06489B9A}"/>
              </a:ext>
            </a:extLst>
          </p:cNvPr>
          <p:cNvGrpSpPr/>
          <p:nvPr/>
        </p:nvGrpSpPr>
        <p:grpSpPr>
          <a:xfrm>
            <a:off x="4320410" y="4070432"/>
            <a:ext cx="4634904" cy="307777"/>
            <a:chOff x="4320410" y="4070432"/>
            <a:chExt cx="4634904" cy="307777"/>
          </a:xfrm>
        </p:grpSpPr>
        <p:cxnSp>
          <p:nvCxnSpPr>
            <p:cNvPr id="25" name="Straight Arrow Connector 20">
              <a:extLst>
                <a:ext uri="{FF2B5EF4-FFF2-40B4-BE49-F238E27FC236}">
                  <a16:creationId xmlns:a16="http://schemas.microsoft.com/office/drawing/2014/main" id="{775D57BD-5058-234A-C49E-2CF0D7E7D52E}"/>
                </a:ext>
              </a:extLst>
            </p:cNvPr>
            <p:cNvCxnSpPr>
              <a:cxnSpLocks/>
            </p:cNvCxnSpPr>
            <p:nvPr/>
          </p:nvCxnSpPr>
          <p:spPr>
            <a:xfrm>
              <a:off x="4320410" y="4226498"/>
              <a:ext cx="4044109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1">
              <a:extLst>
                <a:ext uri="{FF2B5EF4-FFF2-40B4-BE49-F238E27FC236}">
                  <a16:creationId xmlns:a16="http://schemas.microsoft.com/office/drawing/2014/main" id="{9E6EA743-1FBB-F7BB-0F8D-1028DE348CC1}"/>
                </a:ext>
              </a:extLst>
            </p:cNvPr>
            <p:cNvSpPr txBox="1"/>
            <p:nvPr/>
          </p:nvSpPr>
          <p:spPr>
            <a:xfrm>
              <a:off x="8357743" y="4070432"/>
              <a:ext cx="5975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Lato" panose="020B0604020202020204" charset="0"/>
                </a:rPr>
                <a:t>Time</a:t>
              </a:r>
            </a:p>
          </p:txBody>
        </p:sp>
      </p:grpSp>
      <p:sp>
        <p:nvSpPr>
          <p:cNvPr id="35" name="文字方塊 27">
            <a:extLst>
              <a:ext uri="{FF2B5EF4-FFF2-40B4-BE49-F238E27FC236}">
                <a16:creationId xmlns:a16="http://schemas.microsoft.com/office/drawing/2014/main" id="{4CB99462-CC9D-F772-3CED-B1FB97282BE0}"/>
              </a:ext>
            </a:extLst>
          </p:cNvPr>
          <p:cNvSpPr txBox="1"/>
          <p:nvPr/>
        </p:nvSpPr>
        <p:spPr>
          <a:xfrm>
            <a:off x="5283379" y="3797683"/>
            <a:ext cx="1785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/>
                </a:solidFill>
                <a:latin typeface="Lato" panose="020B0604020202020204" charset="0"/>
              </a:rPr>
              <a:t>Run </a:t>
            </a:r>
            <a:r>
              <a:rPr lang="en-US" dirty="0" err="1">
                <a:solidFill>
                  <a:srgbClr val="268BD2"/>
                </a:solidFill>
                <a:latin typeface="Consolas" panose="020B0609020204030204" pitchFamily="49" charset="0"/>
              </a:rPr>
              <a:t>tmp</a:t>
            </a:r>
            <a:r>
              <a:rPr lang="en-US" dirty="0">
                <a:solidFill>
                  <a:srgbClr val="268BD2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59900"/>
                </a:solidFill>
                <a:latin typeface="Consolas" panose="020B0609020204030204" pitchFamily="49" charset="0"/>
              </a:rPr>
              <a:t>+= </a:t>
            </a:r>
            <a:r>
              <a:rPr lang="en-US" dirty="0">
                <a:solidFill>
                  <a:srgbClr val="268BD2"/>
                </a:solidFill>
                <a:latin typeface="Consolas" panose="020B0609020204030204" pitchFamily="49" charset="0"/>
              </a:rPr>
              <a:t>…</a:t>
            </a:r>
            <a:endParaRPr lang="en-US" dirty="0">
              <a:solidFill>
                <a:schemeClr val="bg2"/>
              </a:solidFill>
              <a:latin typeface="Lato" panose="020B0604020202020204" charset="0"/>
            </a:endParaRPr>
          </a:p>
        </p:txBody>
      </p:sp>
      <p:sp>
        <p:nvSpPr>
          <p:cNvPr id="37" name="文字方塊 27">
            <a:extLst>
              <a:ext uri="{FF2B5EF4-FFF2-40B4-BE49-F238E27FC236}">
                <a16:creationId xmlns:a16="http://schemas.microsoft.com/office/drawing/2014/main" id="{5C969E05-BA72-2235-359D-9D42A9ADE6DC}"/>
              </a:ext>
            </a:extLst>
          </p:cNvPr>
          <p:cNvSpPr txBox="1"/>
          <p:nvPr/>
        </p:nvSpPr>
        <p:spPr>
          <a:xfrm>
            <a:off x="7080763" y="3689962"/>
            <a:ext cx="16786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Lato" panose="020B0604020202020204" charset="0"/>
              </a:rPr>
              <a:t>Cleanup </a:t>
            </a:r>
            <a:r>
              <a:rPr lang="en-US" dirty="0" err="1">
                <a:solidFill>
                  <a:srgbClr val="268BD2"/>
                </a:solidFill>
                <a:latin typeface="Consolas" panose="020B0609020204030204" pitchFamily="49" charset="0"/>
              </a:rPr>
              <a:t>tmp</a:t>
            </a:r>
            <a:r>
              <a:rPr lang="en-US" dirty="0">
                <a:solidFill>
                  <a:srgbClr val="268BD2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59900"/>
                </a:solidFill>
                <a:latin typeface="Consolas" panose="020B0609020204030204" pitchFamily="49" charset="0"/>
              </a:rPr>
              <a:t>+= </a:t>
            </a:r>
            <a:r>
              <a:rPr lang="en-US" dirty="0">
                <a:solidFill>
                  <a:srgbClr val="268BD2"/>
                </a:solidFill>
                <a:latin typeface="Consolas" panose="020B0609020204030204" pitchFamily="49" charset="0"/>
              </a:rPr>
              <a:t>…</a:t>
            </a:r>
            <a:endParaRPr lang="en-US" dirty="0">
              <a:solidFill>
                <a:schemeClr val="bg2"/>
              </a:solidFill>
              <a:latin typeface="Lato" panose="020B0604020202020204" charset="0"/>
            </a:endParaRPr>
          </a:p>
          <a:p>
            <a:r>
              <a:rPr lang="en-US" dirty="0">
                <a:solidFill>
                  <a:schemeClr val="bg2"/>
                </a:solidFill>
                <a:latin typeface="Lato" panose="020B0604020202020204" charset="0"/>
              </a:rPr>
              <a:t>Run </a:t>
            </a:r>
            <a:r>
              <a:rPr lang="en-US" dirty="0">
                <a:solidFill>
                  <a:srgbClr val="268BD2"/>
                </a:solidFill>
                <a:latin typeface="Consolas" panose="020B0609020204030204" pitchFamily="49" charset="0"/>
              </a:rPr>
              <a:t>end</a:t>
            </a:r>
            <a:r>
              <a:rPr lang="en-US" dirty="0">
                <a:solidFill>
                  <a:srgbClr val="657B83"/>
                </a:solidFill>
                <a:latin typeface="Consolas" panose="020B0609020204030204" pitchFamily="49" charset="0"/>
              </a:rPr>
              <a:t>()</a:t>
            </a:r>
            <a:r>
              <a:rPr lang="en-US" dirty="0">
                <a:solidFill>
                  <a:schemeClr val="bg2"/>
                </a:solidFill>
                <a:latin typeface="Lato" panose="020B0604020202020204" charset="0"/>
              </a:rPr>
              <a:t> </a:t>
            </a:r>
          </a:p>
        </p:txBody>
      </p:sp>
      <p:sp>
        <p:nvSpPr>
          <p:cNvPr id="43" name="文字方塊 27">
            <a:extLst>
              <a:ext uri="{FF2B5EF4-FFF2-40B4-BE49-F238E27FC236}">
                <a16:creationId xmlns:a16="http://schemas.microsoft.com/office/drawing/2014/main" id="{30A84308-F748-D67E-9C99-2A71CDEE7FA5}"/>
              </a:ext>
            </a:extLst>
          </p:cNvPr>
          <p:cNvSpPr txBox="1"/>
          <p:nvPr/>
        </p:nvSpPr>
        <p:spPr>
          <a:xfrm>
            <a:off x="4189778" y="3797683"/>
            <a:ext cx="10885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2"/>
                </a:solidFill>
                <a:latin typeface="Lato" panose="020B0604020202020204" charset="0"/>
              </a:rPr>
              <a:t>Run </a:t>
            </a:r>
            <a:r>
              <a:rPr lang="en-US" dirty="0">
                <a:solidFill>
                  <a:srgbClr val="859900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657B83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68BD2"/>
                </a:solidFill>
                <a:latin typeface="Consolas" panose="020B0609020204030204" pitchFamily="49" charset="0"/>
              </a:rPr>
              <a:t>…</a:t>
            </a:r>
            <a:r>
              <a:rPr lang="en-US" dirty="0">
                <a:solidFill>
                  <a:srgbClr val="657B83"/>
                </a:solidFill>
                <a:latin typeface="Consolas" panose="020B0609020204030204" pitchFamily="49" charset="0"/>
              </a:rPr>
              <a:t>)</a:t>
            </a:r>
            <a:endParaRPr lang="en-US" dirty="0">
              <a:solidFill>
                <a:schemeClr val="bg2"/>
              </a:solidFill>
              <a:latin typeface="Lato" panose="020B060402020202020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57B284E-7A2F-23E2-D5E9-0E47204B5B3B}"/>
              </a:ext>
            </a:extLst>
          </p:cNvPr>
          <p:cNvGrpSpPr/>
          <p:nvPr/>
        </p:nvGrpSpPr>
        <p:grpSpPr>
          <a:xfrm>
            <a:off x="5282305" y="3450445"/>
            <a:ext cx="1786148" cy="776053"/>
            <a:chOff x="5282305" y="3450445"/>
            <a:chExt cx="1786148" cy="776053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06499AF7-BE78-1E2E-DB1F-6EEF93858FDC}"/>
                </a:ext>
              </a:extLst>
            </p:cNvPr>
            <p:cNvGrpSpPr/>
            <p:nvPr/>
          </p:nvGrpSpPr>
          <p:grpSpPr>
            <a:xfrm>
              <a:off x="5282305" y="3450445"/>
              <a:ext cx="1786148" cy="276999"/>
              <a:chOff x="5282305" y="3399646"/>
              <a:chExt cx="1786148" cy="276999"/>
            </a:xfrm>
          </p:grpSpPr>
          <p:sp>
            <p:nvSpPr>
              <p:cNvPr id="39" name="文字方塊 27">
                <a:extLst>
                  <a:ext uri="{FF2B5EF4-FFF2-40B4-BE49-F238E27FC236}">
                    <a16:creationId xmlns:a16="http://schemas.microsoft.com/office/drawing/2014/main" id="{ECF109FF-BBEA-5CB7-EEA6-5CD09D69F4A0}"/>
                  </a:ext>
                </a:extLst>
              </p:cNvPr>
              <p:cNvSpPr txBox="1"/>
              <p:nvPr/>
            </p:nvSpPr>
            <p:spPr>
              <a:xfrm>
                <a:off x="5282305" y="3399646"/>
                <a:ext cx="17861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accent3"/>
                    </a:solidFill>
                    <a:latin typeface="Lato" panose="020B0604020202020204" charset="0"/>
                  </a:rPr>
                  <a:t>Transient execution</a:t>
                </a:r>
              </a:p>
            </p:txBody>
          </p:sp>
          <p:cxnSp>
            <p:nvCxnSpPr>
              <p:cNvPr id="40" name="直線單箭頭接點 29">
                <a:extLst>
                  <a:ext uri="{FF2B5EF4-FFF2-40B4-BE49-F238E27FC236}">
                    <a16:creationId xmlns:a16="http://schemas.microsoft.com/office/drawing/2014/main" id="{82D642AF-DC13-4BC5-00CF-B18329315A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84405" y="3642678"/>
                <a:ext cx="1784048" cy="0"/>
              </a:xfrm>
              <a:prstGeom prst="straightConnector1">
                <a:avLst/>
              </a:prstGeom>
              <a:ln>
                <a:solidFill>
                  <a:schemeClr val="accent3"/>
                </a:solidFill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1" name="Straight Connector 31">
              <a:extLst>
                <a:ext uri="{FF2B5EF4-FFF2-40B4-BE49-F238E27FC236}">
                  <a16:creationId xmlns:a16="http://schemas.microsoft.com/office/drawing/2014/main" id="{84A291BE-9A76-5E97-E61D-54AFA6AAF5A2}"/>
                </a:ext>
              </a:extLst>
            </p:cNvPr>
            <p:cNvCxnSpPr>
              <a:cxnSpLocks/>
            </p:cNvCxnSpPr>
            <p:nvPr/>
          </p:nvCxnSpPr>
          <p:spPr>
            <a:xfrm>
              <a:off x="5284405" y="3454400"/>
              <a:ext cx="0" cy="772098"/>
            </a:xfrm>
            <a:prstGeom prst="line">
              <a:avLst/>
            </a:prstGeom>
            <a:ln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31">
              <a:extLst>
                <a:ext uri="{FF2B5EF4-FFF2-40B4-BE49-F238E27FC236}">
                  <a16:creationId xmlns:a16="http://schemas.microsoft.com/office/drawing/2014/main" id="{6A5C9B6F-3D41-40B3-3E5A-12B614386120}"/>
                </a:ext>
              </a:extLst>
            </p:cNvPr>
            <p:cNvCxnSpPr>
              <a:cxnSpLocks/>
            </p:cNvCxnSpPr>
            <p:nvPr/>
          </p:nvCxnSpPr>
          <p:spPr>
            <a:xfrm>
              <a:off x="7068453" y="3454400"/>
              <a:ext cx="0" cy="772098"/>
            </a:xfrm>
            <a:prstGeom prst="line">
              <a:avLst/>
            </a:prstGeom>
            <a:ln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95E24DC-DBFC-A4E3-04CD-BC766A7B0E60}"/>
              </a:ext>
            </a:extLst>
          </p:cNvPr>
          <p:cNvGrpSpPr/>
          <p:nvPr/>
        </p:nvGrpSpPr>
        <p:grpSpPr>
          <a:xfrm>
            <a:off x="6680738" y="1522625"/>
            <a:ext cx="1605533" cy="352726"/>
            <a:chOff x="6680738" y="1522625"/>
            <a:chExt cx="1605533" cy="352726"/>
          </a:xfrm>
        </p:grpSpPr>
        <p:cxnSp>
          <p:nvCxnSpPr>
            <p:cNvPr id="18" name="接點: 肘形 41">
              <a:extLst>
                <a:ext uri="{FF2B5EF4-FFF2-40B4-BE49-F238E27FC236}">
                  <a16:creationId xmlns:a16="http://schemas.microsoft.com/office/drawing/2014/main" id="{B2ABB107-E70B-9FDD-150B-08C4A8D1158D}"/>
                </a:ext>
              </a:extLst>
            </p:cNvPr>
            <p:cNvCxnSpPr>
              <a:cxnSpLocks/>
            </p:cNvCxnSpPr>
            <p:nvPr/>
          </p:nvCxnSpPr>
          <p:spPr>
            <a:xfrm>
              <a:off x="6680738" y="1697147"/>
              <a:ext cx="243425" cy="178204"/>
            </a:xfrm>
            <a:prstGeom prst="bentConnector3">
              <a:avLst>
                <a:gd name="adj1" fmla="val 100518"/>
              </a:avLst>
            </a:prstGeom>
            <a:ln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字方塊 42">
              <a:extLst>
                <a:ext uri="{FF2B5EF4-FFF2-40B4-BE49-F238E27FC236}">
                  <a16:creationId xmlns:a16="http://schemas.microsoft.com/office/drawing/2014/main" id="{37B6E897-4103-7C12-66CC-26D8C43A800E}"/>
                </a:ext>
              </a:extLst>
            </p:cNvPr>
            <p:cNvSpPr txBox="1"/>
            <p:nvPr/>
          </p:nvSpPr>
          <p:spPr>
            <a:xfrm>
              <a:off x="6881071" y="1522625"/>
              <a:ext cx="1405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dirty="0">
                  <a:solidFill>
                    <a:schemeClr val="accent3"/>
                  </a:solidFill>
                  <a:latin typeface="Lato" panose="020B0604020202020204" charset="0"/>
                </a:rPr>
                <a:t>Misprediction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35B0E65-E76F-A836-A3C9-6FF4A16B3DC0}"/>
              </a:ext>
            </a:extLst>
          </p:cNvPr>
          <p:cNvGrpSpPr/>
          <p:nvPr/>
        </p:nvGrpSpPr>
        <p:grpSpPr>
          <a:xfrm>
            <a:off x="5602518" y="1261853"/>
            <a:ext cx="1631870" cy="363746"/>
            <a:chOff x="5602518" y="1261853"/>
            <a:chExt cx="1631870" cy="363746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2F6015EF-0B7E-BAF4-0601-1D90488517E1}"/>
                </a:ext>
              </a:extLst>
            </p:cNvPr>
            <p:cNvSpPr/>
            <p:nvPr/>
          </p:nvSpPr>
          <p:spPr>
            <a:xfrm>
              <a:off x="5602518" y="1422399"/>
              <a:ext cx="275771" cy="203200"/>
            </a:xfrm>
            <a:custGeom>
              <a:avLst/>
              <a:gdLst>
                <a:gd name="csX0" fmla="*/ 0 w 275771"/>
                <a:gd name="csY0" fmla="*/ 203200 h 203200"/>
                <a:gd name="csX1" fmla="*/ 0 w 275771"/>
                <a:gd name="csY1" fmla="*/ 0 h 203200"/>
                <a:gd name="csX2" fmla="*/ 275771 w 275771"/>
                <a:gd name="csY2" fmla="*/ 0 h 203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75771" h="203200">
                  <a:moveTo>
                    <a:pt x="0" y="203200"/>
                  </a:moveTo>
                  <a:lnTo>
                    <a:pt x="0" y="0"/>
                  </a:lnTo>
                  <a:lnTo>
                    <a:pt x="275771" y="0"/>
                  </a:lnTo>
                </a:path>
              </a:pathLst>
            </a:custGeom>
            <a:noFill/>
            <a:ln w="12700">
              <a:solidFill>
                <a:schemeClr val="bg2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9" name="文字方塊 42">
              <a:extLst>
                <a:ext uri="{FF2B5EF4-FFF2-40B4-BE49-F238E27FC236}">
                  <a16:creationId xmlns:a16="http://schemas.microsoft.com/office/drawing/2014/main" id="{5F1C275E-349F-63F3-DB92-64EE516D7A79}"/>
                </a:ext>
              </a:extLst>
            </p:cNvPr>
            <p:cNvSpPr txBox="1"/>
            <p:nvPr/>
          </p:nvSpPr>
          <p:spPr>
            <a:xfrm>
              <a:off x="5829188" y="1261853"/>
              <a:ext cx="1405200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l"/>
              <a:r>
                <a:rPr lang="en-US" dirty="0">
                  <a:solidFill>
                    <a:schemeClr val="bg2"/>
                  </a:solidFill>
                  <a:latin typeface="Lato" panose="020B0604020202020204" charset="0"/>
                </a:rPr>
                <a:t>Slow…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76294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4" grpId="0"/>
      <p:bldP spid="51" grpId="0"/>
      <p:bldP spid="35" grpId="0"/>
      <p:bldP spid="37" grpId="0"/>
      <p:bldP spid="4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A1EF7-FB8E-630F-5C1D-594AC28AB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4280C30-0029-27B1-CB71-328E017B7A99}"/>
              </a:ext>
            </a:extLst>
          </p:cNvPr>
          <p:cNvSpPr/>
          <p:nvPr/>
        </p:nvSpPr>
        <p:spPr>
          <a:xfrm>
            <a:off x="535775" y="1975288"/>
            <a:ext cx="3435350" cy="8128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9AB08E-5789-33C5-CC51-F0A6769F0F20}"/>
              </a:ext>
            </a:extLst>
          </p:cNvPr>
          <p:cNvSpPr/>
          <p:nvPr/>
        </p:nvSpPr>
        <p:spPr>
          <a:xfrm>
            <a:off x="535775" y="3943350"/>
            <a:ext cx="3435350" cy="80650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A6FD2D-1E1C-4367-BFD7-DED7EDE36734}"/>
              </a:ext>
            </a:extLst>
          </p:cNvPr>
          <p:cNvSpPr/>
          <p:nvPr/>
        </p:nvSpPr>
        <p:spPr>
          <a:xfrm>
            <a:off x="535775" y="2788103"/>
            <a:ext cx="3435350" cy="115524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17BBB7-5BB6-DFBB-B1E3-8DE317614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construction of a weird gate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9343D3-835C-A35F-C66B-0532B92B12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10</a:t>
            </a:fld>
            <a:endParaRPr lang="zh-TW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FF4B96-2454-DAB2-08F5-D73C786F6E3D}"/>
              </a:ext>
            </a:extLst>
          </p:cNvPr>
          <p:cNvSpPr txBox="1"/>
          <p:nvPr/>
        </p:nvSpPr>
        <p:spPr>
          <a:xfrm>
            <a:off x="4320410" y="1555178"/>
            <a:ext cx="4331465" cy="646331"/>
          </a:xfrm>
          <a:prstGeom prst="rect">
            <a:avLst/>
          </a:prstGeom>
          <a:solidFill>
            <a:srgbClr val="FFF2CC"/>
          </a:solidFill>
        </p:spPr>
        <p:txBody>
          <a:bodyPr wrap="square" rtlCol="0">
            <a:spAutoFit/>
          </a:bodyPr>
          <a:lstStyle/>
          <a:p>
            <a:r>
              <a:rPr lang="en-US" sz="18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8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condition</a:t>
            </a: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tmp</a:t>
            </a:r>
            <a:r>
              <a:rPr lang="en-US" sz="18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+= </a:t>
            </a:r>
            <a:r>
              <a:rPr lang="en-US" sz="18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8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in1</a:t>
            </a: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800" dirty="0">
                <a:solidFill>
                  <a:srgbClr val="D33682"/>
                </a:solidFill>
                <a:latin typeface="Consolas" panose="020B0609020204030204" pitchFamily="49" charset="0"/>
              </a:rPr>
              <a:t>0</a:t>
            </a:r>
            <a:r>
              <a:rPr lang="en-US" sz="1800" dirty="0">
                <a:solidFill>
                  <a:srgbClr val="657B83"/>
                </a:solidFill>
                <a:latin typeface="Consolas" panose="020B0609020204030204" pitchFamily="49" charset="0"/>
              </a:rPr>
              <a:t>]</a:t>
            </a:r>
            <a:r>
              <a:rPr lang="en-US" sz="1800" dirty="0">
                <a:solidFill>
                  <a:srgbClr val="859900"/>
                </a:solidFill>
                <a:latin typeface="Consolas" panose="020B0609020204030204" pitchFamily="49" charset="0"/>
              </a:rPr>
              <a:t> +</a:t>
            </a:r>
            <a:r>
              <a:rPr lang="en-US" sz="1800" dirty="0">
                <a:solidFill>
                  <a:srgbClr val="657B83"/>
                </a:solidFill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in2</a:t>
            </a: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800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]];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0FEFEA-072C-C25E-ED41-AD263C3C617A}"/>
              </a:ext>
            </a:extLst>
          </p:cNvPr>
          <p:cNvSpPr/>
          <p:nvPr/>
        </p:nvSpPr>
        <p:spPr>
          <a:xfrm>
            <a:off x="535777" y="1549838"/>
            <a:ext cx="3435350" cy="4254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How weird gates work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24A3B2-2A2A-25FF-CAC2-7BA83BF7D5B8}"/>
              </a:ext>
            </a:extLst>
          </p:cNvPr>
          <p:cNvSpPr txBox="1"/>
          <p:nvPr/>
        </p:nvSpPr>
        <p:spPr>
          <a:xfrm>
            <a:off x="535773" y="2047621"/>
            <a:ext cx="425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Lato" panose="020B0604020202020204" charset="0"/>
              </a:rPr>
              <a:t>1️⃣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2DFDD3-B485-7643-98EE-C1A36480FA54}"/>
              </a:ext>
            </a:extLst>
          </p:cNvPr>
          <p:cNvSpPr txBox="1"/>
          <p:nvPr/>
        </p:nvSpPr>
        <p:spPr>
          <a:xfrm>
            <a:off x="929473" y="2047539"/>
            <a:ext cx="30416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dirty="0">
                <a:latin typeface="Lato" panose="020B0604020202020204" charset="0"/>
              </a:rPr>
              <a:t>Trigger transient execution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A67658-CDD1-A63B-3C47-DAF66EEF0C0E}"/>
              </a:ext>
            </a:extLst>
          </p:cNvPr>
          <p:cNvSpPr txBox="1"/>
          <p:nvPr/>
        </p:nvSpPr>
        <p:spPr>
          <a:xfrm>
            <a:off x="929473" y="2249510"/>
            <a:ext cx="3041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Branch misprediction, return address misprediction, etc.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1020337-E695-F8DC-FA04-CC7B66218D70}"/>
              </a:ext>
            </a:extLst>
          </p:cNvPr>
          <p:cNvSpPr txBox="1"/>
          <p:nvPr/>
        </p:nvSpPr>
        <p:spPr>
          <a:xfrm>
            <a:off x="535773" y="2836041"/>
            <a:ext cx="425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Lato" panose="020B0604020202020204" charset="0"/>
              </a:rPr>
              <a:t>2️⃣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466CB16-A6BF-C231-54CC-F63B84B01363}"/>
              </a:ext>
            </a:extLst>
          </p:cNvPr>
          <p:cNvSpPr txBox="1"/>
          <p:nvPr/>
        </p:nvSpPr>
        <p:spPr>
          <a:xfrm>
            <a:off x="929473" y="2835959"/>
            <a:ext cx="30416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dirty="0">
                <a:latin typeface="Lato" panose="020B0604020202020204" charset="0"/>
              </a:rPr>
              <a:t>Compute with input latency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FB49EBF-0DBB-1BBB-015D-CF8161E29946}"/>
              </a:ext>
            </a:extLst>
          </p:cNvPr>
          <p:cNvSpPr txBox="1"/>
          <p:nvPr/>
        </p:nvSpPr>
        <p:spPr>
          <a:xfrm>
            <a:off x="929473" y="3037930"/>
            <a:ext cx="30416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Depending on the cache state, input weird registers may have different latency.</a:t>
            </a:r>
          </a:p>
          <a:p>
            <a:pPr algn="l"/>
            <a:r>
              <a:rPr lang="en-US" sz="1200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Cached → </a:t>
            </a:r>
            <a:r>
              <a:rPr lang="en-US" sz="12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short cache hit</a:t>
            </a:r>
          </a:p>
          <a:p>
            <a:r>
              <a:rPr lang="en-US" sz="1200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 cached → </a:t>
            </a:r>
            <a:r>
              <a:rPr lang="en-US" sz="1200" dirty="0">
                <a:solidFill>
                  <a:schemeClr val="accent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long cache miss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2626E08-2E71-2DB7-4F76-AE65A823AC02}"/>
              </a:ext>
            </a:extLst>
          </p:cNvPr>
          <p:cNvSpPr txBox="1"/>
          <p:nvPr/>
        </p:nvSpPr>
        <p:spPr>
          <a:xfrm>
            <a:off x="535773" y="3966402"/>
            <a:ext cx="425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Lato" panose="020B0604020202020204" charset="0"/>
              </a:rPr>
              <a:t>3️⃣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23C186-ABA3-B32C-7F32-8EB1785EF7B9}"/>
              </a:ext>
            </a:extLst>
          </p:cNvPr>
          <p:cNvSpPr txBox="1"/>
          <p:nvPr/>
        </p:nvSpPr>
        <p:spPr>
          <a:xfrm>
            <a:off x="929473" y="3966320"/>
            <a:ext cx="30416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dirty="0">
                <a:latin typeface="Lato" panose="020B0604020202020204" charset="0"/>
              </a:rPr>
              <a:t>Access output weird registers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C936EAF-2B50-CD21-555E-363679156A16}"/>
              </a:ext>
            </a:extLst>
          </p:cNvPr>
          <p:cNvSpPr txBox="1"/>
          <p:nvPr/>
        </p:nvSpPr>
        <p:spPr>
          <a:xfrm>
            <a:off x="929473" y="4168291"/>
            <a:ext cx="3041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Write the results to output weird registers via memory loads.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8E9339E-50A9-AB99-1CD2-54FC388313B2}"/>
              </a:ext>
            </a:extLst>
          </p:cNvPr>
          <p:cNvCxnSpPr>
            <a:cxnSpLocks/>
          </p:cNvCxnSpPr>
          <p:nvPr/>
        </p:nvCxnSpPr>
        <p:spPr>
          <a:xfrm>
            <a:off x="6309959" y="2148840"/>
            <a:ext cx="3772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5D99424-9019-C083-2791-068154755DE0}"/>
              </a:ext>
            </a:extLst>
          </p:cNvPr>
          <p:cNvCxnSpPr>
            <a:cxnSpLocks/>
          </p:cNvCxnSpPr>
          <p:nvPr/>
        </p:nvCxnSpPr>
        <p:spPr>
          <a:xfrm>
            <a:off x="7428419" y="2147901"/>
            <a:ext cx="3899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3B86B5C-0023-5B73-7EEC-EE885518EA74}"/>
              </a:ext>
            </a:extLst>
          </p:cNvPr>
          <p:cNvCxnSpPr>
            <a:cxnSpLocks/>
          </p:cNvCxnSpPr>
          <p:nvPr/>
        </p:nvCxnSpPr>
        <p:spPr>
          <a:xfrm>
            <a:off x="6498585" y="2147901"/>
            <a:ext cx="0" cy="14859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C014229-1523-A0BB-B7FE-748D7203DBC8}"/>
              </a:ext>
            </a:extLst>
          </p:cNvPr>
          <p:cNvCxnSpPr>
            <a:cxnSpLocks/>
          </p:cNvCxnSpPr>
          <p:nvPr/>
        </p:nvCxnSpPr>
        <p:spPr>
          <a:xfrm>
            <a:off x="6498585" y="2296493"/>
            <a:ext cx="113451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812B0D6-DEEC-D1F7-EB5C-C3F7AADE0E21}"/>
              </a:ext>
            </a:extLst>
          </p:cNvPr>
          <p:cNvCxnSpPr>
            <a:cxnSpLocks/>
          </p:cNvCxnSpPr>
          <p:nvPr/>
        </p:nvCxnSpPr>
        <p:spPr>
          <a:xfrm>
            <a:off x="7633096" y="2149245"/>
            <a:ext cx="0" cy="1472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2061E7D-8AE9-165A-F80A-9F2942763B2F}"/>
              </a:ext>
            </a:extLst>
          </p:cNvPr>
          <p:cNvCxnSpPr>
            <a:cxnSpLocks/>
          </p:cNvCxnSpPr>
          <p:nvPr/>
        </p:nvCxnSpPr>
        <p:spPr>
          <a:xfrm>
            <a:off x="7065840" y="2296493"/>
            <a:ext cx="0" cy="1824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98790322-6520-247C-FB9C-3DAC62A90017}"/>
              </a:ext>
            </a:extLst>
          </p:cNvPr>
          <p:cNvSpPr txBox="1"/>
          <p:nvPr/>
        </p:nvSpPr>
        <p:spPr>
          <a:xfrm>
            <a:off x="6138163" y="2487041"/>
            <a:ext cx="18553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/>
                </a:solidFill>
                <a:latin typeface="Lato" panose="020B0604020202020204" charset="0"/>
              </a:rPr>
              <a:t>Input weird registers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80FEF3B-3DFC-2204-5484-14845197CA05}"/>
              </a:ext>
            </a:extLst>
          </p:cNvPr>
          <p:cNvGrpSpPr/>
          <p:nvPr/>
        </p:nvGrpSpPr>
        <p:grpSpPr>
          <a:xfrm>
            <a:off x="4002964" y="3171014"/>
            <a:ext cx="4857512" cy="1019918"/>
            <a:chOff x="4002964" y="3171014"/>
            <a:chExt cx="4857512" cy="1019918"/>
          </a:xfrm>
        </p:grpSpPr>
        <p:cxnSp>
          <p:nvCxnSpPr>
            <p:cNvPr id="11" name="Straight Arrow Connector 20">
              <a:extLst>
                <a:ext uri="{FF2B5EF4-FFF2-40B4-BE49-F238E27FC236}">
                  <a16:creationId xmlns:a16="http://schemas.microsoft.com/office/drawing/2014/main" id="{B42DA604-54A5-9A79-F99E-3EBE803FEA11}"/>
                </a:ext>
              </a:extLst>
            </p:cNvPr>
            <p:cNvCxnSpPr>
              <a:cxnSpLocks/>
            </p:cNvCxnSpPr>
            <p:nvPr/>
          </p:nvCxnSpPr>
          <p:spPr>
            <a:xfrm>
              <a:off x="5037285" y="4037170"/>
              <a:ext cx="3235855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4">
              <a:extLst>
                <a:ext uri="{FF2B5EF4-FFF2-40B4-BE49-F238E27FC236}">
                  <a16:creationId xmlns:a16="http://schemas.microsoft.com/office/drawing/2014/main" id="{69B93538-5E14-4DE3-4997-4BAF22DD4058}"/>
                </a:ext>
              </a:extLst>
            </p:cNvPr>
            <p:cNvCxnSpPr>
              <a:cxnSpLocks/>
            </p:cNvCxnSpPr>
            <p:nvPr/>
          </p:nvCxnSpPr>
          <p:spPr>
            <a:xfrm>
              <a:off x="5085677" y="3741830"/>
              <a:ext cx="2292876" cy="0"/>
            </a:xfrm>
            <a:prstGeom prst="line">
              <a:avLst/>
            </a:prstGeom>
            <a:ln w="28575">
              <a:solidFill>
                <a:schemeClr val="accent3"/>
              </a:solidFill>
              <a:headEnd type="diamond" w="med" len="med"/>
              <a:tail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8">
              <a:extLst>
                <a:ext uri="{FF2B5EF4-FFF2-40B4-BE49-F238E27FC236}">
                  <a16:creationId xmlns:a16="http://schemas.microsoft.com/office/drawing/2014/main" id="{77882285-2FDC-73A2-47F7-46BCE4D24F78}"/>
                </a:ext>
              </a:extLst>
            </p:cNvPr>
            <p:cNvCxnSpPr>
              <a:cxnSpLocks/>
            </p:cNvCxnSpPr>
            <p:nvPr/>
          </p:nvCxnSpPr>
          <p:spPr>
            <a:xfrm>
              <a:off x="5085677" y="3403052"/>
              <a:ext cx="518729" cy="0"/>
            </a:xfrm>
            <a:prstGeom prst="line">
              <a:avLst/>
            </a:prstGeom>
            <a:ln w="28575">
              <a:solidFill>
                <a:schemeClr val="tx1"/>
              </a:solidFill>
              <a:headEnd type="diamond" w="med" len="med"/>
              <a:tail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9E40A1D-55C7-A087-2200-841AA6EDCEFF}"/>
                </a:ext>
              </a:extLst>
            </p:cNvPr>
            <p:cNvCxnSpPr/>
            <p:nvPr/>
          </p:nvCxnSpPr>
          <p:spPr>
            <a:xfrm flipV="1">
              <a:off x="5037285" y="3173736"/>
              <a:ext cx="0" cy="863434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162EDCA-00BA-D48D-704C-755F6A259DD9}"/>
                </a:ext>
              </a:extLst>
            </p:cNvPr>
            <p:cNvSpPr txBox="1"/>
            <p:nvPr/>
          </p:nvSpPr>
          <p:spPr>
            <a:xfrm>
              <a:off x="4265553" y="3263513"/>
              <a:ext cx="7717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tx1"/>
                  </a:solidFill>
                  <a:latin typeface="Lato" panose="020B0604020202020204" charset="0"/>
                </a:rPr>
                <a:t>Cached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7875624-2CEC-DA95-B276-C167AE454829}"/>
                </a:ext>
              </a:extLst>
            </p:cNvPr>
            <p:cNvSpPr txBox="1"/>
            <p:nvPr/>
          </p:nvSpPr>
          <p:spPr>
            <a:xfrm>
              <a:off x="4002964" y="3603330"/>
              <a:ext cx="10343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3"/>
                  </a:solidFill>
                  <a:latin typeface="Lato" panose="020B0604020202020204" charset="0"/>
                </a:rPr>
                <a:t>Not cached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BC3D195-E652-9863-D67B-A530BE5C6999}"/>
                </a:ext>
              </a:extLst>
            </p:cNvPr>
            <p:cNvSpPr txBox="1"/>
            <p:nvPr/>
          </p:nvSpPr>
          <p:spPr>
            <a:xfrm>
              <a:off x="5652798" y="3171014"/>
              <a:ext cx="11868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bg2"/>
                  </a:solidFill>
                  <a:latin typeface="Lato" panose="020B0604020202020204" charset="0"/>
                </a:rPr>
                <a:t>Value</a:t>
              </a:r>
            </a:p>
            <a:p>
              <a:pPr algn="l"/>
              <a:r>
                <a:rPr lang="en-US" sz="1200" dirty="0">
                  <a:solidFill>
                    <a:schemeClr val="bg2"/>
                  </a:solidFill>
                  <a:latin typeface="Lato" panose="020B0604020202020204" charset="0"/>
                </a:rPr>
                <a:t>available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59A5C52-5780-4DAA-284B-F8B06B7C08D4}"/>
                </a:ext>
              </a:extLst>
            </p:cNvPr>
            <p:cNvSpPr txBox="1"/>
            <p:nvPr/>
          </p:nvSpPr>
          <p:spPr>
            <a:xfrm>
              <a:off x="7426944" y="3511484"/>
              <a:ext cx="11926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bg2"/>
                  </a:solidFill>
                  <a:latin typeface="Lato" panose="020B0604020202020204" charset="0"/>
                </a:rPr>
                <a:t>Value</a:t>
              </a:r>
            </a:p>
            <a:p>
              <a:pPr algn="l"/>
              <a:r>
                <a:rPr lang="en-US" sz="1200" dirty="0">
                  <a:solidFill>
                    <a:schemeClr val="bg2"/>
                  </a:solidFill>
                  <a:latin typeface="Lato" panose="020B0604020202020204" charset="0"/>
                </a:rPr>
                <a:t>available</a:t>
              </a:r>
            </a:p>
          </p:txBody>
        </p:sp>
        <p:sp>
          <p:nvSpPr>
            <p:cNvPr id="23" name="TextBox 21">
              <a:extLst>
                <a:ext uri="{FF2B5EF4-FFF2-40B4-BE49-F238E27FC236}">
                  <a16:creationId xmlns:a16="http://schemas.microsoft.com/office/drawing/2014/main" id="{6C0E8000-A96D-1CD3-FC2C-23A5AD56B0F0}"/>
                </a:ext>
              </a:extLst>
            </p:cNvPr>
            <p:cNvSpPr txBox="1"/>
            <p:nvPr/>
          </p:nvSpPr>
          <p:spPr>
            <a:xfrm>
              <a:off x="8262905" y="3883155"/>
              <a:ext cx="5975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Lato" panose="020B0604020202020204" charset="0"/>
                </a:rPr>
                <a:t>Time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59566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D57C0-92B1-73AB-C6BB-866E9DF25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5293303-38F6-BF17-FEEB-30EA4F33F662}"/>
              </a:ext>
            </a:extLst>
          </p:cNvPr>
          <p:cNvSpPr/>
          <p:nvPr/>
        </p:nvSpPr>
        <p:spPr>
          <a:xfrm>
            <a:off x="535775" y="2788103"/>
            <a:ext cx="3435350" cy="11552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AE5527-59D5-22DB-12C5-6A16DF9A1810}"/>
              </a:ext>
            </a:extLst>
          </p:cNvPr>
          <p:cNvSpPr/>
          <p:nvPr/>
        </p:nvSpPr>
        <p:spPr>
          <a:xfrm>
            <a:off x="535775" y="3943350"/>
            <a:ext cx="3435350" cy="806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CBB5E52-6F48-4E26-B662-FA952D54681B}"/>
              </a:ext>
            </a:extLst>
          </p:cNvPr>
          <p:cNvSpPr/>
          <p:nvPr/>
        </p:nvSpPr>
        <p:spPr>
          <a:xfrm>
            <a:off x="535775" y="1975288"/>
            <a:ext cx="3435350" cy="8128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918284-FAC2-75DC-917C-788480187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construction of a weird gate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CDD16F-1A51-FA7A-C38A-E2FE00A832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11</a:t>
            </a:fld>
            <a:endParaRPr lang="zh-TW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53EF6C-2987-4861-C0DF-5D4414B120F1}"/>
              </a:ext>
            </a:extLst>
          </p:cNvPr>
          <p:cNvSpPr txBox="1"/>
          <p:nvPr/>
        </p:nvSpPr>
        <p:spPr>
          <a:xfrm>
            <a:off x="4320410" y="1555178"/>
            <a:ext cx="4331465" cy="646331"/>
          </a:xfrm>
          <a:prstGeom prst="rect">
            <a:avLst/>
          </a:prstGeom>
          <a:solidFill>
            <a:srgbClr val="FFF2CC"/>
          </a:solidFill>
        </p:spPr>
        <p:txBody>
          <a:bodyPr wrap="square" rtlCol="0">
            <a:spAutoFit/>
          </a:bodyPr>
          <a:lstStyle/>
          <a:p>
            <a:r>
              <a:rPr lang="en-US" sz="18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8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condition</a:t>
            </a: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tmp</a:t>
            </a:r>
            <a:r>
              <a:rPr lang="en-US" sz="18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+= </a:t>
            </a:r>
            <a:r>
              <a:rPr lang="en-US" sz="18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8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in1</a:t>
            </a: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800" dirty="0">
                <a:solidFill>
                  <a:srgbClr val="D33682"/>
                </a:solidFill>
                <a:latin typeface="Consolas" panose="020B0609020204030204" pitchFamily="49" charset="0"/>
              </a:rPr>
              <a:t>0</a:t>
            </a:r>
            <a:r>
              <a:rPr lang="en-US" sz="1800" dirty="0">
                <a:solidFill>
                  <a:srgbClr val="657B83"/>
                </a:solidFill>
                <a:latin typeface="Consolas" panose="020B0609020204030204" pitchFamily="49" charset="0"/>
              </a:rPr>
              <a:t>]</a:t>
            </a:r>
            <a:r>
              <a:rPr lang="en-US" sz="1800" dirty="0">
                <a:solidFill>
                  <a:srgbClr val="859900"/>
                </a:solidFill>
                <a:latin typeface="Consolas" panose="020B0609020204030204" pitchFamily="49" charset="0"/>
              </a:rPr>
              <a:t> +</a:t>
            </a:r>
            <a:r>
              <a:rPr lang="en-US" sz="1800" dirty="0">
                <a:solidFill>
                  <a:srgbClr val="657B83"/>
                </a:solidFill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in2</a:t>
            </a: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800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]];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08305A-4CF0-DB7B-62E4-01B835088C3D}"/>
              </a:ext>
            </a:extLst>
          </p:cNvPr>
          <p:cNvSpPr/>
          <p:nvPr/>
        </p:nvSpPr>
        <p:spPr>
          <a:xfrm>
            <a:off x="535777" y="1549838"/>
            <a:ext cx="3435350" cy="4254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How weird gates work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8CC188-BA5B-2059-FDE3-D0ED4824E496}"/>
              </a:ext>
            </a:extLst>
          </p:cNvPr>
          <p:cNvSpPr txBox="1"/>
          <p:nvPr/>
        </p:nvSpPr>
        <p:spPr>
          <a:xfrm>
            <a:off x="535773" y="2047621"/>
            <a:ext cx="425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Lato" panose="020B0604020202020204" charset="0"/>
              </a:rPr>
              <a:t>1️⃣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BD971A-27D3-3FD1-C9A0-D619EB45EDA9}"/>
              </a:ext>
            </a:extLst>
          </p:cNvPr>
          <p:cNvSpPr txBox="1"/>
          <p:nvPr/>
        </p:nvSpPr>
        <p:spPr>
          <a:xfrm>
            <a:off x="929473" y="2047539"/>
            <a:ext cx="30416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dirty="0">
                <a:latin typeface="Lato" panose="020B0604020202020204" charset="0"/>
              </a:rPr>
              <a:t>Trigger transient execution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E27DF2E-17A6-E898-DCAA-57334E4784C1}"/>
              </a:ext>
            </a:extLst>
          </p:cNvPr>
          <p:cNvSpPr txBox="1"/>
          <p:nvPr/>
        </p:nvSpPr>
        <p:spPr>
          <a:xfrm>
            <a:off x="929473" y="2249510"/>
            <a:ext cx="3041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Branch misprediction, return address misprediction, etc.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08516D-7622-D045-163F-98EBA25DDB5C}"/>
              </a:ext>
            </a:extLst>
          </p:cNvPr>
          <p:cNvSpPr txBox="1"/>
          <p:nvPr/>
        </p:nvSpPr>
        <p:spPr>
          <a:xfrm>
            <a:off x="535773" y="2836041"/>
            <a:ext cx="425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Lato" panose="020B0604020202020204" charset="0"/>
              </a:rPr>
              <a:t>2️⃣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C4C042-D5CE-D753-EB48-016923DB0C40}"/>
              </a:ext>
            </a:extLst>
          </p:cNvPr>
          <p:cNvSpPr txBox="1"/>
          <p:nvPr/>
        </p:nvSpPr>
        <p:spPr>
          <a:xfrm>
            <a:off x="929473" y="2835959"/>
            <a:ext cx="30416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dirty="0">
                <a:latin typeface="Lato" panose="020B0604020202020204" charset="0"/>
              </a:rPr>
              <a:t>Compute with input latency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D05337-82CB-2D97-AA36-C40C95BF7BBE}"/>
              </a:ext>
            </a:extLst>
          </p:cNvPr>
          <p:cNvSpPr txBox="1"/>
          <p:nvPr/>
        </p:nvSpPr>
        <p:spPr>
          <a:xfrm>
            <a:off x="929473" y="3037930"/>
            <a:ext cx="30416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Depending on the cache state, input weird registers may have different latency.</a:t>
            </a:r>
          </a:p>
          <a:p>
            <a:pPr algn="l"/>
            <a:r>
              <a:rPr lang="en-US" sz="1200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Cached → </a:t>
            </a:r>
            <a:r>
              <a:rPr lang="en-US" sz="12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short cache hit</a:t>
            </a:r>
          </a:p>
          <a:p>
            <a:r>
              <a:rPr lang="en-US" sz="1200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 cached → </a:t>
            </a:r>
            <a:r>
              <a:rPr lang="en-US" sz="1200" dirty="0">
                <a:solidFill>
                  <a:schemeClr val="accent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long cache miss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F0659D9-58EC-BDDD-CC76-9FA9EBADBA11}"/>
              </a:ext>
            </a:extLst>
          </p:cNvPr>
          <p:cNvSpPr txBox="1"/>
          <p:nvPr/>
        </p:nvSpPr>
        <p:spPr>
          <a:xfrm>
            <a:off x="535773" y="3966402"/>
            <a:ext cx="425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Lato" panose="020B0604020202020204" charset="0"/>
              </a:rPr>
              <a:t>3️⃣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346CFFC-5A1E-976B-152A-5A8F6EE80680}"/>
              </a:ext>
            </a:extLst>
          </p:cNvPr>
          <p:cNvSpPr txBox="1"/>
          <p:nvPr/>
        </p:nvSpPr>
        <p:spPr>
          <a:xfrm>
            <a:off x="929473" y="3966320"/>
            <a:ext cx="30416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dirty="0">
                <a:latin typeface="Lato" panose="020B0604020202020204" charset="0"/>
              </a:rPr>
              <a:t>Access output weird registers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6293CA4-0BF7-4C69-1F5C-E5CBD1CFD05B}"/>
              </a:ext>
            </a:extLst>
          </p:cNvPr>
          <p:cNvSpPr txBox="1"/>
          <p:nvPr/>
        </p:nvSpPr>
        <p:spPr>
          <a:xfrm>
            <a:off x="929473" y="4168291"/>
            <a:ext cx="3041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Write the results to output weird registers via memory loads.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3599007-812E-BF35-BED8-6E2DBEE4D1C8}"/>
              </a:ext>
            </a:extLst>
          </p:cNvPr>
          <p:cNvCxnSpPr>
            <a:cxnSpLocks/>
          </p:cNvCxnSpPr>
          <p:nvPr/>
        </p:nvCxnSpPr>
        <p:spPr>
          <a:xfrm>
            <a:off x="5816184" y="2148840"/>
            <a:ext cx="3477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025BCBF-8858-05C1-38D4-4137165DB619}"/>
              </a:ext>
            </a:extLst>
          </p:cNvPr>
          <p:cNvCxnSpPr>
            <a:cxnSpLocks/>
          </p:cNvCxnSpPr>
          <p:nvPr/>
        </p:nvCxnSpPr>
        <p:spPr>
          <a:xfrm>
            <a:off x="5987071" y="2148840"/>
            <a:ext cx="0" cy="3305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90B56E6-1ED5-486E-D332-8160ABB76DC8}"/>
              </a:ext>
            </a:extLst>
          </p:cNvPr>
          <p:cNvSpPr txBox="1"/>
          <p:nvPr/>
        </p:nvSpPr>
        <p:spPr>
          <a:xfrm>
            <a:off x="4830354" y="2480326"/>
            <a:ext cx="23134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/>
                </a:solidFill>
                <a:latin typeface="Lato" panose="020B0604020202020204" charset="0"/>
              </a:rPr>
              <a:t>Output weird register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12F5B61-FCBC-817B-0CFC-F1C4CD214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408" y="2931203"/>
            <a:ext cx="3877089" cy="1432172"/>
          </a:xfrm>
        </p:spPr>
        <p:txBody>
          <a:bodyPr/>
          <a:lstStyle/>
          <a:p>
            <a:r>
              <a:rPr lang="en-US" dirty="0"/>
              <a:t>Initial state: </a:t>
            </a:r>
            <a:r>
              <a:rPr lang="en-US" dirty="0">
                <a:solidFill>
                  <a:schemeClr val="accent3"/>
                </a:solidFill>
              </a:rPr>
              <a:t>not cached</a:t>
            </a:r>
          </a:p>
          <a:p>
            <a:r>
              <a:rPr lang="en-US" dirty="0"/>
              <a:t>After execution</a:t>
            </a:r>
          </a:p>
          <a:p>
            <a:pPr lvl="1"/>
            <a:r>
              <a:rPr lang="en-US" dirty="0"/>
              <a:t>Result is 0: </a:t>
            </a:r>
            <a:r>
              <a:rPr lang="en-US" dirty="0">
                <a:solidFill>
                  <a:schemeClr val="accent3"/>
                </a:solidFill>
              </a:rPr>
              <a:t>not cached</a:t>
            </a:r>
          </a:p>
          <a:p>
            <a:pPr lvl="1"/>
            <a:r>
              <a:rPr lang="en-US" dirty="0"/>
              <a:t>Result is 1: </a:t>
            </a:r>
            <a:r>
              <a:rPr lang="en-US" dirty="0">
                <a:solidFill>
                  <a:schemeClr val="tx1"/>
                </a:solidFill>
              </a:rPr>
              <a:t>cached</a:t>
            </a:r>
          </a:p>
        </p:txBody>
      </p:sp>
    </p:spTree>
    <p:extLst>
      <p:ext uri="{BB962C8B-B14F-4D97-AF65-F5344CB8AC3E}">
        <p14:creationId xmlns:p14="http://schemas.microsoft.com/office/powerpoint/2010/main" val="3192715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2CC7CC5F-4EDA-0243-8569-1B538D8FB9B9}"/>
              </a:ext>
            </a:extLst>
          </p:cNvPr>
          <p:cNvSpPr/>
          <p:nvPr/>
        </p:nvSpPr>
        <p:spPr>
          <a:xfrm>
            <a:off x="535775" y="1975288"/>
            <a:ext cx="3435350" cy="27745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F5370D-4BC2-3572-DD24-7D71623DB5E9}"/>
              </a:ext>
            </a:extLst>
          </p:cNvPr>
          <p:cNvSpPr/>
          <p:nvPr/>
        </p:nvSpPr>
        <p:spPr>
          <a:xfrm>
            <a:off x="535775" y="3943350"/>
            <a:ext cx="3435350" cy="80650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70633F-884C-98A0-A858-EC166345F06E}"/>
              </a:ext>
            </a:extLst>
          </p:cNvPr>
          <p:cNvSpPr/>
          <p:nvPr/>
        </p:nvSpPr>
        <p:spPr>
          <a:xfrm>
            <a:off x="535775" y="2788103"/>
            <a:ext cx="3435350" cy="11552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B5DDB57-72BE-1569-373D-228933423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 work’s AND gate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5D7C05F-6F65-D4F7-4609-F3944AEC5F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12</a:t>
            </a:fld>
            <a:endParaRPr lang="zh-TW" alt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2769D29-AE8E-791B-C9A8-4FF2B54002A6}"/>
              </a:ext>
            </a:extLst>
          </p:cNvPr>
          <p:cNvGrpSpPr/>
          <p:nvPr/>
        </p:nvGrpSpPr>
        <p:grpSpPr>
          <a:xfrm>
            <a:off x="5109905" y="1863424"/>
            <a:ext cx="3677328" cy="2920420"/>
            <a:chOff x="5109905" y="1863424"/>
            <a:chExt cx="3677328" cy="2920420"/>
          </a:xfrm>
        </p:grpSpPr>
        <p:cxnSp>
          <p:nvCxnSpPr>
            <p:cNvPr id="14" name="Straight Arrow Connector 20">
              <a:extLst>
                <a:ext uri="{FF2B5EF4-FFF2-40B4-BE49-F238E27FC236}">
                  <a16:creationId xmlns:a16="http://schemas.microsoft.com/office/drawing/2014/main" id="{8366AE66-BB28-E87A-77F8-72922B7070D5}"/>
                </a:ext>
              </a:extLst>
            </p:cNvPr>
            <p:cNvCxnSpPr/>
            <p:nvPr/>
          </p:nvCxnSpPr>
          <p:spPr>
            <a:xfrm>
              <a:off x="5114108" y="4476067"/>
              <a:ext cx="316693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21">
              <a:extLst>
                <a:ext uri="{FF2B5EF4-FFF2-40B4-BE49-F238E27FC236}">
                  <a16:creationId xmlns:a16="http://schemas.microsoft.com/office/drawing/2014/main" id="{95F680BF-4048-79D7-149A-79CBF2AAA96F}"/>
                </a:ext>
              </a:extLst>
            </p:cNvPr>
            <p:cNvSpPr txBox="1"/>
            <p:nvPr/>
          </p:nvSpPr>
          <p:spPr>
            <a:xfrm>
              <a:off x="5763559" y="4476067"/>
              <a:ext cx="16975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Lato" panose="020B0604020202020204" charset="0"/>
                </a:rPr>
                <a:t>Time</a:t>
              </a:r>
            </a:p>
          </p:txBody>
        </p:sp>
        <p:cxnSp>
          <p:nvCxnSpPr>
            <p:cNvPr id="22" name="Straight Connector 31">
              <a:extLst>
                <a:ext uri="{FF2B5EF4-FFF2-40B4-BE49-F238E27FC236}">
                  <a16:creationId xmlns:a16="http://schemas.microsoft.com/office/drawing/2014/main" id="{01C7D496-ACDB-4FA5-FAE2-52DC46D1E4AB}"/>
                </a:ext>
              </a:extLst>
            </p:cNvPr>
            <p:cNvCxnSpPr>
              <a:cxnSpLocks/>
            </p:cNvCxnSpPr>
            <p:nvPr/>
          </p:nvCxnSpPr>
          <p:spPr>
            <a:xfrm>
              <a:off x="7188850" y="2106055"/>
              <a:ext cx="0" cy="2370012"/>
            </a:xfrm>
            <a:prstGeom prst="line">
              <a:avLst/>
            </a:prstGeom>
            <a:ln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38">
              <a:extLst>
                <a:ext uri="{FF2B5EF4-FFF2-40B4-BE49-F238E27FC236}">
                  <a16:creationId xmlns:a16="http://schemas.microsoft.com/office/drawing/2014/main" id="{47D6A234-3644-E777-2214-71F1855BD3B0}"/>
                </a:ext>
              </a:extLst>
            </p:cNvPr>
            <p:cNvSpPr txBox="1"/>
            <p:nvPr/>
          </p:nvSpPr>
          <p:spPr>
            <a:xfrm>
              <a:off x="7139287" y="1968248"/>
              <a:ext cx="164794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0" i="0" u="none" strike="noStrike" dirty="0">
                  <a:solidFill>
                    <a:srgbClr val="268BD2"/>
                  </a:solidFill>
                  <a:effectLst/>
                  <a:latin typeface="Consolas" panose="020B0609020204030204" pitchFamily="49" charset="0"/>
                </a:rPr>
                <a:t>condition</a:t>
              </a:r>
              <a:r>
                <a:rPr lang="en-US" sz="1200" dirty="0">
                  <a:solidFill>
                    <a:srgbClr val="657B83"/>
                  </a:solidFill>
                  <a:latin typeface="Consolas" panose="020B0609020204030204" pitchFamily="49" charset="0"/>
                </a:rPr>
                <a:t>()</a:t>
              </a:r>
              <a:r>
                <a:rPr lang="en-US" sz="1200" dirty="0">
                  <a:latin typeface="Lato" panose="020B0604020202020204" charset="0"/>
                </a:rPr>
                <a:t> </a:t>
              </a:r>
              <a:r>
                <a:rPr lang="en-US" sz="1200" dirty="0">
                  <a:solidFill>
                    <a:schemeClr val="bg2"/>
                  </a:solidFill>
                  <a:latin typeface="Lato" panose="020B0604020202020204" charset="0"/>
                </a:rPr>
                <a:t>returns</a:t>
              </a: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999B244-5D61-0C15-9C9A-3C4C0F63B393}"/>
                </a:ext>
              </a:extLst>
            </p:cNvPr>
            <p:cNvGrpSpPr/>
            <p:nvPr/>
          </p:nvGrpSpPr>
          <p:grpSpPr>
            <a:xfrm>
              <a:off x="5109905" y="1863424"/>
              <a:ext cx="2084447" cy="276999"/>
              <a:chOff x="2945314" y="2462470"/>
              <a:chExt cx="2084447" cy="276999"/>
            </a:xfrm>
          </p:grpSpPr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2BEB5063-BDB3-4756-C7C2-B7A472A9F30E}"/>
                  </a:ext>
                </a:extLst>
              </p:cNvPr>
              <p:cNvSpPr txBox="1"/>
              <p:nvPr/>
            </p:nvSpPr>
            <p:spPr>
              <a:xfrm>
                <a:off x="2945314" y="2462470"/>
                <a:ext cx="208444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accent3"/>
                    </a:solidFill>
                    <a:latin typeface="Lato" panose="020B0604020202020204" charset="0"/>
                  </a:rPr>
                  <a:t>Transient execution</a:t>
                </a:r>
              </a:p>
            </p:txBody>
          </p:sp>
          <p:cxnSp>
            <p:nvCxnSpPr>
              <p:cNvPr id="30" name="直線單箭頭接點 29">
                <a:extLst>
                  <a:ext uri="{FF2B5EF4-FFF2-40B4-BE49-F238E27FC236}">
                    <a16:creationId xmlns:a16="http://schemas.microsoft.com/office/drawing/2014/main" id="{9A1C5965-D021-5472-AA41-6D8CFB18D78A}"/>
                  </a:ext>
                </a:extLst>
              </p:cNvPr>
              <p:cNvCxnSpPr/>
              <p:nvPr/>
            </p:nvCxnSpPr>
            <p:spPr>
              <a:xfrm>
                <a:off x="2947415" y="2705502"/>
                <a:ext cx="2076844" cy="0"/>
              </a:xfrm>
              <a:prstGeom prst="straightConnector1">
                <a:avLst/>
              </a:prstGeom>
              <a:ln>
                <a:solidFill>
                  <a:schemeClr val="accent3"/>
                </a:solidFill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1" name="Straight Connector 31">
              <a:extLst>
                <a:ext uri="{FF2B5EF4-FFF2-40B4-BE49-F238E27FC236}">
                  <a16:creationId xmlns:a16="http://schemas.microsoft.com/office/drawing/2014/main" id="{1DD5E6B6-187F-794F-6ABE-0C954682F6C8}"/>
                </a:ext>
              </a:extLst>
            </p:cNvPr>
            <p:cNvCxnSpPr>
              <a:cxnSpLocks/>
            </p:cNvCxnSpPr>
            <p:nvPr/>
          </p:nvCxnSpPr>
          <p:spPr>
            <a:xfrm>
              <a:off x="5112006" y="2106055"/>
              <a:ext cx="0" cy="2370012"/>
            </a:xfrm>
            <a:prstGeom prst="line">
              <a:avLst/>
            </a:prstGeom>
            <a:ln>
              <a:solidFill>
                <a:schemeClr val="bg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002E4D16-4848-6EA5-C572-87CE732C3056}"/>
              </a:ext>
            </a:extLst>
          </p:cNvPr>
          <p:cNvGrpSpPr/>
          <p:nvPr/>
        </p:nvGrpSpPr>
        <p:grpSpPr>
          <a:xfrm>
            <a:off x="4475951" y="898570"/>
            <a:ext cx="4223492" cy="646331"/>
            <a:chOff x="4475951" y="659742"/>
            <a:chExt cx="4223492" cy="646331"/>
          </a:xfrm>
        </p:grpSpPr>
        <p:sp>
          <p:nvSpPr>
            <p:cNvPr id="41" name="TextBox 4">
              <a:extLst>
                <a:ext uri="{FF2B5EF4-FFF2-40B4-BE49-F238E27FC236}">
                  <a16:creationId xmlns:a16="http://schemas.microsoft.com/office/drawing/2014/main" id="{A1DF5E45-ECBA-AC62-86B8-3591BF6A5D49}"/>
                </a:ext>
              </a:extLst>
            </p:cNvPr>
            <p:cNvSpPr txBox="1"/>
            <p:nvPr/>
          </p:nvSpPr>
          <p:spPr>
            <a:xfrm>
              <a:off x="4475951" y="659742"/>
              <a:ext cx="4223492" cy="646331"/>
            </a:xfrm>
            <a:prstGeom prst="rect">
              <a:avLst/>
            </a:prstGeom>
            <a:solidFill>
              <a:srgbClr val="FFF2CC"/>
            </a:solidFill>
          </p:spPr>
          <p:txBody>
            <a:bodyPr wrap="square" rtlCol="0">
              <a:spAutoFit/>
            </a:bodyPr>
            <a:lstStyle/>
            <a:p>
              <a:r>
                <a:rPr lang="en-US" sz="1800" b="0" dirty="0">
                  <a:solidFill>
                    <a:srgbClr val="859900"/>
                  </a:solidFill>
                  <a:effectLst/>
                  <a:latin typeface="Consolas" panose="020B0609020204030204" pitchFamily="49" charset="0"/>
                </a:rPr>
                <a:t>if</a:t>
              </a:r>
              <a:r>
                <a:rPr lang="en-US" sz="1800" b="0" dirty="0">
                  <a:solidFill>
                    <a:srgbClr val="657B83"/>
                  </a:solidFill>
                  <a:effectLst/>
                  <a:latin typeface="Consolas" panose="020B0609020204030204" pitchFamily="49" charset="0"/>
                </a:rPr>
                <a:t> (</a:t>
              </a:r>
              <a:r>
                <a:rPr lang="en-US" sz="1800" b="0" dirty="0">
                  <a:solidFill>
                    <a:srgbClr val="268BD2"/>
                  </a:solidFill>
                  <a:effectLst/>
                  <a:latin typeface="Consolas" panose="020B0609020204030204" pitchFamily="49" charset="0"/>
                </a:rPr>
                <a:t>condition</a:t>
              </a:r>
              <a:r>
                <a:rPr lang="en-US" sz="1800" b="0" dirty="0">
                  <a:solidFill>
                    <a:srgbClr val="657B83"/>
                  </a:solidFill>
                  <a:effectLst/>
                  <a:latin typeface="Consolas" panose="020B0609020204030204" pitchFamily="49" charset="0"/>
                </a:rPr>
                <a:t>())</a:t>
              </a:r>
            </a:p>
            <a:p>
              <a:r>
                <a:rPr lang="en-US" sz="1800" b="0" dirty="0">
                  <a:solidFill>
                    <a:srgbClr val="657B83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sz="1800" b="0" dirty="0" err="1">
                  <a:solidFill>
                    <a:srgbClr val="268BD2"/>
                  </a:solidFill>
                  <a:effectLst/>
                  <a:latin typeface="Consolas" panose="020B0609020204030204" pitchFamily="49" charset="0"/>
                </a:rPr>
                <a:t>tmp</a:t>
              </a:r>
              <a:r>
                <a:rPr lang="en-US" sz="1800" b="0" dirty="0">
                  <a:solidFill>
                    <a:srgbClr val="268BD2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1800" b="0" dirty="0">
                  <a:solidFill>
                    <a:srgbClr val="859900"/>
                  </a:solidFill>
                  <a:effectLst/>
                  <a:latin typeface="Consolas" panose="020B0609020204030204" pitchFamily="49" charset="0"/>
                </a:rPr>
                <a:t>+= </a:t>
              </a:r>
              <a:r>
                <a:rPr lang="en-US" sz="1800" dirty="0">
                  <a:solidFill>
                    <a:srgbClr val="268BD2"/>
                  </a:solidFill>
                  <a:latin typeface="Consolas" panose="020B0609020204030204" pitchFamily="49" charset="0"/>
                </a:rPr>
                <a:t>out</a:t>
              </a:r>
              <a:r>
                <a:rPr lang="en-US" sz="1800" dirty="0">
                  <a:solidFill>
                    <a:srgbClr val="657B83"/>
                  </a:solidFill>
                  <a:latin typeface="Consolas" panose="020B0609020204030204" pitchFamily="49" charset="0"/>
                </a:rPr>
                <a:t>[</a:t>
              </a:r>
              <a:r>
                <a:rPr lang="en-US" sz="1800" dirty="0">
                  <a:solidFill>
                    <a:srgbClr val="268BD2"/>
                  </a:solidFill>
                  <a:latin typeface="Consolas" panose="020B0609020204030204" pitchFamily="49" charset="0"/>
                </a:rPr>
                <a:t>in1</a:t>
              </a:r>
              <a:r>
                <a:rPr lang="en-US" sz="1800" dirty="0">
                  <a:solidFill>
                    <a:srgbClr val="657B83"/>
                  </a:solidFill>
                  <a:latin typeface="Consolas" panose="020B0609020204030204" pitchFamily="49" charset="0"/>
                </a:rPr>
                <a:t>[</a:t>
              </a:r>
              <a:r>
                <a:rPr lang="en-US" sz="1800" dirty="0">
                  <a:solidFill>
                    <a:srgbClr val="D33682"/>
                  </a:solidFill>
                  <a:latin typeface="Consolas" panose="020B0609020204030204" pitchFamily="49" charset="0"/>
                </a:rPr>
                <a:t>0</a:t>
              </a:r>
              <a:r>
                <a:rPr lang="en-US" sz="1800" dirty="0">
                  <a:solidFill>
                    <a:srgbClr val="657B83"/>
                  </a:solidFill>
                  <a:latin typeface="Consolas" panose="020B0609020204030204" pitchFamily="49" charset="0"/>
                </a:rPr>
                <a:t>]</a:t>
              </a:r>
              <a:r>
                <a:rPr lang="en-US" sz="1800" dirty="0">
                  <a:solidFill>
                    <a:srgbClr val="859900"/>
                  </a:solidFill>
                  <a:latin typeface="Consolas" panose="020B0609020204030204" pitchFamily="49" charset="0"/>
                </a:rPr>
                <a:t> +</a:t>
              </a:r>
              <a:r>
                <a:rPr lang="en-US" sz="1800" dirty="0">
                  <a:solidFill>
                    <a:srgbClr val="657B8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800" dirty="0">
                  <a:solidFill>
                    <a:srgbClr val="268BD2"/>
                  </a:solidFill>
                  <a:latin typeface="Consolas" panose="020B0609020204030204" pitchFamily="49" charset="0"/>
                </a:rPr>
                <a:t>in2</a:t>
              </a:r>
              <a:r>
                <a:rPr lang="en-US" sz="1800" dirty="0">
                  <a:solidFill>
                    <a:srgbClr val="657B83"/>
                  </a:solidFill>
                  <a:latin typeface="Consolas" panose="020B0609020204030204" pitchFamily="49" charset="0"/>
                </a:rPr>
                <a:t>[</a:t>
              </a:r>
              <a:r>
                <a:rPr lang="en-US" sz="1800" dirty="0">
                  <a:solidFill>
                    <a:srgbClr val="D33682"/>
                  </a:solidFill>
                  <a:latin typeface="Consolas" panose="020B0609020204030204" pitchFamily="49" charset="0"/>
                </a:rPr>
                <a:t>0</a:t>
              </a:r>
              <a:r>
                <a:rPr lang="en-US" sz="1800" dirty="0">
                  <a:solidFill>
                    <a:srgbClr val="657B83"/>
                  </a:solidFill>
                  <a:latin typeface="Consolas" panose="020B0609020204030204" pitchFamily="49" charset="0"/>
                </a:rPr>
                <a:t>]];</a:t>
              </a:r>
              <a:endPara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endParaRPr>
            </a:p>
          </p:txBody>
        </p:sp>
        <p:cxnSp>
          <p:nvCxnSpPr>
            <p:cNvPr id="42" name="接點: 肘形 41">
              <a:extLst>
                <a:ext uri="{FF2B5EF4-FFF2-40B4-BE49-F238E27FC236}">
                  <a16:creationId xmlns:a16="http://schemas.microsoft.com/office/drawing/2014/main" id="{CC6AD588-3AAF-B3CF-3DB0-F7AD61413C8A}"/>
                </a:ext>
              </a:extLst>
            </p:cNvPr>
            <p:cNvCxnSpPr>
              <a:cxnSpLocks/>
            </p:cNvCxnSpPr>
            <p:nvPr/>
          </p:nvCxnSpPr>
          <p:spPr>
            <a:xfrm>
              <a:off x="6586395" y="834264"/>
              <a:ext cx="243425" cy="178204"/>
            </a:xfrm>
            <a:prstGeom prst="bentConnector3">
              <a:avLst>
                <a:gd name="adj1" fmla="val 100518"/>
              </a:avLst>
            </a:prstGeom>
            <a:ln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F1457677-D116-84B3-8FC0-E52B1093DE4B}"/>
                </a:ext>
              </a:extLst>
            </p:cNvPr>
            <p:cNvSpPr txBox="1"/>
            <p:nvPr/>
          </p:nvSpPr>
          <p:spPr>
            <a:xfrm>
              <a:off x="6786728" y="659742"/>
              <a:ext cx="1405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dirty="0">
                  <a:solidFill>
                    <a:schemeClr val="accent3"/>
                  </a:solidFill>
                  <a:latin typeface="Lato" panose="020B0604020202020204" charset="0"/>
                </a:rPr>
                <a:t>Misprediction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572D02B-7800-9170-63F6-073CBB6F8881}"/>
              </a:ext>
            </a:extLst>
          </p:cNvPr>
          <p:cNvSpPr txBox="1"/>
          <p:nvPr/>
        </p:nvSpPr>
        <p:spPr>
          <a:xfrm>
            <a:off x="4458353" y="2125406"/>
            <a:ext cx="6460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latin typeface="Lato" panose="020B0604020202020204" charset="0"/>
              </a:rPr>
              <a:t>Input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88FF1EE-EE27-83D5-D16E-86DA4DCB34DF}"/>
              </a:ext>
            </a:extLst>
          </p:cNvPr>
          <p:cNvGrpSpPr/>
          <p:nvPr/>
        </p:nvGrpSpPr>
        <p:grpSpPr>
          <a:xfrm>
            <a:off x="4332430" y="2482671"/>
            <a:ext cx="2241416" cy="307777"/>
            <a:chOff x="1007417" y="2661643"/>
            <a:chExt cx="2241416" cy="307777"/>
          </a:xfrm>
        </p:grpSpPr>
        <p:cxnSp>
          <p:nvCxnSpPr>
            <p:cNvPr id="6" name="Straight Connector 8">
              <a:extLst>
                <a:ext uri="{FF2B5EF4-FFF2-40B4-BE49-F238E27FC236}">
                  <a16:creationId xmlns:a16="http://schemas.microsoft.com/office/drawing/2014/main" id="{8F9FDA6A-F4BF-093A-FACB-FC8A05A8AF3A}"/>
                </a:ext>
              </a:extLst>
            </p:cNvPr>
            <p:cNvCxnSpPr>
              <a:cxnSpLocks/>
            </p:cNvCxnSpPr>
            <p:nvPr/>
          </p:nvCxnSpPr>
          <p:spPr>
            <a:xfrm>
              <a:off x="1834151" y="2759260"/>
              <a:ext cx="518729" cy="0"/>
            </a:xfrm>
            <a:prstGeom prst="line">
              <a:avLst/>
            </a:prstGeom>
            <a:ln w="28575">
              <a:solidFill>
                <a:schemeClr val="tx1"/>
              </a:solidFill>
              <a:headEnd type="diamond" w="med" len="med"/>
              <a:tail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10">
              <a:extLst>
                <a:ext uri="{FF2B5EF4-FFF2-40B4-BE49-F238E27FC236}">
                  <a16:creationId xmlns:a16="http://schemas.microsoft.com/office/drawing/2014/main" id="{11C2AC9B-4EE3-6E5F-071A-A440C8581169}"/>
                </a:ext>
              </a:extLst>
            </p:cNvPr>
            <p:cNvCxnSpPr>
              <a:cxnSpLocks/>
            </p:cNvCxnSpPr>
            <p:nvPr/>
          </p:nvCxnSpPr>
          <p:spPr>
            <a:xfrm>
              <a:off x="1834151" y="2873185"/>
              <a:ext cx="518729" cy="0"/>
            </a:xfrm>
            <a:prstGeom prst="line">
              <a:avLst/>
            </a:prstGeom>
            <a:ln w="28575">
              <a:solidFill>
                <a:schemeClr val="tx1"/>
              </a:solidFill>
              <a:headEnd type="diamond" w="med" len="med"/>
              <a:tail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15">
              <a:extLst>
                <a:ext uri="{FF2B5EF4-FFF2-40B4-BE49-F238E27FC236}">
                  <a16:creationId xmlns:a16="http://schemas.microsoft.com/office/drawing/2014/main" id="{2C8E2109-5030-3E74-1A7F-CC8E0F99D89D}"/>
                </a:ext>
              </a:extLst>
            </p:cNvPr>
            <p:cNvSpPr txBox="1"/>
            <p:nvPr/>
          </p:nvSpPr>
          <p:spPr>
            <a:xfrm>
              <a:off x="2390993" y="2661643"/>
              <a:ext cx="8578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268BD2"/>
                  </a:solidFill>
                  <a:latin typeface="Consolas" panose="020B0609020204030204" pitchFamily="49" charset="0"/>
                </a:rPr>
                <a:t>out</a:t>
              </a:r>
              <a:r>
                <a:rPr lang="en-US" sz="1400" b="0" i="0" u="none" strike="noStrike" dirty="0">
                  <a:solidFill>
                    <a:srgbClr val="657B83"/>
                  </a:solidFill>
                  <a:effectLst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= </a:t>
              </a:r>
              <a:r>
                <a:rPr lang="en-US" sz="1400" b="0" i="0" u="none" strike="noStrike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1</a:t>
              </a:r>
              <a:endParaRPr lang="en-US" dirty="0">
                <a:solidFill>
                  <a:schemeClr val="tx1"/>
                </a:solidFill>
                <a:latin typeface="Lato" panose="020B060402020202020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1E53D3D-EA02-58B8-A6DF-E9B08A02F312}"/>
                </a:ext>
              </a:extLst>
            </p:cNvPr>
            <p:cNvSpPr txBox="1"/>
            <p:nvPr/>
          </p:nvSpPr>
          <p:spPr>
            <a:xfrm>
              <a:off x="1007417" y="2661643"/>
              <a:ext cx="7740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dirty="0">
                  <a:latin typeface="Lato" panose="020B0604020202020204" charset="0"/>
                </a:rPr>
                <a:t>(1, 1)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BD56583-AC3C-5177-0AA7-BB6E70648C58}"/>
              </a:ext>
            </a:extLst>
          </p:cNvPr>
          <p:cNvGrpSpPr/>
          <p:nvPr/>
        </p:nvGrpSpPr>
        <p:grpSpPr>
          <a:xfrm>
            <a:off x="4340033" y="2994999"/>
            <a:ext cx="4005797" cy="307777"/>
            <a:chOff x="1015020" y="3107475"/>
            <a:chExt cx="4005797" cy="307777"/>
          </a:xfrm>
        </p:grpSpPr>
        <p:cxnSp>
          <p:nvCxnSpPr>
            <p:cNvPr id="10" name="Straight Connector 14">
              <a:extLst>
                <a:ext uri="{FF2B5EF4-FFF2-40B4-BE49-F238E27FC236}">
                  <a16:creationId xmlns:a16="http://schemas.microsoft.com/office/drawing/2014/main" id="{755EA5A2-C816-C567-FA8D-21A70A49C43E}"/>
                </a:ext>
              </a:extLst>
            </p:cNvPr>
            <p:cNvCxnSpPr>
              <a:cxnSpLocks/>
            </p:cNvCxnSpPr>
            <p:nvPr/>
          </p:nvCxnSpPr>
          <p:spPr>
            <a:xfrm>
              <a:off x="1834151" y="3308272"/>
              <a:ext cx="2292876" cy="0"/>
            </a:xfrm>
            <a:prstGeom prst="line">
              <a:avLst/>
            </a:prstGeom>
            <a:ln w="28575">
              <a:solidFill>
                <a:schemeClr val="accent3"/>
              </a:solidFill>
              <a:headEnd type="diamond" w="med" len="med"/>
              <a:tail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15">
              <a:extLst>
                <a:ext uri="{FF2B5EF4-FFF2-40B4-BE49-F238E27FC236}">
                  <a16:creationId xmlns:a16="http://schemas.microsoft.com/office/drawing/2014/main" id="{719F3FFB-0619-992F-687F-BEF2A5F5ADEE}"/>
                </a:ext>
              </a:extLst>
            </p:cNvPr>
            <p:cNvSpPr txBox="1"/>
            <p:nvPr/>
          </p:nvSpPr>
          <p:spPr>
            <a:xfrm>
              <a:off x="4162977" y="3107475"/>
              <a:ext cx="8578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268BD2"/>
                  </a:solidFill>
                  <a:latin typeface="Consolas" panose="020B0609020204030204" pitchFamily="49" charset="0"/>
                </a:rPr>
                <a:t>out</a:t>
              </a:r>
              <a:r>
                <a:rPr lang="en-US" sz="1400" b="0" i="0" u="none" strike="noStrike" dirty="0">
                  <a:solidFill>
                    <a:srgbClr val="657B83"/>
                  </a:solidFill>
                  <a:effectLst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= </a:t>
              </a:r>
              <a:r>
                <a:rPr lang="en-US" dirty="0">
                  <a:solidFill>
                    <a:schemeClr val="accent3"/>
                  </a:solidFill>
                  <a:latin typeface="Consolas" panose="020B0609020204030204" pitchFamily="49" charset="0"/>
                  <a:ea typeface="Lato" panose="020F0502020204030203" pitchFamily="34" charset="0"/>
                </a:rPr>
                <a:t>0</a:t>
              </a:r>
              <a:endParaRPr lang="en-US" dirty="0">
                <a:solidFill>
                  <a:schemeClr val="accent3"/>
                </a:solidFill>
                <a:latin typeface="Lato" panose="020B060402020202020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1613D1B-877B-4A5A-3A4E-D70E835181D6}"/>
                </a:ext>
              </a:extLst>
            </p:cNvPr>
            <p:cNvSpPr txBox="1"/>
            <p:nvPr/>
          </p:nvSpPr>
          <p:spPr>
            <a:xfrm>
              <a:off x="1015020" y="3107475"/>
              <a:ext cx="7740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dirty="0">
                  <a:latin typeface="Lato" panose="020B0604020202020204" charset="0"/>
                </a:rPr>
                <a:t>(1, 0)</a:t>
              </a:r>
            </a:p>
          </p:txBody>
        </p:sp>
        <p:cxnSp>
          <p:nvCxnSpPr>
            <p:cNvPr id="39" name="Straight Connector 8">
              <a:extLst>
                <a:ext uri="{FF2B5EF4-FFF2-40B4-BE49-F238E27FC236}">
                  <a16:creationId xmlns:a16="http://schemas.microsoft.com/office/drawing/2014/main" id="{63E107BB-D051-6F0D-D1A1-8C58958742B9}"/>
                </a:ext>
              </a:extLst>
            </p:cNvPr>
            <p:cNvCxnSpPr>
              <a:cxnSpLocks/>
            </p:cNvCxnSpPr>
            <p:nvPr/>
          </p:nvCxnSpPr>
          <p:spPr>
            <a:xfrm>
              <a:off x="1834151" y="3197270"/>
              <a:ext cx="518729" cy="0"/>
            </a:xfrm>
            <a:prstGeom prst="line">
              <a:avLst/>
            </a:prstGeom>
            <a:ln w="28575">
              <a:solidFill>
                <a:schemeClr val="tx1"/>
              </a:solidFill>
              <a:headEnd type="diamond" w="med" len="med"/>
              <a:tail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42C5FC8-C516-F913-43A0-ECC8AB0AD6CD}"/>
              </a:ext>
            </a:extLst>
          </p:cNvPr>
          <p:cNvGrpSpPr/>
          <p:nvPr/>
        </p:nvGrpSpPr>
        <p:grpSpPr>
          <a:xfrm>
            <a:off x="4340033" y="3539467"/>
            <a:ext cx="4005797" cy="307777"/>
            <a:chOff x="1015020" y="3515291"/>
            <a:chExt cx="4005797" cy="307777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F9F8E91-5DC8-A9F8-BAC8-75BC4D7E3DFA}"/>
                </a:ext>
              </a:extLst>
            </p:cNvPr>
            <p:cNvSpPr txBox="1"/>
            <p:nvPr/>
          </p:nvSpPr>
          <p:spPr>
            <a:xfrm>
              <a:off x="1015020" y="3537218"/>
              <a:ext cx="7740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dirty="0">
                  <a:latin typeface="Lato" panose="020B0604020202020204" charset="0"/>
                </a:rPr>
                <a:t>(0, 1)</a:t>
              </a:r>
            </a:p>
          </p:txBody>
        </p:sp>
        <p:cxnSp>
          <p:nvCxnSpPr>
            <p:cNvPr id="46" name="Straight Connector 14">
              <a:extLst>
                <a:ext uri="{FF2B5EF4-FFF2-40B4-BE49-F238E27FC236}">
                  <a16:creationId xmlns:a16="http://schemas.microsoft.com/office/drawing/2014/main" id="{94137D05-ACA6-4F51-11CF-1B8AB68779AB}"/>
                </a:ext>
              </a:extLst>
            </p:cNvPr>
            <p:cNvCxnSpPr>
              <a:cxnSpLocks/>
            </p:cNvCxnSpPr>
            <p:nvPr/>
          </p:nvCxnSpPr>
          <p:spPr>
            <a:xfrm>
              <a:off x="1834151" y="3646475"/>
              <a:ext cx="2292876" cy="0"/>
            </a:xfrm>
            <a:prstGeom prst="line">
              <a:avLst/>
            </a:prstGeom>
            <a:ln w="28575">
              <a:solidFill>
                <a:schemeClr val="accent3"/>
              </a:solidFill>
              <a:headEnd type="diamond" w="med" len="med"/>
              <a:tail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8">
              <a:extLst>
                <a:ext uri="{FF2B5EF4-FFF2-40B4-BE49-F238E27FC236}">
                  <a16:creationId xmlns:a16="http://schemas.microsoft.com/office/drawing/2014/main" id="{705A11F1-2779-7F6F-929E-DD154C0958D1}"/>
                </a:ext>
              </a:extLst>
            </p:cNvPr>
            <p:cNvCxnSpPr>
              <a:cxnSpLocks/>
            </p:cNvCxnSpPr>
            <p:nvPr/>
          </p:nvCxnSpPr>
          <p:spPr>
            <a:xfrm>
              <a:off x="1834150" y="3757477"/>
              <a:ext cx="518729" cy="0"/>
            </a:xfrm>
            <a:prstGeom prst="line">
              <a:avLst/>
            </a:prstGeom>
            <a:ln w="28575">
              <a:solidFill>
                <a:schemeClr val="tx1"/>
              </a:solidFill>
              <a:headEnd type="diamond" w="med" len="med"/>
              <a:tail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15">
              <a:extLst>
                <a:ext uri="{FF2B5EF4-FFF2-40B4-BE49-F238E27FC236}">
                  <a16:creationId xmlns:a16="http://schemas.microsoft.com/office/drawing/2014/main" id="{2156DBE0-5B0D-51D9-269D-B725D37B069C}"/>
                </a:ext>
              </a:extLst>
            </p:cNvPr>
            <p:cNvSpPr txBox="1"/>
            <p:nvPr/>
          </p:nvSpPr>
          <p:spPr>
            <a:xfrm>
              <a:off x="4162977" y="3515291"/>
              <a:ext cx="8578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268BD2"/>
                  </a:solidFill>
                  <a:latin typeface="Consolas" panose="020B0609020204030204" pitchFamily="49" charset="0"/>
                </a:rPr>
                <a:t>out</a:t>
              </a:r>
              <a:r>
                <a:rPr lang="en-US" sz="1400" b="0" i="0" u="none" strike="noStrike" dirty="0">
                  <a:solidFill>
                    <a:srgbClr val="657B83"/>
                  </a:solidFill>
                  <a:effectLst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= </a:t>
              </a:r>
              <a:r>
                <a:rPr lang="en-US" dirty="0">
                  <a:solidFill>
                    <a:schemeClr val="accent3"/>
                  </a:solidFill>
                  <a:latin typeface="Consolas" panose="020B0609020204030204" pitchFamily="49" charset="0"/>
                  <a:ea typeface="Lato" panose="020F0502020204030203" pitchFamily="34" charset="0"/>
                </a:rPr>
                <a:t>0</a:t>
              </a:r>
              <a:endParaRPr lang="en-US" dirty="0">
                <a:solidFill>
                  <a:schemeClr val="accent3"/>
                </a:solidFill>
                <a:latin typeface="Lato" panose="020B0604020202020204" charset="0"/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C8C92F02-64C2-AD14-AC6F-B4CAA9EABCB4}"/>
              </a:ext>
            </a:extLst>
          </p:cNvPr>
          <p:cNvGrpSpPr/>
          <p:nvPr/>
        </p:nvGrpSpPr>
        <p:grpSpPr>
          <a:xfrm>
            <a:off x="4332430" y="4133841"/>
            <a:ext cx="4013400" cy="307777"/>
            <a:chOff x="1007417" y="3965210"/>
            <a:chExt cx="4013400" cy="307777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F42FEAE-1A70-D4C6-B2CD-F82D88FD0FA2}"/>
                </a:ext>
              </a:extLst>
            </p:cNvPr>
            <p:cNvSpPr txBox="1"/>
            <p:nvPr/>
          </p:nvSpPr>
          <p:spPr>
            <a:xfrm>
              <a:off x="1007417" y="3969250"/>
              <a:ext cx="7740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dirty="0">
                  <a:latin typeface="Lato" panose="020B0604020202020204" charset="0"/>
                </a:rPr>
                <a:t>(0, 0)</a:t>
              </a:r>
            </a:p>
          </p:txBody>
        </p:sp>
        <p:cxnSp>
          <p:nvCxnSpPr>
            <p:cNvPr id="48" name="Straight Connector 14">
              <a:extLst>
                <a:ext uri="{FF2B5EF4-FFF2-40B4-BE49-F238E27FC236}">
                  <a16:creationId xmlns:a16="http://schemas.microsoft.com/office/drawing/2014/main" id="{AABCA2D9-C841-5B3A-E40A-8544B2D81360}"/>
                </a:ext>
              </a:extLst>
            </p:cNvPr>
            <p:cNvCxnSpPr>
              <a:cxnSpLocks/>
            </p:cNvCxnSpPr>
            <p:nvPr/>
          </p:nvCxnSpPr>
          <p:spPr>
            <a:xfrm>
              <a:off x="1834152" y="4069198"/>
              <a:ext cx="2292876" cy="0"/>
            </a:xfrm>
            <a:prstGeom prst="line">
              <a:avLst/>
            </a:prstGeom>
            <a:ln w="28575">
              <a:solidFill>
                <a:schemeClr val="accent3"/>
              </a:solidFill>
              <a:headEnd type="diamond" w="med" len="med"/>
              <a:tail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14">
              <a:extLst>
                <a:ext uri="{FF2B5EF4-FFF2-40B4-BE49-F238E27FC236}">
                  <a16:creationId xmlns:a16="http://schemas.microsoft.com/office/drawing/2014/main" id="{263C6975-7F76-7CE0-F825-E26AB90396E6}"/>
                </a:ext>
              </a:extLst>
            </p:cNvPr>
            <p:cNvCxnSpPr>
              <a:cxnSpLocks/>
            </p:cNvCxnSpPr>
            <p:nvPr/>
          </p:nvCxnSpPr>
          <p:spPr>
            <a:xfrm>
              <a:off x="1834151" y="4178069"/>
              <a:ext cx="2292876" cy="0"/>
            </a:xfrm>
            <a:prstGeom prst="line">
              <a:avLst/>
            </a:prstGeom>
            <a:ln w="28575">
              <a:solidFill>
                <a:schemeClr val="accent3"/>
              </a:solidFill>
              <a:headEnd type="diamond" w="med" len="med"/>
              <a:tail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15">
              <a:extLst>
                <a:ext uri="{FF2B5EF4-FFF2-40B4-BE49-F238E27FC236}">
                  <a16:creationId xmlns:a16="http://schemas.microsoft.com/office/drawing/2014/main" id="{EAB32889-7043-A5BA-9F4D-7B1361E23711}"/>
                </a:ext>
              </a:extLst>
            </p:cNvPr>
            <p:cNvSpPr txBox="1"/>
            <p:nvPr/>
          </p:nvSpPr>
          <p:spPr>
            <a:xfrm>
              <a:off x="4162977" y="3965210"/>
              <a:ext cx="8578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268BD2"/>
                  </a:solidFill>
                  <a:latin typeface="Consolas" panose="020B0609020204030204" pitchFamily="49" charset="0"/>
                </a:rPr>
                <a:t>out</a:t>
              </a:r>
              <a:r>
                <a:rPr lang="en-US" sz="1400" b="0" i="0" u="none" strike="noStrike" dirty="0">
                  <a:solidFill>
                    <a:srgbClr val="657B83"/>
                  </a:solidFill>
                  <a:effectLst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= </a:t>
              </a:r>
              <a:r>
                <a:rPr lang="en-US" dirty="0">
                  <a:solidFill>
                    <a:schemeClr val="accent3"/>
                  </a:solidFill>
                  <a:latin typeface="Consolas" panose="020B0609020204030204" pitchFamily="49" charset="0"/>
                  <a:ea typeface="Lato" panose="020F0502020204030203" pitchFamily="34" charset="0"/>
                </a:rPr>
                <a:t>0</a:t>
              </a:r>
              <a:endParaRPr lang="en-US" dirty="0">
                <a:solidFill>
                  <a:schemeClr val="accent3"/>
                </a:solidFill>
                <a:latin typeface="Lato" panose="020B0604020202020204" charset="0"/>
              </a:endParaRPr>
            </a:p>
          </p:txBody>
        </p: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A82EADB7-50EB-52EC-2A0E-78215A712C1C}"/>
              </a:ext>
            </a:extLst>
          </p:cNvPr>
          <p:cNvSpPr/>
          <p:nvPr/>
        </p:nvSpPr>
        <p:spPr>
          <a:xfrm>
            <a:off x="535777" y="1549838"/>
            <a:ext cx="3435350" cy="4254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How the AND gate works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487218F-80F9-0BDE-379C-AF93AD2DFC48}"/>
              </a:ext>
            </a:extLst>
          </p:cNvPr>
          <p:cNvSpPr txBox="1"/>
          <p:nvPr/>
        </p:nvSpPr>
        <p:spPr>
          <a:xfrm>
            <a:off x="535773" y="2047621"/>
            <a:ext cx="425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Lato" panose="020B0604020202020204" charset="0"/>
              </a:rPr>
              <a:t>1️⃣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0BDBDA0-E1AB-63F1-4FEF-EAA654175D69}"/>
              </a:ext>
            </a:extLst>
          </p:cNvPr>
          <p:cNvSpPr txBox="1"/>
          <p:nvPr/>
        </p:nvSpPr>
        <p:spPr>
          <a:xfrm>
            <a:off x="929473" y="2047539"/>
            <a:ext cx="30416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dirty="0">
                <a:latin typeface="Lato" panose="020B0604020202020204" charset="0"/>
              </a:rPr>
              <a:t>Trigger transient execution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D368B02-6E7A-23DC-672D-B515AA72318A}"/>
              </a:ext>
            </a:extLst>
          </p:cNvPr>
          <p:cNvSpPr txBox="1"/>
          <p:nvPr/>
        </p:nvSpPr>
        <p:spPr>
          <a:xfrm>
            <a:off x="929473" y="2249510"/>
            <a:ext cx="3041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CPU mispredicts the branch and executes the gate transiently.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770F558-EC78-3C39-857E-096587822E34}"/>
              </a:ext>
            </a:extLst>
          </p:cNvPr>
          <p:cNvSpPr txBox="1"/>
          <p:nvPr/>
        </p:nvSpPr>
        <p:spPr>
          <a:xfrm>
            <a:off x="535773" y="2836041"/>
            <a:ext cx="425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Lato" panose="020B0604020202020204" charset="0"/>
              </a:rPr>
              <a:t>2️⃣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55FE3BA-48C2-43AD-1E68-F4E8A3B73E13}"/>
              </a:ext>
            </a:extLst>
          </p:cNvPr>
          <p:cNvSpPr txBox="1"/>
          <p:nvPr/>
        </p:nvSpPr>
        <p:spPr>
          <a:xfrm>
            <a:off x="929473" y="2835959"/>
            <a:ext cx="30416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dirty="0">
                <a:latin typeface="Lato" panose="020B0604020202020204" charset="0"/>
              </a:rPr>
              <a:t>Compute with input latency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D37A700-5B9C-3009-02E3-B9D117037C60}"/>
              </a:ext>
            </a:extLst>
          </p:cNvPr>
          <p:cNvSpPr txBox="1"/>
          <p:nvPr/>
        </p:nvSpPr>
        <p:spPr>
          <a:xfrm>
            <a:off x="929473" y="3037930"/>
            <a:ext cx="30416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Both </a:t>
            </a:r>
            <a:r>
              <a:rPr lang="en-US" sz="1200" dirty="0">
                <a:solidFill>
                  <a:srgbClr val="268BD2"/>
                </a:solidFill>
                <a:latin typeface="Consolas" panose="020B0609020204030204" pitchFamily="49" charset="0"/>
              </a:rPr>
              <a:t>in1</a:t>
            </a:r>
            <a:r>
              <a:rPr lang="en-US" sz="1200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and </a:t>
            </a:r>
            <a:r>
              <a:rPr lang="en-US" sz="1200" dirty="0">
                <a:solidFill>
                  <a:srgbClr val="268BD2"/>
                </a:solidFill>
                <a:latin typeface="Consolas" panose="020B0609020204030204" pitchFamily="49" charset="0"/>
              </a:rPr>
              <a:t>in2</a:t>
            </a:r>
            <a:r>
              <a:rPr lang="en-US" sz="1200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are fetched at the same time (no dependency!)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Addition (</a:t>
            </a:r>
            <a:r>
              <a:rPr lang="en-US" sz="1200" dirty="0">
                <a:solidFill>
                  <a:srgbClr val="268BD2"/>
                </a:solidFill>
                <a:latin typeface="Consolas" panose="020B0609020204030204" pitchFamily="49" charset="0"/>
              </a:rPr>
              <a:t>in1</a:t>
            </a:r>
            <a:r>
              <a:rPr lang="en-US" sz="1200" dirty="0">
                <a:solidFill>
                  <a:srgbClr val="657B83"/>
                </a:solidFill>
                <a:latin typeface="Consolas" panose="020B0609020204030204" pitchFamily="49" charset="0"/>
              </a:rPr>
              <a:t>[</a:t>
            </a:r>
            <a:r>
              <a:rPr lang="en-US" sz="1200" dirty="0">
                <a:solidFill>
                  <a:srgbClr val="D33682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657B83"/>
                </a:solidFill>
                <a:latin typeface="Consolas" panose="020B0609020204030204" pitchFamily="49" charset="0"/>
              </a:rPr>
              <a:t>]</a:t>
            </a:r>
            <a:r>
              <a:rPr lang="en-US" sz="1200" dirty="0">
                <a:solidFill>
                  <a:srgbClr val="859900"/>
                </a:solidFill>
                <a:latin typeface="Consolas" panose="020B0609020204030204" pitchFamily="49" charset="0"/>
              </a:rPr>
              <a:t> +</a:t>
            </a:r>
            <a:r>
              <a:rPr lang="en-US" sz="1200" dirty="0">
                <a:solidFill>
                  <a:srgbClr val="657B8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268BD2"/>
                </a:solidFill>
                <a:latin typeface="Consolas" panose="020B0609020204030204" pitchFamily="49" charset="0"/>
              </a:rPr>
              <a:t>in2</a:t>
            </a:r>
            <a:r>
              <a:rPr lang="en-US" sz="1200" dirty="0">
                <a:solidFill>
                  <a:srgbClr val="657B83"/>
                </a:solidFill>
                <a:latin typeface="Consolas" panose="020B0609020204030204" pitchFamily="49" charset="0"/>
              </a:rPr>
              <a:t>[</a:t>
            </a:r>
            <a:r>
              <a:rPr lang="en-US" sz="1200" dirty="0">
                <a:solidFill>
                  <a:srgbClr val="D33682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657B83"/>
                </a:solidFill>
                <a:latin typeface="Consolas" panose="020B0609020204030204" pitchFamily="49" charset="0"/>
              </a:rPr>
              <a:t>]</a:t>
            </a:r>
            <a:r>
              <a:rPr lang="en-US" sz="1200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 is computed after the loads</a:t>
            </a:r>
          </a:p>
          <a:p>
            <a:pPr algn="l"/>
            <a:endParaRPr lang="en-US" sz="1200" dirty="0">
              <a:solidFill>
                <a:schemeClr val="accent3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D9A820F-408B-A9CD-9030-44AADDC02188}"/>
              </a:ext>
            </a:extLst>
          </p:cNvPr>
          <p:cNvSpPr txBox="1"/>
          <p:nvPr/>
        </p:nvSpPr>
        <p:spPr>
          <a:xfrm>
            <a:off x="535773" y="3966402"/>
            <a:ext cx="425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Lato" panose="020B0604020202020204" charset="0"/>
              </a:rPr>
              <a:t>3️⃣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1EE84CF-AAAA-E0C9-4DE5-5740DBEEA4AB}"/>
              </a:ext>
            </a:extLst>
          </p:cNvPr>
          <p:cNvSpPr txBox="1"/>
          <p:nvPr/>
        </p:nvSpPr>
        <p:spPr>
          <a:xfrm>
            <a:off x="929473" y="3966320"/>
            <a:ext cx="30416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dirty="0">
                <a:latin typeface="Lato" panose="020B0604020202020204" charset="0"/>
              </a:rPr>
              <a:t>Access output weird registers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2C948A5-E6D4-D738-FD93-BBBCF51966FE}"/>
              </a:ext>
            </a:extLst>
          </p:cNvPr>
          <p:cNvSpPr txBox="1"/>
          <p:nvPr/>
        </p:nvSpPr>
        <p:spPr>
          <a:xfrm>
            <a:off x="929473" y="4168291"/>
            <a:ext cx="3041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268BD2"/>
                </a:solidFill>
                <a:latin typeface="Consolas" panose="020B0609020204030204" pitchFamily="49" charset="0"/>
              </a:rPr>
              <a:t>out</a:t>
            </a:r>
            <a:r>
              <a:rPr lang="en-US" sz="1200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is fetched </a:t>
            </a:r>
            <a:r>
              <a:rPr lang="en-US" sz="1200" b="1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only when</a:t>
            </a:r>
            <a:r>
              <a:rPr lang="en-US" sz="1200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2️⃣ finished before transient execution ends.</a:t>
            </a:r>
          </a:p>
        </p:txBody>
      </p:sp>
    </p:spTree>
    <p:extLst>
      <p:ext uri="{BB962C8B-B14F-4D97-AF65-F5344CB8AC3E}">
        <p14:creationId xmlns:p14="http://schemas.microsoft.com/office/powerpoint/2010/main" val="4207859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8" grpId="0" animBg="1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A8188-53A4-4E94-17DA-E87709087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 53">
            <a:extLst>
              <a:ext uri="{FF2B5EF4-FFF2-40B4-BE49-F238E27FC236}">
                <a16:creationId xmlns:a16="http://schemas.microsoft.com/office/drawing/2014/main" id="{BA1D779C-EFB1-6690-82A6-7C8477C9C3A3}"/>
              </a:ext>
            </a:extLst>
          </p:cNvPr>
          <p:cNvGrpSpPr/>
          <p:nvPr/>
        </p:nvGrpSpPr>
        <p:grpSpPr>
          <a:xfrm>
            <a:off x="4051738" y="1848520"/>
            <a:ext cx="4213462" cy="1508106"/>
            <a:chOff x="4051738" y="1848520"/>
            <a:chExt cx="4213462" cy="150810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E5188BC-1118-E3C9-F7A7-3AA491AD089D}"/>
                </a:ext>
              </a:extLst>
            </p:cNvPr>
            <p:cNvSpPr txBox="1"/>
            <p:nvPr/>
          </p:nvSpPr>
          <p:spPr>
            <a:xfrm>
              <a:off x="4051740" y="1848520"/>
              <a:ext cx="4213460" cy="1200329"/>
            </a:xfrm>
            <a:prstGeom prst="rect">
              <a:avLst/>
            </a:prstGeom>
            <a:solidFill>
              <a:srgbClr val="FFF2CC"/>
            </a:solidFill>
          </p:spPr>
          <p:txBody>
            <a:bodyPr wrap="square" rtlCol="0">
              <a:spAutoFit/>
            </a:bodyPr>
            <a:lstStyle/>
            <a:p>
              <a:r>
                <a:rPr lang="en-US" sz="1800" b="0" dirty="0">
                  <a:solidFill>
                    <a:srgbClr val="859900"/>
                  </a:solidFill>
                  <a:effectLst/>
                  <a:latin typeface="Consolas" panose="020B0609020204030204" pitchFamily="49" charset="0"/>
                </a:rPr>
                <a:t>if</a:t>
              </a:r>
              <a:r>
                <a:rPr lang="en-US" sz="1800" b="0" dirty="0">
                  <a:solidFill>
                    <a:srgbClr val="657B83"/>
                  </a:solidFill>
                  <a:effectLst/>
                  <a:latin typeface="Consolas" panose="020B0609020204030204" pitchFamily="49" charset="0"/>
                </a:rPr>
                <a:t> (</a:t>
              </a:r>
              <a:r>
                <a:rPr lang="en-US" sz="1800" b="0" dirty="0">
                  <a:solidFill>
                    <a:srgbClr val="268BD2"/>
                  </a:solidFill>
                  <a:effectLst/>
                  <a:latin typeface="Consolas" panose="020B0609020204030204" pitchFamily="49" charset="0"/>
                </a:rPr>
                <a:t>condition</a:t>
              </a:r>
              <a:r>
                <a:rPr lang="en-US" sz="1800" b="0" dirty="0">
                  <a:solidFill>
                    <a:srgbClr val="657B83"/>
                  </a:solidFill>
                  <a:effectLst/>
                  <a:latin typeface="Consolas" panose="020B0609020204030204" pitchFamily="49" charset="0"/>
                </a:rPr>
                <a:t>())</a:t>
              </a:r>
              <a:r>
                <a:rPr lang="en-US" sz="1800" dirty="0">
                  <a:solidFill>
                    <a:srgbClr val="657B83"/>
                  </a:solidFill>
                  <a:latin typeface="Consolas" panose="020B0609020204030204" pitchFamily="49" charset="0"/>
                </a:rPr>
                <a:t> {</a:t>
              </a:r>
              <a:endPara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sz="1800" b="0" dirty="0">
                  <a:solidFill>
                    <a:srgbClr val="657B83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sz="1800" b="0" dirty="0" err="1">
                  <a:solidFill>
                    <a:srgbClr val="268BD2"/>
                  </a:solidFill>
                  <a:effectLst/>
                  <a:latin typeface="Consolas" panose="020B0609020204030204" pitchFamily="49" charset="0"/>
                </a:rPr>
                <a:t>tmp</a:t>
              </a:r>
              <a:r>
                <a:rPr lang="en-US" sz="1800" b="0" dirty="0">
                  <a:solidFill>
                    <a:srgbClr val="268BD2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1800" b="0" dirty="0">
                  <a:solidFill>
                    <a:srgbClr val="859900"/>
                  </a:solidFill>
                  <a:effectLst/>
                  <a:latin typeface="Consolas" panose="020B0609020204030204" pitchFamily="49" charset="0"/>
                </a:rPr>
                <a:t>+= </a:t>
              </a:r>
              <a:r>
                <a:rPr lang="en-US" sz="1800" b="0" dirty="0">
                  <a:solidFill>
                    <a:srgbClr val="268BD2"/>
                  </a:solidFill>
                  <a:effectLst/>
                  <a:latin typeface="Consolas" panose="020B0609020204030204" pitchFamily="49" charset="0"/>
                </a:rPr>
                <a:t>out</a:t>
              </a:r>
              <a:r>
                <a:rPr lang="en-US" sz="1800" b="0" dirty="0">
                  <a:solidFill>
                    <a:srgbClr val="657B83"/>
                  </a:solidFill>
                  <a:effectLst/>
                  <a:latin typeface="Consolas" panose="020B0609020204030204" pitchFamily="49" charset="0"/>
                </a:rPr>
                <a:t>[</a:t>
              </a:r>
              <a:r>
                <a:rPr lang="en-US" sz="1800" b="0" dirty="0">
                  <a:solidFill>
                    <a:srgbClr val="268BD2"/>
                  </a:solidFill>
                  <a:effectLst/>
                  <a:latin typeface="Consolas" panose="020B0609020204030204" pitchFamily="49" charset="0"/>
                </a:rPr>
                <a:t>in1</a:t>
              </a:r>
              <a:r>
                <a:rPr lang="en-US" sz="1800" b="0" dirty="0">
                  <a:solidFill>
                    <a:srgbClr val="657B83"/>
                  </a:solidFill>
                  <a:effectLst/>
                  <a:latin typeface="Consolas" panose="020B0609020204030204" pitchFamily="49" charset="0"/>
                </a:rPr>
                <a:t>[</a:t>
              </a:r>
              <a:r>
                <a:rPr lang="en-US" sz="1800" dirty="0">
                  <a:solidFill>
                    <a:srgbClr val="D33682"/>
                  </a:solidFill>
                  <a:latin typeface="Consolas" panose="020B0609020204030204" pitchFamily="49" charset="0"/>
                </a:rPr>
                <a:t>0</a:t>
              </a:r>
              <a:r>
                <a:rPr lang="en-US" sz="1800" dirty="0">
                  <a:solidFill>
                    <a:srgbClr val="657B83"/>
                  </a:solidFill>
                  <a:latin typeface="Consolas" panose="020B0609020204030204" pitchFamily="49" charset="0"/>
                </a:rPr>
                <a:t>]</a:t>
              </a:r>
              <a:r>
                <a:rPr lang="en-US" sz="1800" b="0" dirty="0">
                  <a:solidFill>
                    <a:srgbClr val="657B83"/>
                  </a:solidFill>
                  <a:effectLst/>
                  <a:latin typeface="Consolas" panose="020B0609020204030204" pitchFamily="49" charset="0"/>
                </a:rPr>
                <a:t>];</a:t>
              </a:r>
            </a:p>
            <a:p>
              <a:r>
                <a:rPr lang="en-US" sz="1800" dirty="0">
                  <a:solidFill>
                    <a:srgbClr val="657B83"/>
                  </a:solidFill>
                  <a:latin typeface="Consolas" panose="020B0609020204030204" pitchFamily="49" charset="0"/>
                </a:rPr>
                <a:t>    </a:t>
              </a:r>
              <a:r>
                <a:rPr lang="en-US" sz="1800" dirty="0" err="1">
                  <a:solidFill>
                    <a:srgbClr val="268BD2"/>
                  </a:solidFill>
                  <a:latin typeface="Consolas" panose="020B0609020204030204" pitchFamily="49" charset="0"/>
                </a:rPr>
                <a:t>tmp</a:t>
              </a:r>
              <a:r>
                <a:rPr lang="en-US" sz="1800" dirty="0">
                  <a:solidFill>
                    <a:srgbClr val="268BD2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800" dirty="0">
                  <a:solidFill>
                    <a:srgbClr val="859900"/>
                  </a:solidFill>
                  <a:latin typeface="Consolas" panose="020B0609020204030204" pitchFamily="49" charset="0"/>
                </a:rPr>
                <a:t>+= </a:t>
              </a:r>
              <a:r>
                <a:rPr lang="en-US" sz="1800" dirty="0">
                  <a:solidFill>
                    <a:srgbClr val="268BD2"/>
                  </a:solidFill>
                  <a:latin typeface="Consolas" panose="020B0609020204030204" pitchFamily="49" charset="0"/>
                </a:rPr>
                <a:t>out</a:t>
              </a:r>
              <a:r>
                <a:rPr lang="en-US" sz="1800" dirty="0">
                  <a:solidFill>
                    <a:srgbClr val="657B83"/>
                  </a:solidFill>
                  <a:latin typeface="Consolas" panose="020B0609020204030204" pitchFamily="49" charset="0"/>
                </a:rPr>
                <a:t>[</a:t>
              </a:r>
              <a:r>
                <a:rPr lang="en-US" sz="1800" dirty="0">
                  <a:solidFill>
                    <a:srgbClr val="268BD2"/>
                  </a:solidFill>
                  <a:latin typeface="Consolas" panose="020B0609020204030204" pitchFamily="49" charset="0"/>
                </a:rPr>
                <a:t>in2</a:t>
              </a:r>
              <a:r>
                <a:rPr lang="en-US" sz="1800" dirty="0">
                  <a:solidFill>
                    <a:srgbClr val="657B83"/>
                  </a:solidFill>
                  <a:latin typeface="Consolas" panose="020B0609020204030204" pitchFamily="49" charset="0"/>
                </a:rPr>
                <a:t>[</a:t>
              </a:r>
              <a:r>
                <a:rPr lang="en-US" sz="1800" dirty="0">
                  <a:solidFill>
                    <a:srgbClr val="D33682"/>
                  </a:solidFill>
                  <a:latin typeface="Consolas" panose="020B0609020204030204" pitchFamily="49" charset="0"/>
                </a:rPr>
                <a:t>0</a:t>
              </a:r>
              <a:r>
                <a:rPr lang="en-US" sz="1800" dirty="0">
                  <a:solidFill>
                    <a:srgbClr val="657B83"/>
                  </a:solidFill>
                  <a:latin typeface="Consolas" panose="020B0609020204030204" pitchFamily="49" charset="0"/>
                </a:rPr>
                <a:t>]</a:t>
              </a:r>
              <a:r>
                <a:rPr lang="en-US" sz="1800" dirty="0">
                  <a:solidFill>
                    <a:srgbClr val="859900"/>
                  </a:solidFill>
                  <a:latin typeface="Consolas" panose="020B0609020204030204" pitchFamily="49" charset="0"/>
                </a:rPr>
                <a:t> +</a:t>
              </a:r>
              <a:r>
                <a:rPr lang="en-US" sz="1800" dirty="0">
                  <a:solidFill>
                    <a:srgbClr val="657B8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800" dirty="0">
                  <a:solidFill>
                    <a:srgbClr val="268BD2"/>
                  </a:solidFill>
                  <a:latin typeface="Consolas" panose="020B0609020204030204" pitchFamily="49" charset="0"/>
                </a:rPr>
                <a:t>in3</a:t>
              </a:r>
              <a:r>
                <a:rPr lang="en-US" sz="1800" dirty="0">
                  <a:solidFill>
                    <a:srgbClr val="657B83"/>
                  </a:solidFill>
                  <a:latin typeface="Consolas" panose="020B0609020204030204" pitchFamily="49" charset="0"/>
                </a:rPr>
                <a:t>[</a:t>
              </a:r>
              <a:r>
                <a:rPr lang="en-US" sz="1800" dirty="0">
                  <a:solidFill>
                    <a:srgbClr val="D33682"/>
                  </a:solidFill>
                  <a:latin typeface="Consolas" panose="020B0609020204030204" pitchFamily="49" charset="0"/>
                </a:rPr>
                <a:t>0</a:t>
              </a:r>
              <a:r>
                <a:rPr lang="en-US" sz="1800" dirty="0">
                  <a:solidFill>
                    <a:srgbClr val="657B83"/>
                  </a:solidFill>
                  <a:latin typeface="Consolas" panose="020B0609020204030204" pitchFamily="49" charset="0"/>
                </a:rPr>
                <a:t>]];</a:t>
              </a:r>
            </a:p>
            <a:p>
              <a:r>
                <a:rPr lang="en-US" sz="1800" dirty="0">
                  <a:solidFill>
                    <a:srgbClr val="657B83"/>
                  </a:solidFill>
                  <a:latin typeface="Consolas" panose="020B0609020204030204" pitchFamily="49" charset="0"/>
                </a:rPr>
                <a:t>}</a:t>
              </a:r>
            </a:p>
          </p:txBody>
        </p:sp>
        <p:sp>
          <p:nvSpPr>
            <p:cNvPr id="53" name="文字方塊 6">
              <a:extLst>
                <a:ext uri="{FF2B5EF4-FFF2-40B4-BE49-F238E27FC236}">
                  <a16:creationId xmlns:a16="http://schemas.microsoft.com/office/drawing/2014/main" id="{8D055807-AB5B-7367-2727-06DD405D1535}"/>
                </a:ext>
              </a:extLst>
            </p:cNvPr>
            <p:cNvSpPr txBox="1"/>
            <p:nvPr/>
          </p:nvSpPr>
          <p:spPr>
            <a:xfrm>
              <a:off x="4051738" y="3048849"/>
              <a:ext cx="42134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dirty="0">
                  <a:solidFill>
                    <a:schemeClr val="accent1"/>
                  </a:solidFill>
                  <a:latin typeface="Lato" panose="020B0604020202020204" charset="0"/>
                </a:rPr>
                <a:t>▲ AND &amp; OR gate</a:t>
              </a:r>
              <a:endParaRPr lang="en-US" dirty="0">
                <a:solidFill>
                  <a:schemeClr val="accent1"/>
                </a:solidFill>
                <a:latin typeface="Lato" panose="020B060402020202020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C9015D7-9E99-4010-DE76-584BC6F40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 work’s other types of gates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A93478-C08E-2CD7-884C-5C0201FB9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13</a:t>
            </a:fld>
            <a:endParaRPr lang="zh-TW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D634985-8BFC-52BE-3313-BB30357F6E93}"/>
              </a:ext>
            </a:extLst>
          </p:cNvPr>
          <p:cNvSpPr txBox="1"/>
          <p:nvPr/>
        </p:nvSpPr>
        <p:spPr>
          <a:xfrm>
            <a:off x="535775" y="1848520"/>
            <a:ext cx="3279602" cy="1200329"/>
          </a:xfrm>
          <a:prstGeom prst="rect">
            <a:avLst/>
          </a:prstGeom>
          <a:solidFill>
            <a:srgbClr val="FFF2CC"/>
          </a:solidFill>
        </p:spPr>
        <p:txBody>
          <a:bodyPr wrap="square" rtlCol="0">
            <a:spAutoFit/>
          </a:bodyPr>
          <a:lstStyle/>
          <a:p>
            <a:r>
              <a:rPr lang="en-US" sz="18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8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condition</a:t>
            </a: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lang="en-US" sz="1800" dirty="0">
                <a:solidFill>
                  <a:srgbClr val="657B83"/>
                </a:solidFill>
                <a:latin typeface="Consolas" panose="020B0609020204030204" pitchFamily="49" charset="0"/>
              </a:rPr>
              <a:t> {</a:t>
            </a:r>
            <a:endParaRPr lang="en-US" sz="1800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tmp</a:t>
            </a:r>
            <a:r>
              <a:rPr lang="en-US" sz="18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+= </a:t>
            </a:r>
            <a:r>
              <a:rPr lang="en-US" sz="18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8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in1</a:t>
            </a: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800" dirty="0">
                <a:solidFill>
                  <a:srgbClr val="D33682"/>
                </a:solidFill>
                <a:latin typeface="Consolas" panose="020B0609020204030204" pitchFamily="49" charset="0"/>
              </a:rPr>
              <a:t>0</a:t>
            </a:r>
            <a:r>
              <a:rPr lang="en-US" sz="1800" dirty="0">
                <a:solidFill>
                  <a:srgbClr val="657B83"/>
                </a:solidFill>
                <a:latin typeface="Consolas" panose="020B0609020204030204" pitchFamily="49" charset="0"/>
              </a:rPr>
              <a:t>]</a:t>
            </a: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sz="1800" dirty="0">
                <a:solidFill>
                  <a:srgbClr val="657B83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 err="1">
                <a:solidFill>
                  <a:srgbClr val="268BD2"/>
                </a:solidFill>
                <a:latin typeface="Consolas" panose="020B0609020204030204" pitchFamily="49" charset="0"/>
              </a:rPr>
              <a:t>tmp</a:t>
            </a:r>
            <a:r>
              <a:rPr lang="en-US" sz="1800" dirty="0">
                <a:solidFill>
                  <a:srgbClr val="268BD2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59900"/>
                </a:solidFill>
                <a:latin typeface="Consolas" panose="020B0609020204030204" pitchFamily="49" charset="0"/>
              </a:rPr>
              <a:t>+= </a:t>
            </a:r>
            <a:r>
              <a:rPr lang="en-US" sz="1800" dirty="0">
                <a:solidFill>
                  <a:srgbClr val="268BD2"/>
                </a:solidFill>
                <a:latin typeface="Consolas" panose="020B0609020204030204" pitchFamily="49" charset="0"/>
              </a:rPr>
              <a:t>out</a:t>
            </a:r>
            <a:r>
              <a:rPr lang="en-US" sz="1800" dirty="0">
                <a:solidFill>
                  <a:srgbClr val="657B83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>
                <a:solidFill>
                  <a:srgbClr val="268BD2"/>
                </a:solidFill>
                <a:latin typeface="Consolas" panose="020B0609020204030204" pitchFamily="49" charset="0"/>
              </a:rPr>
              <a:t>in2</a:t>
            </a:r>
            <a:r>
              <a:rPr lang="en-US" sz="1800" dirty="0">
                <a:solidFill>
                  <a:srgbClr val="657B83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>
                <a:solidFill>
                  <a:srgbClr val="D33682"/>
                </a:solidFill>
                <a:latin typeface="Consolas" panose="020B0609020204030204" pitchFamily="49" charset="0"/>
              </a:rPr>
              <a:t>0</a:t>
            </a:r>
            <a:r>
              <a:rPr lang="en-US" sz="1800" dirty="0">
                <a:solidFill>
                  <a:srgbClr val="657B83"/>
                </a:solidFill>
                <a:latin typeface="Consolas" panose="020B0609020204030204" pitchFamily="49" charset="0"/>
              </a:rPr>
              <a:t>]];</a:t>
            </a:r>
          </a:p>
          <a:p>
            <a:r>
              <a:rPr lang="en-US" sz="1800" dirty="0">
                <a:solidFill>
                  <a:srgbClr val="657B83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8EA5253-51BE-A40E-2831-DD2042CD3475}"/>
              </a:ext>
            </a:extLst>
          </p:cNvPr>
          <p:cNvSpPr txBox="1"/>
          <p:nvPr/>
        </p:nvSpPr>
        <p:spPr>
          <a:xfrm>
            <a:off x="535771" y="3419595"/>
            <a:ext cx="3279602" cy="646331"/>
          </a:xfrm>
          <a:prstGeom prst="rect">
            <a:avLst/>
          </a:prstGeom>
          <a:solidFill>
            <a:srgbClr val="FFF2CC"/>
          </a:solidFill>
        </p:spPr>
        <p:txBody>
          <a:bodyPr wrap="square" rtlCol="0">
            <a:spAutoFit/>
          </a:bodyPr>
          <a:lstStyle/>
          <a:p>
            <a:r>
              <a:rPr lang="en-US" sz="18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268BD2"/>
                </a:solidFill>
                <a:latin typeface="Consolas" panose="020B0609020204030204" pitchFamily="49" charset="0"/>
              </a:rPr>
              <a:t>in</a:t>
            </a:r>
            <a:r>
              <a:rPr lang="en-US" sz="1800" dirty="0">
                <a:solidFill>
                  <a:srgbClr val="657B83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>
                <a:solidFill>
                  <a:srgbClr val="D33682"/>
                </a:solidFill>
                <a:latin typeface="Consolas" panose="020B0609020204030204" pitchFamily="49" charset="0"/>
              </a:rPr>
              <a:t>0</a:t>
            </a:r>
            <a:r>
              <a:rPr lang="en-US" sz="1800" dirty="0">
                <a:solidFill>
                  <a:srgbClr val="657B83"/>
                </a:solidFill>
                <a:latin typeface="Consolas" panose="020B0609020204030204" pitchFamily="49" charset="0"/>
              </a:rPr>
              <a:t>]</a:t>
            </a: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tmp</a:t>
            </a:r>
            <a:r>
              <a:rPr lang="en-US" sz="18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+= </a:t>
            </a:r>
            <a:r>
              <a:rPr lang="en-US" sz="18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800" dirty="0">
                <a:solidFill>
                  <a:srgbClr val="268BD2"/>
                </a:solidFill>
                <a:latin typeface="Consolas" panose="020B0609020204030204" pitchFamily="49" charset="0"/>
              </a:rPr>
              <a:t>delay</a:t>
            </a:r>
            <a:r>
              <a:rPr lang="en-US" sz="1800" dirty="0">
                <a:solidFill>
                  <a:srgbClr val="657B83"/>
                </a:solidFill>
                <a:latin typeface="Consolas" panose="020B0609020204030204" pitchFamily="49" charset="0"/>
              </a:rPr>
              <a:t>()</a:t>
            </a: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];</a:t>
            </a:r>
            <a:endParaRPr lang="en-US" sz="1800" dirty="0">
              <a:solidFill>
                <a:srgbClr val="657B83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文字方塊 6">
            <a:extLst>
              <a:ext uri="{FF2B5EF4-FFF2-40B4-BE49-F238E27FC236}">
                <a16:creationId xmlns:a16="http://schemas.microsoft.com/office/drawing/2014/main" id="{73011FCD-2D28-E5F7-323D-A3A3599F7361}"/>
              </a:ext>
            </a:extLst>
          </p:cNvPr>
          <p:cNvSpPr txBox="1"/>
          <p:nvPr/>
        </p:nvSpPr>
        <p:spPr>
          <a:xfrm>
            <a:off x="535771" y="3024326"/>
            <a:ext cx="32796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solidFill>
                  <a:schemeClr val="accent1"/>
                </a:solidFill>
                <a:latin typeface="Lato" panose="020B0604020202020204" charset="0"/>
              </a:rPr>
              <a:t>▲ OR gate</a:t>
            </a:r>
            <a:endParaRPr lang="en-US" dirty="0">
              <a:solidFill>
                <a:schemeClr val="accent1"/>
              </a:solidFill>
              <a:latin typeface="Lato" panose="020B0604020202020204" charset="0"/>
            </a:endParaRPr>
          </a:p>
        </p:txBody>
      </p:sp>
      <p:sp>
        <p:nvSpPr>
          <p:cNvPr id="24" name="文字方塊 6">
            <a:extLst>
              <a:ext uri="{FF2B5EF4-FFF2-40B4-BE49-F238E27FC236}">
                <a16:creationId xmlns:a16="http://schemas.microsoft.com/office/drawing/2014/main" id="{1A7B44C1-6D81-FBAF-06FE-70AD360DAF91}"/>
              </a:ext>
            </a:extLst>
          </p:cNvPr>
          <p:cNvSpPr txBox="1"/>
          <p:nvPr/>
        </p:nvSpPr>
        <p:spPr>
          <a:xfrm>
            <a:off x="535771" y="4065926"/>
            <a:ext cx="32796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solidFill>
                  <a:schemeClr val="accent1"/>
                </a:solidFill>
                <a:latin typeface="Lato" panose="020B0604020202020204" charset="0"/>
              </a:rPr>
              <a:t>▲ NOT gate</a:t>
            </a:r>
            <a:endParaRPr lang="en-US" dirty="0">
              <a:solidFill>
                <a:schemeClr val="accent1"/>
              </a:solidFill>
              <a:latin typeface="Lato" panose="020B0604020202020204" charset="0"/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6FA429AA-447E-034B-6CC8-2AE8968A3C64}"/>
              </a:ext>
            </a:extLst>
          </p:cNvPr>
          <p:cNvGrpSpPr/>
          <p:nvPr/>
        </p:nvGrpSpPr>
        <p:grpSpPr>
          <a:xfrm>
            <a:off x="8169263" y="2157533"/>
            <a:ext cx="716588" cy="572624"/>
            <a:chOff x="8169263" y="2157533"/>
            <a:chExt cx="716588" cy="572624"/>
          </a:xfrm>
        </p:grpSpPr>
        <p:sp>
          <p:nvSpPr>
            <p:cNvPr id="36" name="Right Brace 35">
              <a:extLst>
                <a:ext uri="{FF2B5EF4-FFF2-40B4-BE49-F238E27FC236}">
                  <a16:creationId xmlns:a16="http://schemas.microsoft.com/office/drawing/2014/main" id="{59B977E8-8C52-DBBE-F688-A0022BD0BA57}"/>
                </a:ext>
              </a:extLst>
            </p:cNvPr>
            <p:cNvSpPr/>
            <p:nvPr/>
          </p:nvSpPr>
          <p:spPr>
            <a:xfrm>
              <a:off x="8169263" y="2157533"/>
              <a:ext cx="167888" cy="572624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AFC0AFD-CB01-BE4E-13BA-740A04F873E9}"/>
                </a:ext>
              </a:extLst>
            </p:cNvPr>
            <p:cNvSpPr txBox="1"/>
            <p:nvPr/>
          </p:nvSpPr>
          <p:spPr>
            <a:xfrm>
              <a:off x="8337151" y="2289956"/>
              <a:ext cx="5487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2"/>
                  </a:solidFill>
                  <a:latin typeface="Lato" panose="020B0604020202020204" charset="0"/>
                </a:rPr>
                <a:t>OR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697EE23-BD22-77AD-E374-2F4421B6E370}"/>
              </a:ext>
            </a:extLst>
          </p:cNvPr>
          <p:cNvGrpSpPr/>
          <p:nvPr/>
        </p:nvGrpSpPr>
        <p:grpSpPr>
          <a:xfrm>
            <a:off x="6022672" y="2730157"/>
            <a:ext cx="1855782" cy="376137"/>
            <a:chOff x="6022672" y="2730157"/>
            <a:chExt cx="1855782" cy="37613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6D9730E-FD64-5470-057F-DFF48189DC44}"/>
                </a:ext>
              </a:extLst>
            </p:cNvPr>
            <p:cNvCxnSpPr/>
            <p:nvPr/>
          </p:nvCxnSpPr>
          <p:spPr>
            <a:xfrm>
              <a:off x="6022672" y="2730157"/>
              <a:ext cx="185578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FF21072-998D-E168-82CC-FC3137EE6B1C}"/>
                </a:ext>
              </a:extLst>
            </p:cNvPr>
            <p:cNvSpPr txBox="1"/>
            <p:nvPr/>
          </p:nvSpPr>
          <p:spPr>
            <a:xfrm>
              <a:off x="7071840" y="2798517"/>
              <a:ext cx="7048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2"/>
                  </a:solidFill>
                  <a:latin typeface="Lato" panose="020B0604020202020204" charset="0"/>
                </a:rPr>
                <a:t>AND</a:t>
              </a:r>
            </a:p>
          </p:txBody>
        </p:sp>
        <p:cxnSp>
          <p:nvCxnSpPr>
            <p:cNvPr id="49" name="Connector: Elbow 48">
              <a:extLst>
                <a:ext uri="{FF2B5EF4-FFF2-40B4-BE49-F238E27FC236}">
                  <a16:creationId xmlns:a16="http://schemas.microsoft.com/office/drawing/2014/main" id="{C09EC306-C8E1-2168-1A91-1C32EDC40D82}"/>
                </a:ext>
              </a:extLst>
            </p:cNvPr>
            <p:cNvCxnSpPr/>
            <p:nvPr/>
          </p:nvCxnSpPr>
          <p:spPr>
            <a:xfrm>
              <a:off x="6838543" y="2738858"/>
              <a:ext cx="322692" cy="225809"/>
            </a:xfrm>
            <a:prstGeom prst="bentConnector3">
              <a:avLst>
                <a:gd name="adj1" fmla="val 523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86190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59740-882F-8FD1-1FE8-4C50AEB48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Compose weird gates into weird circuits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ACDBF-0F3D-E63F-7E7C-E5A83B17CD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14</a:t>
            </a:fld>
            <a:endParaRPr lang="zh-TW" altLang="en-US"/>
          </a:p>
        </p:txBody>
      </p:sp>
      <p:grpSp>
        <p:nvGrpSpPr>
          <p:cNvPr id="5" name="群組 15">
            <a:extLst>
              <a:ext uri="{FF2B5EF4-FFF2-40B4-BE49-F238E27FC236}">
                <a16:creationId xmlns:a16="http://schemas.microsoft.com/office/drawing/2014/main" id="{E07415BD-ACF9-A82D-50F7-CE599FB9C2C9}"/>
              </a:ext>
            </a:extLst>
          </p:cNvPr>
          <p:cNvGrpSpPr/>
          <p:nvPr/>
        </p:nvGrpSpPr>
        <p:grpSpPr>
          <a:xfrm>
            <a:off x="3473304" y="2898756"/>
            <a:ext cx="660400" cy="1082040"/>
            <a:chOff x="1537335" y="2361914"/>
            <a:chExt cx="660400" cy="1082040"/>
          </a:xfrm>
        </p:grpSpPr>
        <p:sp>
          <p:nvSpPr>
            <p:cNvPr id="6" name="Arc 28">
              <a:extLst>
                <a:ext uri="{FF2B5EF4-FFF2-40B4-BE49-F238E27FC236}">
                  <a16:creationId xmlns:a16="http://schemas.microsoft.com/office/drawing/2014/main" id="{3D529723-2FD0-B656-E85E-B60D0AA6BB17}"/>
                </a:ext>
              </a:extLst>
            </p:cNvPr>
            <p:cNvSpPr/>
            <p:nvPr/>
          </p:nvSpPr>
          <p:spPr>
            <a:xfrm>
              <a:off x="1537335" y="2361914"/>
              <a:ext cx="660400" cy="1082040"/>
            </a:xfrm>
            <a:prstGeom prst="arc">
              <a:avLst>
                <a:gd name="adj1" fmla="val 16200000"/>
                <a:gd name="adj2" fmla="val 998404"/>
              </a:avLst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Arc 29">
              <a:extLst>
                <a:ext uri="{FF2B5EF4-FFF2-40B4-BE49-F238E27FC236}">
                  <a16:creationId xmlns:a16="http://schemas.microsoft.com/office/drawing/2014/main" id="{1A7242F7-B823-EC22-4CE0-59EF51CAFD2D}"/>
                </a:ext>
              </a:extLst>
            </p:cNvPr>
            <p:cNvSpPr/>
            <p:nvPr/>
          </p:nvSpPr>
          <p:spPr>
            <a:xfrm flipH="1">
              <a:off x="1537335" y="2361914"/>
              <a:ext cx="660400" cy="1082040"/>
            </a:xfrm>
            <a:prstGeom prst="arc">
              <a:avLst>
                <a:gd name="adj1" fmla="val 16200000"/>
                <a:gd name="adj2" fmla="val 887744"/>
              </a:avLst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8" name="Straight Connector 31">
              <a:extLst>
                <a:ext uri="{FF2B5EF4-FFF2-40B4-BE49-F238E27FC236}">
                  <a16:creationId xmlns:a16="http://schemas.microsoft.com/office/drawing/2014/main" id="{F2DE15FA-A326-E791-DC26-D95F2D6EBB4B}"/>
                </a:ext>
              </a:extLst>
            </p:cNvPr>
            <p:cNvCxnSpPr>
              <a:cxnSpLocks/>
            </p:cNvCxnSpPr>
            <p:nvPr/>
          </p:nvCxnSpPr>
          <p:spPr>
            <a:xfrm>
              <a:off x="1537335" y="2992746"/>
              <a:ext cx="660400" cy="0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" name="Straight Connector 35">
            <a:extLst>
              <a:ext uri="{FF2B5EF4-FFF2-40B4-BE49-F238E27FC236}">
                <a16:creationId xmlns:a16="http://schemas.microsoft.com/office/drawing/2014/main" id="{E18517CB-C145-84CC-C916-9EF3176039A5}"/>
              </a:ext>
            </a:extLst>
          </p:cNvPr>
          <p:cNvCxnSpPr/>
          <p:nvPr/>
        </p:nvCxnSpPr>
        <p:spPr>
          <a:xfrm>
            <a:off x="4222825" y="2435750"/>
            <a:ext cx="0" cy="29718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0" name="Straight Connector 37">
            <a:extLst>
              <a:ext uri="{FF2B5EF4-FFF2-40B4-BE49-F238E27FC236}">
                <a16:creationId xmlns:a16="http://schemas.microsoft.com/office/drawing/2014/main" id="{B609B008-BC8B-351B-355D-26B431A32138}"/>
              </a:ext>
            </a:extLst>
          </p:cNvPr>
          <p:cNvCxnSpPr/>
          <p:nvPr/>
        </p:nvCxnSpPr>
        <p:spPr>
          <a:xfrm>
            <a:off x="4505438" y="2435750"/>
            <a:ext cx="0" cy="29718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1" name="Straight Connector 38">
            <a:extLst>
              <a:ext uri="{FF2B5EF4-FFF2-40B4-BE49-F238E27FC236}">
                <a16:creationId xmlns:a16="http://schemas.microsoft.com/office/drawing/2014/main" id="{A74274B3-03EE-5237-3BBA-C07705141B5C}"/>
              </a:ext>
            </a:extLst>
          </p:cNvPr>
          <p:cNvCxnSpPr/>
          <p:nvPr/>
        </p:nvCxnSpPr>
        <p:spPr>
          <a:xfrm>
            <a:off x="4370559" y="1618140"/>
            <a:ext cx="0" cy="29718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grpSp>
        <p:nvGrpSpPr>
          <p:cNvPr id="12" name="群組 14">
            <a:extLst>
              <a:ext uri="{FF2B5EF4-FFF2-40B4-BE49-F238E27FC236}">
                <a16:creationId xmlns:a16="http://schemas.microsoft.com/office/drawing/2014/main" id="{00FA4FA0-E646-7849-8AAA-5704D21E99E1}"/>
              </a:ext>
            </a:extLst>
          </p:cNvPr>
          <p:cNvGrpSpPr/>
          <p:nvPr/>
        </p:nvGrpSpPr>
        <p:grpSpPr>
          <a:xfrm>
            <a:off x="4040359" y="1915320"/>
            <a:ext cx="660400" cy="1082040"/>
            <a:chOff x="2760605" y="2305219"/>
            <a:chExt cx="660400" cy="1082040"/>
          </a:xfrm>
        </p:grpSpPr>
        <p:sp>
          <p:nvSpPr>
            <p:cNvPr id="13" name="Arc 28">
              <a:extLst>
                <a:ext uri="{FF2B5EF4-FFF2-40B4-BE49-F238E27FC236}">
                  <a16:creationId xmlns:a16="http://schemas.microsoft.com/office/drawing/2014/main" id="{2657B216-1C01-CEFA-9905-6B4CF9C5EDE6}"/>
                </a:ext>
              </a:extLst>
            </p:cNvPr>
            <p:cNvSpPr/>
            <p:nvPr/>
          </p:nvSpPr>
          <p:spPr>
            <a:xfrm>
              <a:off x="2760605" y="2305219"/>
              <a:ext cx="660400" cy="1082040"/>
            </a:xfrm>
            <a:prstGeom prst="arc">
              <a:avLst>
                <a:gd name="adj1" fmla="val 16200000"/>
                <a:gd name="adj2" fmla="val 968604"/>
              </a:avLst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Arc 29">
              <a:extLst>
                <a:ext uri="{FF2B5EF4-FFF2-40B4-BE49-F238E27FC236}">
                  <a16:creationId xmlns:a16="http://schemas.microsoft.com/office/drawing/2014/main" id="{B0651DEF-B67A-7F10-18A5-E3144ED52341}"/>
                </a:ext>
              </a:extLst>
            </p:cNvPr>
            <p:cNvSpPr/>
            <p:nvPr/>
          </p:nvSpPr>
          <p:spPr>
            <a:xfrm flipH="1">
              <a:off x="2760605" y="2305219"/>
              <a:ext cx="660400" cy="1082040"/>
            </a:xfrm>
            <a:prstGeom prst="arc">
              <a:avLst>
                <a:gd name="adj1" fmla="val 16200000"/>
                <a:gd name="adj2" fmla="val 887744"/>
              </a:avLst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Arc 29">
              <a:extLst>
                <a:ext uri="{FF2B5EF4-FFF2-40B4-BE49-F238E27FC236}">
                  <a16:creationId xmlns:a16="http://schemas.microsoft.com/office/drawing/2014/main" id="{5A9F7692-B2EF-110D-A0F4-050A6AA728E1}"/>
                </a:ext>
              </a:extLst>
            </p:cNvPr>
            <p:cNvSpPr/>
            <p:nvPr/>
          </p:nvSpPr>
          <p:spPr>
            <a:xfrm flipH="1">
              <a:off x="2764154" y="2812441"/>
              <a:ext cx="656851" cy="245113"/>
            </a:xfrm>
            <a:prstGeom prst="arc">
              <a:avLst>
                <a:gd name="adj1" fmla="val 10782468"/>
                <a:gd name="adj2" fmla="val 86597"/>
              </a:avLst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6" name="群組 16">
            <a:extLst>
              <a:ext uri="{FF2B5EF4-FFF2-40B4-BE49-F238E27FC236}">
                <a16:creationId xmlns:a16="http://schemas.microsoft.com/office/drawing/2014/main" id="{690EAAD8-EA80-2840-5948-5679ADE88EE6}"/>
              </a:ext>
            </a:extLst>
          </p:cNvPr>
          <p:cNvGrpSpPr/>
          <p:nvPr/>
        </p:nvGrpSpPr>
        <p:grpSpPr>
          <a:xfrm>
            <a:off x="4632908" y="2898756"/>
            <a:ext cx="660400" cy="1082040"/>
            <a:chOff x="1537335" y="2361914"/>
            <a:chExt cx="660400" cy="1082040"/>
          </a:xfrm>
        </p:grpSpPr>
        <p:sp>
          <p:nvSpPr>
            <p:cNvPr id="17" name="Arc 28">
              <a:extLst>
                <a:ext uri="{FF2B5EF4-FFF2-40B4-BE49-F238E27FC236}">
                  <a16:creationId xmlns:a16="http://schemas.microsoft.com/office/drawing/2014/main" id="{DCE97C0C-4472-3E5F-EE8E-CED5A1767208}"/>
                </a:ext>
              </a:extLst>
            </p:cNvPr>
            <p:cNvSpPr/>
            <p:nvPr/>
          </p:nvSpPr>
          <p:spPr>
            <a:xfrm>
              <a:off x="1537335" y="2361914"/>
              <a:ext cx="660400" cy="1082040"/>
            </a:xfrm>
            <a:prstGeom prst="arc">
              <a:avLst>
                <a:gd name="adj1" fmla="val 16200000"/>
                <a:gd name="adj2" fmla="val 998404"/>
              </a:avLst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Arc 29">
              <a:extLst>
                <a:ext uri="{FF2B5EF4-FFF2-40B4-BE49-F238E27FC236}">
                  <a16:creationId xmlns:a16="http://schemas.microsoft.com/office/drawing/2014/main" id="{E1391EE7-C7A0-D79A-4988-FD003E9F2B54}"/>
                </a:ext>
              </a:extLst>
            </p:cNvPr>
            <p:cNvSpPr/>
            <p:nvPr/>
          </p:nvSpPr>
          <p:spPr>
            <a:xfrm flipH="1">
              <a:off x="1537335" y="2361914"/>
              <a:ext cx="660400" cy="1082040"/>
            </a:xfrm>
            <a:prstGeom prst="arc">
              <a:avLst>
                <a:gd name="adj1" fmla="val 16200000"/>
                <a:gd name="adj2" fmla="val 887744"/>
              </a:avLst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9" name="Straight Connector 31">
              <a:extLst>
                <a:ext uri="{FF2B5EF4-FFF2-40B4-BE49-F238E27FC236}">
                  <a16:creationId xmlns:a16="http://schemas.microsoft.com/office/drawing/2014/main" id="{47B647B3-080E-D4F9-BE26-B83F9DF70C49}"/>
                </a:ext>
              </a:extLst>
            </p:cNvPr>
            <p:cNvCxnSpPr>
              <a:cxnSpLocks/>
            </p:cNvCxnSpPr>
            <p:nvPr/>
          </p:nvCxnSpPr>
          <p:spPr>
            <a:xfrm>
              <a:off x="1537335" y="2992746"/>
              <a:ext cx="660400" cy="0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群組 30">
            <a:extLst>
              <a:ext uri="{FF2B5EF4-FFF2-40B4-BE49-F238E27FC236}">
                <a16:creationId xmlns:a16="http://schemas.microsoft.com/office/drawing/2014/main" id="{B23681B9-56B2-6F98-9482-773F9EF5CA8C}"/>
              </a:ext>
            </a:extLst>
          </p:cNvPr>
          <p:cNvGrpSpPr/>
          <p:nvPr/>
        </p:nvGrpSpPr>
        <p:grpSpPr>
          <a:xfrm>
            <a:off x="3827584" y="3623438"/>
            <a:ext cx="306120" cy="315363"/>
            <a:chOff x="1255722" y="3522024"/>
            <a:chExt cx="306120" cy="315363"/>
          </a:xfrm>
        </p:grpSpPr>
        <p:sp>
          <p:nvSpPr>
            <p:cNvPr id="21" name="等腰三角形 20">
              <a:extLst>
                <a:ext uri="{FF2B5EF4-FFF2-40B4-BE49-F238E27FC236}">
                  <a16:creationId xmlns:a16="http://schemas.microsoft.com/office/drawing/2014/main" id="{24A64BE4-DD6B-637D-CC93-C01750C5712E}"/>
                </a:ext>
              </a:extLst>
            </p:cNvPr>
            <p:cNvSpPr/>
            <p:nvPr/>
          </p:nvSpPr>
          <p:spPr>
            <a:xfrm>
              <a:off x="1255722" y="3604781"/>
              <a:ext cx="306120" cy="232606"/>
            </a:xfrm>
            <a:prstGeom prst="triangle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94EC355A-07AB-5D4B-A7E4-F15CF870ADAC}"/>
                </a:ext>
              </a:extLst>
            </p:cNvPr>
            <p:cNvSpPr/>
            <p:nvPr/>
          </p:nvSpPr>
          <p:spPr>
            <a:xfrm>
              <a:off x="1369547" y="3522024"/>
              <a:ext cx="84262" cy="84262"/>
            </a:xfrm>
            <a:prstGeom prst="ellipse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群組 31">
            <a:extLst>
              <a:ext uri="{FF2B5EF4-FFF2-40B4-BE49-F238E27FC236}">
                <a16:creationId xmlns:a16="http://schemas.microsoft.com/office/drawing/2014/main" id="{38DDB275-6288-FD79-3215-33B0CD780119}"/>
              </a:ext>
            </a:extLst>
          </p:cNvPr>
          <p:cNvGrpSpPr/>
          <p:nvPr/>
        </p:nvGrpSpPr>
        <p:grpSpPr>
          <a:xfrm>
            <a:off x="4656988" y="3623438"/>
            <a:ext cx="306120" cy="315363"/>
            <a:chOff x="1255722" y="3522024"/>
            <a:chExt cx="306120" cy="315363"/>
          </a:xfrm>
        </p:grpSpPr>
        <p:sp>
          <p:nvSpPr>
            <p:cNvPr id="24" name="等腰三角形 32">
              <a:extLst>
                <a:ext uri="{FF2B5EF4-FFF2-40B4-BE49-F238E27FC236}">
                  <a16:creationId xmlns:a16="http://schemas.microsoft.com/office/drawing/2014/main" id="{A6CA7E7A-9515-D13C-CFA0-63679F59754E}"/>
                </a:ext>
              </a:extLst>
            </p:cNvPr>
            <p:cNvSpPr/>
            <p:nvPr/>
          </p:nvSpPr>
          <p:spPr>
            <a:xfrm>
              <a:off x="1255722" y="3604781"/>
              <a:ext cx="306120" cy="232606"/>
            </a:xfrm>
            <a:prstGeom prst="triangle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橢圓 33">
              <a:extLst>
                <a:ext uri="{FF2B5EF4-FFF2-40B4-BE49-F238E27FC236}">
                  <a16:creationId xmlns:a16="http://schemas.microsoft.com/office/drawing/2014/main" id="{11A9553C-4567-4330-C5B5-A2415D561ADF}"/>
                </a:ext>
              </a:extLst>
            </p:cNvPr>
            <p:cNvSpPr/>
            <p:nvPr/>
          </p:nvSpPr>
          <p:spPr>
            <a:xfrm>
              <a:off x="1369547" y="3522024"/>
              <a:ext cx="84262" cy="84262"/>
            </a:xfrm>
            <a:prstGeom prst="ellipse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6" name="Straight Connector 35">
            <a:extLst>
              <a:ext uri="{FF2B5EF4-FFF2-40B4-BE49-F238E27FC236}">
                <a16:creationId xmlns:a16="http://schemas.microsoft.com/office/drawing/2014/main" id="{BE337AF1-BFAC-D0B6-D735-89A0D2265BE3}"/>
              </a:ext>
            </a:extLst>
          </p:cNvPr>
          <p:cNvCxnSpPr>
            <a:cxnSpLocks/>
          </p:cNvCxnSpPr>
          <p:nvPr/>
        </p:nvCxnSpPr>
        <p:spPr>
          <a:xfrm>
            <a:off x="3980644" y="3942610"/>
            <a:ext cx="0" cy="123877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7280934-461D-89B9-B3DA-6687DAA0BF5B}"/>
              </a:ext>
            </a:extLst>
          </p:cNvPr>
          <p:cNvCxnSpPr>
            <a:cxnSpLocks/>
          </p:cNvCxnSpPr>
          <p:nvPr/>
        </p:nvCxnSpPr>
        <p:spPr>
          <a:xfrm>
            <a:off x="4810048" y="3939489"/>
            <a:ext cx="0" cy="186294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28" name="Straight Connector 35">
            <a:extLst>
              <a:ext uri="{FF2B5EF4-FFF2-40B4-BE49-F238E27FC236}">
                <a16:creationId xmlns:a16="http://schemas.microsoft.com/office/drawing/2014/main" id="{DBA25273-CE94-7D59-9104-30E97EA2192C}"/>
              </a:ext>
            </a:extLst>
          </p:cNvPr>
          <p:cNvCxnSpPr>
            <a:cxnSpLocks/>
          </p:cNvCxnSpPr>
          <p:nvPr/>
        </p:nvCxnSpPr>
        <p:spPr>
          <a:xfrm>
            <a:off x="3980644" y="3529588"/>
            <a:ext cx="0" cy="93743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29" name="Straight Connector 35">
            <a:extLst>
              <a:ext uri="{FF2B5EF4-FFF2-40B4-BE49-F238E27FC236}">
                <a16:creationId xmlns:a16="http://schemas.microsoft.com/office/drawing/2014/main" id="{CD91D36F-CB5F-0178-2F47-EB0392864128}"/>
              </a:ext>
            </a:extLst>
          </p:cNvPr>
          <p:cNvCxnSpPr>
            <a:cxnSpLocks/>
          </p:cNvCxnSpPr>
          <p:nvPr/>
        </p:nvCxnSpPr>
        <p:spPr>
          <a:xfrm>
            <a:off x="4810048" y="3529588"/>
            <a:ext cx="0" cy="103106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30" name="Straight Connector 35">
            <a:extLst>
              <a:ext uri="{FF2B5EF4-FFF2-40B4-BE49-F238E27FC236}">
                <a16:creationId xmlns:a16="http://schemas.microsoft.com/office/drawing/2014/main" id="{AE3486A2-664E-6FA1-FDB9-347C7BB84614}"/>
              </a:ext>
            </a:extLst>
          </p:cNvPr>
          <p:cNvCxnSpPr>
            <a:cxnSpLocks/>
          </p:cNvCxnSpPr>
          <p:nvPr/>
        </p:nvCxnSpPr>
        <p:spPr>
          <a:xfrm>
            <a:off x="3616866" y="3529588"/>
            <a:ext cx="0" cy="81631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31" name="Straight Connector 35">
            <a:extLst>
              <a:ext uri="{FF2B5EF4-FFF2-40B4-BE49-F238E27FC236}">
                <a16:creationId xmlns:a16="http://schemas.microsoft.com/office/drawing/2014/main" id="{4789F806-E2F3-0A3F-7862-1E035D3E6786}"/>
              </a:ext>
            </a:extLst>
          </p:cNvPr>
          <p:cNvCxnSpPr>
            <a:cxnSpLocks/>
          </p:cNvCxnSpPr>
          <p:nvPr/>
        </p:nvCxnSpPr>
        <p:spPr>
          <a:xfrm>
            <a:off x="5151789" y="3529588"/>
            <a:ext cx="0" cy="81631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32" name="Straight Connector 35">
            <a:extLst>
              <a:ext uri="{FF2B5EF4-FFF2-40B4-BE49-F238E27FC236}">
                <a16:creationId xmlns:a16="http://schemas.microsoft.com/office/drawing/2014/main" id="{79F03EF3-0681-B9DA-D2C2-AB019679AF9E}"/>
              </a:ext>
            </a:extLst>
          </p:cNvPr>
          <p:cNvCxnSpPr>
            <a:cxnSpLocks/>
          </p:cNvCxnSpPr>
          <p:nvPr/>
        </p:nvCxnSpPr>
        <p:spPr>
          <a:xfrm>
            <a:off x="3803504" y="2732930"/>
            <a:ext cx="419321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33" name="Straight Connector 35">
            <a:extLst>
              <a:ext uri="{FF2B5EF4-FFF2-40B4-BE49-F238E27FC236}">
                <a16:creationId xmlns:a16="http://schemas.microsoft.com/office/drawing/2014/main" id="{C1C25045-F7EC-A234-D87C-100BFBC09174}"/>
              </a:ext>
            </a:extLst>
          </p:cNvPr>
          <p:cNvCxnSpPr>
            <a:cxnSpLocks/>
          </p:cNvCxnSpPr>
          <p:nvPr/>
        </p:nvCxnSpPr>
        <p:spPr>
          <a:xfrm>
            <a:off x="3803504" y="2732930"/>
            <a:ext cx="0" cy="165826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34" name="Straight Connector 35">
            <a:extLst>
              <a:ext uri="{FF2B5EF4-FFF2-40B4-BE49-F238E27FC236}">
                <a16:creationId xmlns:a16="http://schemas.microsoft.com/office/drawing/2014/main" id="{32AF3D15-CE15-D5C2-43B2-AD7EF6EE1F37}"/>
              </a:ext>
            </a:extLst>
          </p:cNvPr>
          <p:cNvCxnSpPr>
            <a:cxnSpLocks/>
          </p:cNvCxnSpPr>
          <p:nvPr/>
        </p:nvCxnSpPr>
        <p:spPr>
          <a:xfrm>
            <a:off x="4505438" y="2732930"/>
            <a:ext cx="45767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35" name="Straight Connector 35">
            <a:extLst>
              <a:ext uri="{FF2B5EF4-FFF2-40B4-BE49-F238E27FC236}">
                <a16:creationId xmlns:a16="http://schemas.microsoft.com/office/drawing/2014/main" id="{EF8F6FF9-CFCC-20C8-849C-0A53C2300CDD}"/>
              </a:ext>
            </a:extLst>
          </p:cNvPr>
          <p:cNvCxnSpPr>
            <a:cxnSpLocks/>
          </p:cNvCxnSpPr>
          <p:nvPr/>
        </p:nvCxnSpPr>
        <p:spPr>
          <a:xfrm>
            <a:off x="4968452" y="2732930"/>
            <a:ext cx="0" cy="165826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1584EC4-725A-FA2E-ECFB-AB068D6D6690}"/>
              </a:ext>
            </a:extLst>
          </p:cNvPr>
          <p:cNvCxnSpPr>
            <a:cxnSpLocks/>
          </p:cNvCxnSpPr>
          <p:nvPr/>
        </p:nvCxnSpPr>
        <p:spPr>
          <a:xfrm>
            <a:off x="3616866" y="4125783"/>
            <a:ext cx="1193182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37" name="Straight Connector 35">
            <a:extLst>
              <a:ext uri="{FF2B5EF4-FFF2-40B4-BE49-F238E27FC236}">
                <a16:creationId xmlns:a16="http://schemas.microsoft.com/office/drawing/2014/main" id="{CE36D79D-C1CE-C8D4-2DBD-4B40F44C664A}"/>
              </a:ext>
            </a:extLst>
          </p:cNvPr>
          <p:cNvCxnSpPr>
            <a:cxnSpLocks/>
          </p:cNvCxnSpPr>
          <p:nvPr/>
        </p:nvCxnSpPr>
        <p:spPr>
          <a:xfrm>
            <a:off x="3980644" y="4066487"/>
            <a:ext cx="1171145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38" name="文字方塊 118">
            <a:extLst>
              <a:ext uri="{FF2B5EF4-FFF2-40B4-BE49-F238E27FC236}">
                <a16:creationId xmlns:a16="http://schemas.microsoft.com/office/drawing/2014/main" id="{77E6A982-80E2-B42D-725A-CE1867B91CC4}"/>
              </a:ext>
            </a:extLst>
          </p:cNvPr>
          <p:cNvSpPr txBox="1"/>
          <p:nvPr/>
        </p:nvSpPr>
        <p:spPr>
          <a:xfrm>
            <a:off x="3035982" y="4146852"/>
            <a:ext cx="642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in1</a:t>
            </a:r>
          </a:p>
        </p:txBody>
      </p:sp>
      <p:sp>
        <p:nvSpPr>
          <p:cNvPr id="39" name="文字方塊 119">
            <a:extLst>
              <a:ext uri="{FF2B5EF4-FFF2-40B4-BE49-F238E27FC236}">
                <a16:creationId xmlns:a16="http://schemas.microsoft.com/office/drawing/2014/main" id="{EE9F0267-34B1-8DBA-2D4B-A677187A9915}"/>
              </a:ext>
            </a:extLst>
          </p:cNvPr>
          <p:cNvSpPr txBox="1"/>
          <p:nvPr/>
        </p:nvSpPr>
        <p:spPr>
          <a:xfrm>
            <a:off x="5069668" y="4149939"/>
            <a:ext cx="642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in2</a:t>
            </a:r>
          </a:p>
        </p:txBody>
      </p:sp>
      <p:sp>
        <p:nvSpPr>
          <p:cNvPr id="40" name="文字方塊 120">
            <a:extLst>
              <a:ext uri="{FF2B5EF4-FFF2-40B4-BE49-F238E27FC236}">
                <a16:creationId xmlns:a16="http://schemas.microsoft.com/office/drawing/2014/main" id="{E5B65BD5-15FE-B96A-CDAB-C380E9620072}"/>
              </a:ext>
            </a:extLst>
          </p:cNvPr>
          <p:cNvSpPr txBox="1"/>
          <p:nvPr/>
        </p:nvSpPr>
        <p:spPr>
          <a:xfrm>
            <a:off x="4264032" y="1504198"/>
            <a:ext cx="642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out</a:t>
            </a:r>
          </a:p>
        </p:txBody>
      </p:sp>
      <p:sp>
        <p:nvSpPr>
          <p:cNvPr id="41" name="文字方塊 6">
            <a:extLst>
              <a:ext uri="{FF2B5EF4-FFF2-40B4-BE49-F238E27FC236}">
                <a16:creationId xmlns:a16="http://schemas.microsoft.com/office/drawing/2014/main" id="{2626475F-BD02-656B-E358-EFB799CC0184}"/>
              </a:ext>
            </a:extLst>
          </p:cNvPr>
          <p:cNvSpPr txBox="1"/>
          <p:nvPr/>
        </p:nvSpPr>
        <p:spPr>
          <a:xfrm>
            <a:off x="2492718" y="4531753"/>
            <a:ext cx="37556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solidFill>
                  <a:schemeClr val="bg2"/>
                </a:solidFill>
                <a:latin typeface="Lato" panose="020B0604020202020204" charset="0"/>
              </a:rPr>
              <a:t>▲ Prior work’s XOR circuit (5 weird gates)</a:t>
            </a:r>
            <a:endParaRPr lang="en-US" dirty="0">
              <a:solidFill>
                <a:schemeClr val="bg2"/>
              </a:solidFill>
              <a:latin typeface="Lato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2C2E55-92B1-816C-2AF0-B1ADBB4E3ECE}"/>
              </a:ext>
            </a:extLst>
          </p:cNvPr>
          <p:cNvSpPr txBox="1"/>
          <p:nvPr/>
        </p:nvSpPr>
        <p:spPr>
          <a:xfrm>
            <a:off x="5764274" y="2843471"/>
            <a:ext cx="2980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Lato" panose="020B0604020202020204" charset="0"/>
              </a:rPr>
              <a:t>✨ </a:t>
            </a:r>
            <a:r>
              <a:rPr lang="en-US" b="1" dirty="0">
                <a:latin typeface="Lato" panose="020B0604020202020204" charset="0"/>
              </a:rPr>
              <a:t>Flexo can do this in one gate!!</a:t>
            </a:r>
          </a:p>
        </p:txBody>
      </p:sp>
    </p:spTree>
    <p:extLst>
      <p:ext uri="{BB962C8B-B14F-4D97-AF65-F5344CB8AC3E}">
        <p14:creationId xmlns:p14="http://schemas.microsoft.com/office/powerpoint/2010/main" val="3211363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3D91E-181E-D4A9-2DE9-31AA16D80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450" y="1757402"/>
            <a:ext cx="7688400" cy="1244700"/>
          </a:xfrm>
        </p:spPr>
        <p:txBody>
          <a:bodyPr/>
          <a:lstStyle/>
          <a:p>
            <a:r>
              <a:rPr lang="en-US" sz="5400" dirty="0"/>
              <a:t>Flexo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17E69-AECD-933B-7645-7D8BC2AE36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49" y="3267182"/>
            <a:ext cx="8027557" cy="586106"/>
          </a:xfrm>
        </p:spPr>
        <p:txBody>
          <a:bodyPr lIns="0"/>
          <a:lstStyle/>
          <a:p>
            <a:pPr marL="146050" indent="0">
              <a:buNone/>
            </a:pPr>
            <a:r>
              <a:rPr lang="en-US" sz="2400" dirty="0"/>
              <a:t>Making weird gates much faster and much more accurate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37832E-495B-60E7-D1C8-3884571D07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06208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92064-EB59-4E2E-DE15-99BE0F316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Flexo’s construction: differential encoding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468116-5EC4-1883-C3C3-EF334091CF6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16</a:t>
            </a:fld>
            <a:endParaRPr lang="zh-TW" alt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2534C23-F7AD-C994-F2FE-1C359A78ED1C}"/>
              </a:ext>
            </a:extLst>
          </p:cNvPr>
          <p:cNvGrpSpPr/>
          <p:nvPr/>
        </p:nvGrpSpPr>
        <p:grpSpPr>
          <a:xfrm>
            <a:off x="2450916" y="2612753"/>
            <a:ext cx="1192163" cy="311875"/>
            <a:chOff x="2450916" y="2612753"/>
            <a:chExt cx="1192163" cy="311875"/>
          </a:xfrm>
        </p:grpSpPr>
        <p:sp>
          <p:nvSpPr>
            <p:cNvPr id="13" name="文字方塊 6">
              <a:extLst>
                <a:ext uri="{FF2B5EF4-FFF2-40B4-BE49-F238E27FC236}">
                  <a16:creationId xmlns:a16="http://schemas.microsoft.com/office/drawing/2014/main" id="{851F7023-B3E4-E183-ED5D-AA1EC676AF08}"/>
                </a:ext>
              </a:extLst>
            </p:cNvPr>
            <p:cNvSpPr txBox="1"/>
            <p:nvPr/>
          </p:nvSpPr>
          <p:spPr>
            <a:xfrm>
              <a:off x="2450916" y="2612753"/>
              <a:ext cx="11140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b="1" dirty="0">
                  <a:solidFill>
                    <a:schemeClr val="bg2"/>
                  </a:solidFill>
                  <a:latin typeface="Lato" panose="020B0604020202020204" charset="0"/>
                </a:rPr>
                <a:t>Flexo</a:t>
              </a:r>
              <a:endParaRPr lang="en-US" b="1" dirty="0">
                <a:solidFill>
                  <a:schemeClr val="bg2"/>
                </a:solidFill>
                <a:latin typeface="Lato" panose="020B0604020202020204" charset="0"/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DC9DDA5F-3E50-4EC4-236D-E6792482D978}"/>
                </a:ext>
              </a:extLst>
            </p:cNvPr>
            <p:cNvCxnSpPr>
              <a:cxnSpLocks/>
            </p:cNvCxnSpPr>
            <p:nvPr/>
          </p:nvCxnSpPr>
          <p:spPr>
            <a:xfrm>
              <a:off x="2460166" y="2924628"/>
              <a:ext cx="11829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4" name="Table 43">
                <a:extLst>
                  <a:ext uri="{FF2B5EF4-FFF2-40B4-BE49-F238E27FC236}">
                    <a16:creationId xmlns:a16="http://schemas.microsoft.com/office/drawing/2014/main" id="{7631CC8C-7F40-8EDC-337C-917DB4BD63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51556640"/>
                  </p:ext>
                </p:extLst>
              </p:nvPr>
            </p:nvGraphicFramePr>
            <p:xfrm>
              <a:off x="5943603" y="2049236"/>
              <a:ext cx="2169881" cy="111252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605970">
                      <a:extLst>
                        <a:ext uri="{9D8B030D-6E8A-4147-A177-3AD203B41FA5}">
                          <a16:colId xmlns:a16="http://schemas.microsoft.com/office/drawing/2014/main" val="3821840445"/>
                        </a:ext>
                      </a:extLst>
                    </a:gridCol>
                    <a:gridCol w="605970">
                      <a:extLst>
                        <a:ext uri="{9D8B030D-6E8A-4147-A177-3AD203B41FA5}">
                          <a16:colId xmlns:a16="http://schemas.microsoft.com/office/drawing/2014/main" val="472676359"/>
                        </a:ext>
                      </a:extLst>
                    </a:gridCol>
                    <a:gridCol w="957941">
                      <a:extLst>
                        <a:ext uri="{9D8B030D-6E8A-4147-A177-3AD203B41FA5}">
                          <a16:colId xmlns:a16="http://schemas.microsoft.com/office/drawing/2014/main" val="154134154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1400" b="1" dirty="0" smtClean="0">
                                    <a:solidFill>
                                      <a:schemeClr val="tx1"/>
                                    </a:solidFill>
                                    <a:latin typeface="Lato" panose="020B0604020202020204" charset="0"/>
                                  </a:rPr>
                                  <m:t>WR</m:t>
                                </m:r>
                                <m:r>
                                  <m:rPr>
                                    <m:nor/>
                                  </m:rPr>
                                  <a:rPr lang="en-US" sz="1800" b="1" i="0" baseline="30000" dirty="0" smtClean="0">
                                    <a:solidFill>
                                      <a:schemeClr val="tx1"/>
                                    </a:solidFill>
                                    <a:latin typeface="Lato" panose="020B0604020202020204" charset="0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  <a:latin typeface="Lato" panose="020F0502020204030203" pitchFamily="34" charset="0"/>
                            <a:ea typeface="Lato" panose="020F0502020204030203" pitchFamily="34" charset="0"/>
                            <a:cs typeface="Lato" panose="020F050202020403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1400" b="1" dirty="0" smtClean="0">
                                    <a:solidFill>
                                      <a:schemeClr val="accent3"/>
                                    </a:solidFill>
                                    <a:latin typeface="Lato" panose="020B0604020202020204" charset="0"/>
                                  </a:rPr>
                                  <m:t>WR</m:t>
                                </m:r>
                                <m:r>
                                  <m:rPr>
                                    <m:nor/>
                                  </m:rPr>
                                  <a:rPr lang="en-US" sz="1800" b="1" baseline="30000" dirty="0" smtClean="0">
                                    <a:solidFill>
                                      <a:schemeClr val="accent3"/>
                                    </a:solidFill>
                                    <a:latin typeface="Lato" panose="020B0604020202020204" charset="0"/>
                                  </a:rPr>
                                  <m:t>–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3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>
                              <a:solidFill>
                                <a:schemeClr val="bg2"/>
                              </a:solidFill>
                              <a:latin typeface="Lato" panose="020F0502020204030203" pitchFamily="34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a:t>Value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77715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2"/>
                              </a:solidFill>
                              <a:latin typeface="Lato" panose="020F0502020204030203" pitchFamily="34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accent3"/>
                              </a:solidFill>
                              <a:latin typeface="Lato" panose="020F0502020204030203" pitchFamily="34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>
                              <a:solidFill>
                                <a:schemeClr val="accent3"/>
                              </a:solidFill>
                              <a:latin typeface="Lato" panose="020F0502020204030203" pitchFamily="34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a:t>Binary 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702795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/>
                              </a:solidFill>
                              <a:latin typeface="Lato" panose="020F0502020204030203" pitchFamily="34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2"/>
                              </a:solidFill>
                              <a:latin typeface="Lato" panose="020F0502020204030203" pitchFamily="34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Lato" panose="020F0502020204030203" pitchFamily="34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a:t>Binary 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851559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4" name="Table 43">
                <a:extLst>
                  <a:ext uri="{FF2B5EF4-FFF2-40B4-BE49-F238E27FC236}">
                    <a16:creationId xmlns:a16="http://schemas.microsoft.com/office/drawing/2014/main" id="{7631CC8C-7F40-8EDC-337C-917DB4BD63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51556640"/>
                  </p:ext>
                </p:extLst>
              </p:nvPr>
            </p:nvGraphicFramePr>
            <p:xfrm>
              <a:off x="5943603" y="2049236"/>
              <a:ext cx="2169881" cy="111252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605970">
                      <a:extLst>
                        <a:ext uri="{9D8B030D-6E8A-4147-A177-3AD203B41FA5}">
                          <a16:colId xmlns:a16="http://schemas.microsoft.com/office/drawing/2014/main" val="3821840445"/>
                        </a:ext>
                      </a:extLst>
                    </a:gridCol>
                    <a:gridCol w="605970">
                      <a:extLst>
                        <a:ext uri="{9D8B030D-6E8A-4147-A177-3AD203B41FA5}">
                          <a16:colId xmlns:a16="http://schemas.microsoft.com/office/drawing/2014/main" val="472676359"/>
                        </a:ext>
                      </a:extLst>
                    </a:gridCol>
                    <a:gridCol w="957941">
                      <a:extLst>
                        <a:ext uri="{9D8B030D-6E8A-4147-A177-3AD203B41FA5}">
                          <a16:colId xmlns:a16="http://schemas.microsoft.com/office/drawing/2014/main" val="154134154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260606" b="-2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9000" r="-158000" b="-2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>
                              <a:solidFill>
                                <a:schemeClr val="bg2"/>
                              </a:solidFill>
                              <a:latin typeface="Lato" panose="020F0502020204030203" pitchFamily="34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a:t>Value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77715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2"/>
                              </a:solidFill>
                              <a:latin typeface="Lato" panose="020F0502020204030203" pitchFamily="34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accent3"/>
                              </a:solidFill>
                              <a:latin typeface="Lato" panose="020F0502020204030203" pitchFamily="34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>
                              <a:solidFill>
                                <a:schemeClr val="accent3"/>
                              </a:solidFill>
                              <a:latin typeface="Lato" panose="020F0502020204030203" pitchFamily="34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a:t>Binary 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702795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/>
                              </a:solidFill>
                              <a:latin typeface="Lato" panose="020F0502020204030203" pitchFamily="34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2"/>
                              </a:solidFill>
                              <a:latin typeface="Lato" panose="020F0502020204030203" pitchFamily="34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Lato" panose="020F0502020204030203" pitchFamily="34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a:t>Binary 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85155933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E1086FC6-992B-20E3-2557-DBACD0690D35}"/>
              </a:ext>
            </a:extLst>
          </p:cNvPr>
          <p:cNvGrpSpPr/>
          <p:nvPr/>
        </p:nvGrpSpPr>
        <p:grpSpPr>
          <a:xfrm>
            <a:off x="1113963" y="2068030"/>
            <a:ext cx="936174" cy="1760146"/>
            <a:chOff x="1113963" y="2068030"/>
            <a:chExt cx="936174" cy="1760146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57E6F26-757D-9FFB-BE1A-F7DE7D7BE017}"/>
                </a:ext>
              </a:extLst>
            </p:cNvPr>
            <p:cNvCxnSpPr/>
            <p:nvPr/>
          </p:nvCxnSpPr>
          <p:spPr>
            <a:xfrm>
              <a:off x="1582050" y="2375807"/>
              <a:ext cx="0" cy="1103085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25AFB79-338D-27C3-0E7A-D5292D9E2294}"/>
                </a:ext>
              </a:extLst>
            </p:cNvPr>
            <p:cNvSpPr txBox="1"/>
            <p:nvPr/>
          </p:nvSpPr>
          <p:spPr>
            <a:xfrm>
              <a:off x="1113963" y="3520399"/>
              <a:ext cx="93617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Lato" panose="020B0604020202020204" charset="0"/>
                </a:rPr>
                <a:t>0/1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10D4336-9172-D456-0599-2EDDBE7A4B86}"/>
                </a:ext>
              </a:extLst>
            </p:cNvPr>
            <p:cNvSpPr txBox="1"/>
            <p:nvPr/>
          </p:nvSpPr>
          <p:spPr>
            <a:xfrm>
              <a:off x="1113963" y="2068030"/>
              <a:ext cx="93617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Lato" panose="020B0604020202020204" charset="0"/>
                </a:rPr>
                <a:t>WR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A0AC24A-2531-9DC0-8D76-1E1055397EE2}"/>
              </a:ext>
            </a:extLst>
          </p:cNvPr>
          <p:cNvGrpSpPr/>
          <p:nvPr/>
        </p:nvGrpSpPr>
        <p:grpSpPr>
          <a:xfrm>
            <a:off x="4120224" y="2068030"/>
            <a:ext cx="609608" cy="1760145"/>
            <a:chOff x="4120224" y="2068030"/>
            <a:chExt cx="609608" cy="176014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0DC499C-C866-89C5-B3D5-9AE319F98E26}"/>
                </a:ext>
              </a:extLst>
            </p:cNvPr>
            <p:cNvCxnSpPr/>
            <p:nvPr/>
          </p:nvCxnSpPr>
          <p:spPr>
            <a:xfrm>
              <a:off x="4425028" y="2375807"/>
              <a:ext cx="0" cy="110308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3B80562-5B38-5F1C-5F3C-B8AC82A5E6ED}"/>
                </a:ext>
              </a:extLst>
            </p:cNvPr>
            <p:cNvSpPr txBox="1"/>
            <p:nvPr/>
          </p:nvSpPr>
          <p:spPr>
            <a:xfrm>
              <a:off x="4120225" y="3520398"/>
              <a:ext cx="6096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Lato" panose="020B0604020202020204" charset="0"/>
                </a:rPr>
                <a:t>0/1</a:t>
              </a:r>
              <a:endParaRPr lang="en-US" dirty="0">
                <a:latin typeface="Lato" panose="020B060402020202020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91D2284-DED7-C7EC-4429-FF57A663D177}"/>
                </a:ext>
              </a:extLst>
            </p:cNvPr>
            <p:cNvSpPr txBox="1"/>
            <p:nvPr/>
          </p:nvSpPr>
          <p:spPr>
            <a:xfrm>
              <a:off x="4120224" y="2068030"/>
              <a:ext cx="6096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Lato" panose="020B0604020202020204" charset="0"/>
                </a:rPr>
                <a:t>WR</a:t>
              </a:r>
              <a:r>
                <a:rPr lang="en-US" baseline="30000" dirty="0">
                  <a:solidFill>
                    <a:schemeClr val="tx1"/>
                  </a:solidFill>
                  <a:latin typeface="Lato" panose="020B0604020202020204" charset="0"/>
                </a:rPr>
                <a:t>+</a:t>
              </a:r>
              <a:endParaRPr lang="en-US" dirty="0">
                <a:solidFill>
                  <a:schemeClr val="tx1"/>
                </a:solidFill>
                <a:latin typeface="Lato" panose="020B0604020202020204" charset="0"/>
              </a:endParaRPr>
            </a:p>
          </p:txBody>
        </p:sp>
      </p:grp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BC82EA2-E2C9-E680-1B80-7F297B54DF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1781778"/>
              </p:ext>
            </p:extLst>
          </p:nvPr>
        </p:nvGraphicFramePr>
        <p:xfrm>
          <a:off x="5943603" y="3161756"/>
          <a:ext cx="2169881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05970">
                  <a:extLst>
                    <a:ext uri="{9D8B030D-6E8A-4147-A177-3AD203B41FA5}">
                      <a16:colId xmlns:a16="http://schemas.microsoft.com/office/drawing/2014/main" val="3821840445"/>
                    </a:ext>
                  </a:extLst>
                </a:gridCol>
                <a:gridCol w="605970">
                  <a:extLst>
                    <a:ext uri="{9D8B030D-6E8A-4147-A177-3AD203B41FA5}">
                      <a16:colId xmlns:a16="http://schemas.microsoft.com/office/drawing/2014/main" val="472676359"/>
                    </a:ext>
                  </a:extLst>
                </a:gridCol>
                <a:gridCol w="957941">
                  <a:extLst>
                    <a:ext uri="{9D8B030D-6E8A-4147-A177-3AD203B41FA5}">
                      <a16:colId xmlns:a16="http://schemas.microsoft.com/office/drawing/2014/main" val="15413415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bg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Invalid!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0279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bg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Invalid!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5155933"/>
                  </a:ext>
                </a:extLst>
              </a:tr>
            </a:tbl>
          </a:graphicData>
        </a:graphic>
      </p:graphicFrame>
      <p:grpSp>
        <p:nvGrpSpPr>
          <p:cNvPr id="16" name="Group 15">
            <a:extLst>
              <a:ext uri="{FF2B5EF4-FFF2-40B4-BE49-F238E27FC236}">
                <a16:creationId xmlns:a16="http://schemas.microsoft.com/office/drawing/2014/main" id="{EB494D48-2951-9968-009F-047800C41C4D}"/>
              </a:ext>
            </a:extLst>
          </p:cNvPr>
          <p:cNvGrpSpPr/>
          <p:nvPr/>
        </p:nvGrpSpPr>
        <p:grpSpPr>
          <a:xfrm>
            <a:off x="4677218" y="2016453"/>
            <a:ext cx="660407" cy="1811722"/>
            <a:chOff x="4677218" y="2016453"/>
            <a:chExt cx="660407" cy="181172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0730B51-50C9-1D8C-6CC8-1391369C8119}"/>
                </a:ext>
              </a:extLst>
            </p:cNvPr>
            <p:cNvCxnSpPr/>
            <p:nvPr/>
          </p:nvCxnSpPr>
          <p:spPr>
            <a:xfrm>
              <a:off x="4974762" y="2375807"/>
              <a:ext cx="0" cy="1103085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8522F2D-0006-AE09-11D1-F233610DCA34}"/>
                </a:ext>
              </a:extLst>
            </p:cNvPr>
            <p:cNvSpPr txBox="1"/>
            <p:nvPr/>
          </p:nvSpPr>
          <p:spPr>
            <a:xfrm>
              <a:off x="4728017" y="2016453"/>
              <a:ext cx="6096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3"/>
                  </a:solidFill>
                  <a:latin typeface="Lato" panose="020B0604020202020204" charset="0"/>
                </a:rPr>
                <a:t>WR</a:t>
              </a:r>
              <a:r>
                <a:rPr lang="en-US" sz="1800" baseline="30000" dirty="0">
                  <a:solidFill>
                    <a:schemeClr val="accent3"/>
                  </a:solidFill>
                  <a:latin typeface="Lato" panose="020B0604020202020204" charset="0"/>
                </a:rPr>
                <a:t>–</a:t>
              </a:r>
              <a:endParaRPr lang="en-US" dirty="0">
                <a:solidFill>
                  <a:schemeClr val="accent3"/>
                </a:solidFill>
                <a:latin typeface="Lato" panose="020B060402020202020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0AF1A7C-BB90-CBCB-393E-999741CC7472}"/>
                </a:ext>
              </a:extLst>
            </p:cNvPr>
            <p:cNvSpPr txBox="1"/>
            <p:nvPr/>
          </p:nvSpPr>
          <p:spPr>
            <a:xfrm>
              <a:off x="4677218" y="3520398"/>
              <a:ext cx="6096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3"/>
                  </a:solidFill>
                  <a:latin typeface="Lato" panose="020B0604020202020204" charset="0"/>
                </a:rPr>
                <a:t>0/1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61736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1007 -0.00185 L -4.16667E-6 3.7037E-6 " pathEditMode="relative" rAng="0" ptsTypes="AA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503" y="0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7066 -0.00062 L 5E-6 -3.95062E-6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490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855AD-0DFD-68BD-1D80-BA057A1D8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Differential encoding → many benefits!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A8BDE-255F-989F-570E-ECE60BB0C2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17</a:t>
            </a:fld>
            <a:endParaRPr lang="zh-TW" altLang="en-US"/>
          </a:p>
        </p:txBody>
      </p:sp>
      <p:grpSp>
        <p:nvGrpSpPr>
          <p:cNvPr id="5" name="Group 43">
            <a:extLst>
              <a:ext uri="{FF2B5EF4-FFF2-40B4-BE49-F238E27FC236}">
                <a16:creationId xmlns:a16="http://schemas.microsoft.com/office/drawing/2014/main" id="{3E8EBCEE-7A3E-CA30-4BEF-296B0C2DAA7E}"/>
              </a:ext>
            </a:extLst>
          </p:cNvPr>
          <p:cNvGrpSpPr/>
          <p:nvPr/>
        </p:nvGrpSpPr>
        <p:grpSpPr>
          <a:xfrm>
            <a:off x="1797620" y="2167987"/>
            <a:ext cx="967426" cy="2020432"/>
            <a:chOff x="763715" y="2153377"/>
            <a:chExt cx="660400" cy="1379220"/>
          </a:xfrm>
        </p:grpSpPr>
        <p:sp>
          <p:nvSpPr>
            <p:cNvPr id="6" name="Arc 28">
              <a:extLst>
                <a:ext uri="{FF2B5EF4-FFF2-40B4-BE49-F238E27FC236}">
                  <a16:creationId xmlns:a16="http://schemas.microsoft.com/office/drawing/2014/main" id="{DEC601EA-39B4-9EE5-88BA-1C547DBBCD1A}"/>
                </a:ext>
              </a:extLst>
            </p:cNvPr>
            <p:cNvSpPr/>
            <p:nvPr/>
          </p:nvSpPr>
          <p:spPr>
            <a:xfrm>
              <a:off x="763715" y="2450557"/>
              <a:ext cx="660400" cy="1082040"/>
            </a:xfrm>
            <a:prstGeom prst="arc">
              <a:avLst>
                <a:gd name="adj1" fmla="val 16200000"/>
                <a:gd name="adj2" fmla="val 998404"/>
              </a:avLst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Arc 29">
              <a:extLst>
                <a:ext uri="{FF2B5EF4-FFF2-40B4-BE49-F238E27FC236}">
                  <a16:creationId xmlns:a16="http://schemas.microsoft.com/office/drawing/2014/main" id="{4B7DA8A0-E935-A251-6D26-989496E812D6}"/>
                </a:ext>
              </a:extLst>
            </p:cNvPr>
            <p:cNvSpPr/>
            <p:nvPr/>
          </p:nvSpPr>
          <p:spPr>
            <a:xfrm flipH="1">
              <a:off x="763715" y="2450557"/>
              <a:ext cx="660400" cy="1082040"/>
            </a:xfrm>
            <a:prstGeom prst="arc">
              <a:avLst>
                <a:gd name="adj1" fmla="val 16200000"/>
                <a:gd name="adj2" fmla="val 887744"/>
              </a:avLst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8" name="Straight Connector 31">
              <a:extLst>
                <a:ext uri="{FF2B5EF4-FFF2-40B4-BE49-F238E27FC236}">
                  <a16:creationId xmlns:a16="http://schemas.microsoft.com/office/drawing/2014/main" id="{5E9F5FBA-9239-A9DF-AD1C-A8702A3FFB56}"/>
                </a:ext>
              </a:extLst>
            </p:cNvPr>
            <p:cNvCxnSpPr>
              <a:cxnSpLocks/>
            </p:cNvCxnSpPr>
            <p:nvPr/>
          </p:nvCxnSpPr>
          <p:spPr>
            <a:xfrm>
              <a:off x="763715" y="3081389"/>
              <a:ext cx="660400" cy="0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35">
              <a:extLst>
                <a:ext uri="{FF2B5EF4-FFF2-40B4-BE49-F238E27FC236}">
                  <a16:creationId xmlns:a16="http://schemas.microsoft.com/office/drawing/2014/main" id="{925F7D0D-868B-66CD-184E-1E1771E2A724}"/>
                </a:ext>
              </a:extLst>
            </p:cNvPr>
            <p:cNvCxnSpPr/>
            <p:nvPr/>
          </p:nvCxnSpPr>
          <p:spPr>
            <a:xfrm>
              <a:off x="931102" y="3081389"/>
              <a:ext cx="0" cy="29718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1" name="Straight Connector 37">
              <a:extLst>
                <a:ext uri="{FF2B5EF4-FFF2-40B4-BE49-F238E27FC236}">
                  <a16:creationId xmlns:a16="http://schemas.microsoft.com/office/drawing/2014/main" id="{0B3E14AF-B669-2F90-BDDE-28E998BEC814}"/>
                </a:ext>
              </a:extLst>
            </p:cNvPr>
            <p:cNvCxnSpPr/>
            <p:nvPr/>
          </p:nvCxnSpPr>
          <p:spPr>
            <a:xfrm>
              <a:off x="1304219" y="3081389"/>
              <a:ext cx="0" cy="29718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2" name="Straight Connector 38">
              <a:extLst>
                <a:ext uri="{FF2B5EF4-FFF2-40B4-BE49-F238E27FC236}">
                  <a16:creationId xmlns:a16="http://schemas.microsoft.com/office/drawing/2014/main" id="{66F5BB47-8F78-C8DC-4AC4-ED41FCB8595A}"/>
                </a:ext>
              </a:extLst>
            </p:cNvPr>
            <p:cNvCxnSpPr/>
            <p:nvPr/>
          </p:nvCxnSpPr>
          <p:spPr>
            <a:xfrm>
              <a:off x="1102420" y="2153377"/>
              <a:ext cx="0" cy="29718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</p:grpSp>
      <p:cxnSp>
        <p:nvCxnSpPr>
          <p:cNvPr id="13" name="Straight Arrow Connector 40">
            <a:extLst>
              <a:ext uri="{FF2B5EF4-FFF2-40B4-BE49-F238E27FC236}">
                <a16:creationId xmlns:a16="http://schemas.microsoft.com/office/drawing/2014/main" id="{0CCDCA41-C01D-1C9E-482E-5C28BD350F31}"/>
              </a:ext>
            </a:extLst>
          </p:cNvPr>
          <p:cNvCxnSpPr>
            <a:cxnSpLocks/>
          </p:cNvCxnSpPr>
          <p:nvPr/>
        </p:nvCxnSpPr>
        <p:spPr>
          <a:xfrm>
            <a:off x="3185889" y="3123895"/>
            <a:ext cx="17489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41">
            <a:extLst>
              <a:ext uri="{FF2B5EF4-FFF2-40B4-BE49-F238E27FC236}">
                <a16:creationId xmlns:a16="http://schemas.microsoft.com/office/drawing/2014/main" id="{2C797ECE-C2A8-A402-4E31-D501776F4570}"/>
              </a:ext>
            </a:extLst>
          </p:cNvPr>
          <p:cNvSpPr txBox="1"/>
          <p:nvPr/>
        </p:nvSpPr>
        <p:spPr>
          <a:xfrm>
            <a:off x="3681906" y="2779833"/>
            <a:ext cx="740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Lato" panose="020B0604020202020204" charset="0"/>
              </a:rPr>
              <a:t>Flexo</a:t>
            </a:r>
            <a:endParaRPr lang="en-US" b="1" dirty="0">
              <a:latin typeface="Lato" panose="020B0604020202020204" charset="0"/>
            </a:endParaRPr>
          </a:p>
        </p:txBody>
      </p:sp>
      <p:sp>
        <p:nvSpPr>
          <p:cNvPr id="15" name="Arc 28">
            <a:extLst>
              <a:ext uri="{FF2B5EF4-FFF2-40B4-BE49-F238E27FC236}">
                <a16:creationId xmlns:a16="http://schemas.microsoft.com/office/drawing/2014/main" id="{CB0641E3-FAB4-7C8E-11B6-2D4D197394F1}"/>
              </a:ext>
            </a:extLst>
          </p:cNvPr>
          <p:cNvSpPr/>
          <p:nvPr/>
        </p:nvSpPr>
        <p:spPr>
          <a:xfrm>
            <a:off x="5368953" y="2601892"/>
            <a:ext cx="963857" cy="1579241"/>
          </a:xfrm>
          <a:prstGeom prst="arc">
            <a:avLst>
              <a:gd name="adj1" fmla="val 16200000"/>
              <a:gd name="adj2" fmla="val 998404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rc 29">
            <a:extLst>
              <a:ext uri="{FF2B5EF4-FFF2-40B4-BE49-F238E27FC236}">
                <a16:creationId xmlns:a16="http://schemas.microsoft.com/office/drawing/2014/main" id="{D9592A09-5BFC-3468-50BB-12EA4E871ACE}"/>
              </a:ext>
            </a:extLst>
          </p:cNvPr>
          <p:cNvSpPr/>
          <p:nvPr/>
        </p:nvSpPr>
        <p:spPr>
          <a:xfrm flipH="1">
            <a:off x="5368953" y="2601892"/>
            <a:ext cx="963857" cy="1579241"/>
          </a:xfrm>
          <a:prstGeom prst="arc">
            <a:avLst>
              <a:gd name="adj1" fmla="val 16200000"/>
              <a:gd name="adj2" fmla="val 887744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D84FE50-468E-80E5-533D-A6E4B8D00763}"/>
              </a:ext>
            </a:extLst>
          </p:cNvPr>
          <p:cNvCxnSpPr>
            <a:cxnSpLocks/>
          </p:cNvCxnSpPr>
          <p:nvPr/>
        </p:nvCxnSpPr>
        <p:spPr>
          <a:xfrm>
            <a:off x="5368953" y="3522594"/>
            <a:ext cx="963857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6">
            <a:extLst>
              <a:ext uri="{FF2B5EF4-FFF2-40B4-BE49-F238E27FC236}">
                <a16:creationId xmlns:a16="http://schemas.microsoft.com/office/drawing/2014/main" id="{B7B77851-F676-407F-9574-51025419CD7D}"/>
              </a:ext>
            </a:extLst>
          </p:cNvPr>
          <p:cNvCxnSpPr/>
          <p:nvPr/>
        </p:nvCxnSpPr>
        <p:spPr>
          <a:xfrm>
            <a:off x="5510873" y="3522594"/>
            <a:ext cx="0" cy="433735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20" name="Straight Connector 23">
            <a:extLst>
              <a:ext uri="{FF2B5EF4-FFF2-40B4-BE49-F238E27FC236}">
                <a16:creationId xmlns:a16="http://schemas.microsoft.com/office/drawing/2014/main" id="{95971F1D-C99D-2252-E79E-2DE7A6140507}"/>
              </a:ext>
            </a:extLst>
          </p:cNvPr>
          <p:cNvCxnSpPr/>
          <p:nvPr/>
        </p:nvCxnSpPr>
        <p:spPr>
          <a:xfrm>
            <a:off x="5549223" y="3522594"/>
            <a:ext cx="0" cy="433735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21" name="Straight Connector 24">
            <a:extLst>
              <a:ext uri="{FF2B5EF4-FFF2-40B4-BE49-F238E27FC236}">
                <a16:creationId xmlns:a16="http://schemas.microsoft.com/office/drawing/2014/main" id="{AB1BA104-6651-638D-FF8F-306FF9EB24A1}"/>
              </a:ext>
            </a:extLst>
          </p:cNvPr>
          <p:cNvCxnSpPr/>
          <p:nvPr/>
        </p:nvCxnSpPr>
        <p:spPr>
          <a:xfrm>
            <a:off x="6170483" y="3522594"/>
            <a:ext cx="0" cy="433735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22" name="Straight Connector 25">
            <a:extLst>
              <a:ext uri="{FF2B5EF4-FFF2-40B4-BE49-F238E27FC236}">
                <a16:creationId xmlns:a16="http://schemas.microsoft.com/office/drawing/2014/main" id="{1E8CA795-C451-764C-3595-BC96E64B71D2}"/>
              </a:ext>
            </a:extLst>
          </p:cNvPr>
          <p:cNvCxnSpPr/>
          <p:nvPr/>
        </p:nvCxnSpPr>
        <p:spPr>
          <a:xfrm>
            <a:off x="6208833" y="3522594"/>
            <a:ext cx="0" cy="433735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23" name="Straight Connector 26">
            <a:extLst>
              <a:ext uri="{FF2B5EF4-FFF2-40B4-BE49-F238E27FC236}">
                <a16:creationId xmlns:a16="http://schemas.microsoft.com/office/drawing/2014/main" id="{BF5C1F98-2402-4932-51EE-FDC5C229C430}"/>
              </a:ext>
            </a:extLst>
          </p:cNvPr>
          <p:cNvCxnSpPr/>
          <p:nvPr/>
        </p:nvCxnSpPr>
        <p:spPr>
          <a:xfrm>
            <a:off x="5839144" y="2168157"/>
            <a:ext cx="0" cy="433735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24" name="Straight Connector 27">
            <a:extLst>
              <a:ext uri="{FF2B5EF4-FFF2-40B4-BE49-F238E27FC236}">
                <a16:creationId xmlns:a16="http://schemas.microsoft.com/office/drawing/2014/main" id="{982F360E-2479-0257-010D-A3D95B622158}"/>
              </a:ext>
            </a:extLst>
          </p:cNvPr>
          <p:cNvCxnSpPr/>
          <p:nvPr/>
        </p:nvCxnSpPr>
        <p:spPr>
          <a:xfrm>
            <a:off x="5877494" y="2168157"/>
            <a:ext cx="0" cy="433735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25" name="文字方塊 14">
            <a:extLst>
              <a:ext uri="{FF2B5EF4-FFF2-40B4-BE49-F238E27FC236}">
                <a16:creationId xmlns:a16="http://schemas.microsoft.com/office/drawing/2014/main" id="{8F521463-8129-B676-5444-05B5EE87F9F5}"/>
              </a:ext>
            </a:extLst>
          </p:cNvPr>
          <p:cNvSpPr txBox="1"/>
          <p:nvPr/>
        </p:nvSpPr>
        <p:spPr>
          <a:xfrm>
            <a:off x="5528957" y="1850572"/>
            <a:ext cx="664855" cy="449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/>
                </a:solidFill>
                <a:latin typeface="Consolas" panose="020B0609020204030204" pitchFamily="49" charset="0"/>
              </a:rPr>
              <a:t>+-</a:t>
            </a:r>
          </a:p>
        </p:txBody>
      </p:sp>
      <p:sp>
        <p:nvSpPr>
          <p:cNvPr id="26" name="文字方塊 15">
            <a:extLst>
              <a:ext uri="{FF2B5EF4-FFF2-40B4-BE49-F238E27FC236}">
                <a16:creationId xmlns:a16="http://schemas.microsoft.com/office/drawing/2014/main" id="{EDCFFF39-B0C3-6D82-60B9-A70496A5A34A}"/>
              </a:ext>
            </a:extLst>
          </p:cNvPr>
          <p:cNvSpPr txBox="1"/>
          <p:nvPr/>
        </p:nvSpPr>
        <p:spPr>
          <a:xfrm>
            <a:off x="5200485" y="3915457"/>
            <a:ext cx="664855" cy="449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/>
                </a:solidFill>
                <a:latin typeface="Consolas" panose="020B0609020204030204" pitchFamily="49" charset="0"/>
              </a:rPr>
              <a:t>+-</a:t>
            </a:r>
          </a:p>
        </p:txBody>
      </p:sp>
      <p:sp>
        <p:nvSpPr>
          <p:cNvPr id="29" name="文字方塊 15">
            <a:extLst>
              <a:ext uri="{FF2B5EF4-FFF2-40B4-BE49-F238E27FC236}">
                <a16:creationId xmlns:a16="http://schemas.microsoft.com/office/drawing/2014/main" id="{6602F34E-537D-2104-2C75-B342AD1BACB1}"/>
              </a:ext>
            </a:extLst>
          </p:cNvPr>
          <p:cNvSpPr txBox="1"/>
          <p:nvPr/>
        </p:nvSpPr>
        <p:spPr>
          <a:xfrm>
            <a:off x="5877494" y="3915457"/>
            <a:ext cx="664855" cy="449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/>
                </a:solidFill>
                <a:latin typeface="Consolas" panose="020B0609020204030204" pitchFamily="49" charset="0"/>
              </a:rPr>
              <a:t>+-</a:t>
            </a:r>
          </a:p>
        </p:txBody>
      </p:sp>
      <p:sp>
        <p:nvSpPr>
          <p:cNvPr id="33" name="文字方塊 5">
            <a:extLst>
              <a:ext uri="{FF2B5EF4-FFF2-40B4-BE49-F238E27FC236}">
                <a16:creationId xmlns:a16="http://schemas.microsoft.com/office/drawing/2014/main" id="{CC5716A7-D6DD-AB70-A517-BB1823337339}"/>
              </a:ext>
            </a:extLst>
          </p:cNvPr>
          <p:cNvSpPr txBox="1"/>
          <p:nvPr/>
        </p:nvSpPr>
        <p:spPr>
          <a:xfrm>
            <a:off x="6599637" y="2779833"/>
            <a:ext cx="2014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>
                <a:solidFill>
                  <a:schemeClr val="bg2"/>
                </a:solidFill>
                <a:latin typeface="Lato" panose="020B0604020202020204" charset="0"/>
              </a:rPr>
              <a:t>✨ Powerful gates!</a:t>
            </a:r>
          </a:p>
        </p:txBody>
      </p:sp>
      <p:sp>
        <p:nvSpPr>
          <p:cNvPr id="34" name="文字方塊 5">
            <a:extLst>
              <a:ext uri="{FF2B5EF4-FFF2-40B4-BE49-F238E27FC236}">
                <a16:creationId xmlns:a16="http://schemas.microsoft.com/office/drawing/2014/main" id="{737BB66C-C449-0857-1756-3AF3F8627B87}"/>
              </a:ext>
            </a:extLst>
          </p:cNvPr>
          <p:cNvSpPr txBox="1"/>
          <p:nvPr/>
        </p:nvSpPr>
        <p:spPr>
          <a:xfrm>
            <a:off x="6599637" y="3118387"/>
            <a:ext cx="2014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>
                <a:solidFill>
                  <a:schemeClr val="bg2"/>
                </a:solidFill>
                <a:latin typeface="Lato" panose="020B0604020202020204" charset="0"/>
              </a:rPr>
              <a:t>✨ Higher accuracy!</a:t>
            </a:r>
          </a:p>
        </p:txBody>
      </p:sp>
    </p:spTree>
    <p:extLst>
      <p:ext uri="{BB962C8B-B14F-4D97-AF65-F5344CB8AC3E}">
        <p14:creationId xmlns:p14="http://schemas.microsoft.com/office/powerpoint/2010/main" val="3075290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9D912-A1FD-2138-3C7E-BAE5D205D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Applying Flexo’s differential encoding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FAB98A-680E-353C-A6AD-F170CC7FDF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18</a:t>
            </a:fld>
            <a:endParaRPr lang="zh-TW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5F4516-D70C-ADA7-B64E-5CD817B07BBE}"/>
              </a:ext>
            </a:extLst>
          </p:cNvPr>
          <p:cNvSpPr txBox="1"/>
          <p:nvPr/>
        </p:nvSpPr>
        <p:spPr>
          <a:xfrm>
            <a:off x="4107540" y="2066229"/>
            <a:ext cx="3942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dirty="0">
                <a:latin typeface="Consolas" panose="020B0609020204030204" pitchFamily="49" charset="0"/>
              </a:rPr>
              <a:t>out</a:t>
            </a:r>
            <a:r>
              <a:rPr lang="en-US" sz="1800" dirty="0">
                <a:latin typeface="Lato" panose="020B0604020202020204" charset="0"/>
              </a:rPr>
              <a:t> is 1 </a:t>
            </a:r>
            <a:r>
              <a:rPr lang="en-US" sz="1800" b="1" dirty="0">
                <a:latin typeface="Lato" panose="020B0604020202020204" charset="0"/>
              </a:rPr>
              <a:t>when </a:t>
            </a:r>
            <a:r>
              <a:rPr lang="en-US" sz="1800" dirty="0">
                <a:latin typeface="Consolas" panose="020B0609020204030204" pitchFamily="49" charset="0"/>
              </a:rPr>
              <a:t>in1</a:t>
            </a:r>
            <a:r>
              <a:rPr lang="en-US" sz="1800" dirty="0">
                <a:latin typeface="Lato" panose="020B0604020202020204" charset="0"/>
              </a:rPr>
              <a:t> is 1 </a:t>
            </a:r>
            <a:r>
              <a:rPr lang="en-US" sz="1800" b="1" dirty="0">
                <a:latin typeface="Lato" panose="020B0604020202020204" charset="0"/>
              </a:rPr>
              <a:t>AND</a:t>
            </a:r>
            <a:r>
              <a:rPr lang="en-US" sz="1800" dirty="0">
                <a:latin typeface="Lato" panose="020B0604020202020204" charset="0"/>
              </a:rPr>
              <a:t> </a:t>
            </a:r>
            <a:r>
              <a:rPr lang="en-US" sz="1800" dirty="0">
                <a:latin typeface="Consolas" panose="020B0609020204030204" pitchFamily="49" charset="0"/>
              </a:rPr>
              <a:t>in2</a:t>
            </a:r>
            <a:r>
              <a:rPr lang="en-US" sz="1800" dirty="0">
                <a:latin typeface="Lato" panose="020B0604020202020204" charset="0"/>
              </a:rPr>
              <a:t> is 0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4568EDFB-2E33-4B05-FD4D-C281B3AE6E5F}"/>
              </a:ext>
            </a:extLst>
          </p:cNvPr>
          <p:cNvCxnSpPr/>
          <p:nvPr/>
        </p:nvCxnSpPr>
        <p:spPr>
          <a:xfrm>
            <a:off x="3962395" y="2486360"/>
            <a:ext cx="428171" cy="341086"/>
          </a:xfrm>
          <a:prstGeom prst="bentConnector3">
            <a:avLst>
              <a:gd name="adj1" fmla="val -847"/>
            </a:avLst>
          </a:prstGeom>
          <a:ln w="127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B9A53F3-0869-0AA5-FF2A-8E2E563CB86C}"/>
              </a:ext>
            </a:extLst>
          </p:cNvPr>
          <p:cNvSpPr txBox="1"/>
          <p:nvPr/>
        </p:nvSpPr>
        <p:spPr>
          <a:xfrm>
            <a:off x="4499423" y="2606104"/>
            <a:ext cx="2307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dirty="0">
                <a:latin typeface="Consolas" panose="020B0609020204030204" pitchFamily="49" charset="0"/>
              </a:rPr>
              <a:t>out</a:t>
            </a:r>
            <a:r>
              <a:rPr lang="en-US" sz="1800" dirty="0">
                <a:latin typeface="Lato" panose="020B0604020202020204" charset="0"/>
              </a:rPr>
              <a:t> = </a:t>
            </a:r>
            <a:r>
              <a:rPr lang="en-US" sz="1800" dirty="0">
                <a:latin typeface="Consolas" panose="020B0609020204030204" pitchFamily="49" charset="0"/>
              </a:rPr>
              <a:t>in1</a:t>
            </a:r>
            <a:r>
              <a:rPr lang="en-US" sz="1800" dirty="0">
                <a:latin typeface="Lato" panose="020B0604020202020204" charset="0"/>
              </a:rPr>
              <a:t> </a:t>
            </a:r>
            <a:r>
              <a:rPr lang="en-US" sz="1800" dirty="0">
                <a:latin typeface="MS PGothic" panose="020B0600070205080204" pitchFamily="34" charset="-128"/>
                <a:ea typeface="MS PGothic" panose="020B0600070205080204" pitchFamily="34" charset="-128"/>
              </a:rPr>
              <a:t>∧</a:t>
            </a:r>
            <a:r>
              <a:rPr lang="en-US" sz="1800" dirty="0">
                <a:latin typeface="Lato" panose="020B0604020202020204" charset="0"/>
              </a:rPr>
              <a:t> </a:t>
            </a:r>
            <a:r>
              <a:rPr lang="en-US" sz="1800" dirty="0">
                <a:solidFill>
                  <a:schemeClr val="accent3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¬</a:t>
            </a:r>
            <a:r>
              <a:rPr lang="en-US" sz="1800" dirty="0">
                <a:solidFill>
                  <a:schemeClr val="accent3"/>
                </a:solidFill>
                <a:latin typeface="Consolas" panose="020B0609020204030204" pitchFamily="49" charset="0"/>
              </a:rPr>
              <a:t>in2</a:t>
            </a:r>
            <a:endParaRPr lang="en-US" sz="1800" dirty="0">
              <a:solidFill>
                <a:schemeClr val="accent3"/>
              </a:solidFill>
              <a:latin typeface="Lato" panose="020B0604020202020204" charset="0"/>
            </a:endParaRP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F017F1C7-8BCA-6821-9939-3F6CBE8A63F3}"/>
              </a:ext>
            </a:extLst>
          </p:cNvPr>
          <p:cNvCxnSpPr/>
          <p:nvPr/>
        </p:nvCxnSpPr>
        <p:spPr>
          <a:xfrm>
            <a:off x="3962395" y="3027049"/>
            <a:ext cx="428171" cy="341086"/>
          </a:xfrm>
          <a:prstGeom prst="bentConnector3">
            <a:avLst>
              <a:gd name="adj1" fmla="val -847"/>
            </a:avLst>
          </a:prstGeom>
          <a:ln w="127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0D44C43-56BA-0903-9CD6-7A04DED8ABBD}"/>
              </a:ext>
            </a:extLst>
          </p:cNvPr>
          <p:cNvSpPr txBox="1"/>
          <p:nvPr/>
        </p:nvSpPr>
        <p:spPr>
          <a:xfrm>
            <a:off x="4499423" y="3146793"/>
            <a:ext cx="2307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out</a:t>
            </a:r>
            <a:r>
              <a:rPr lang="en-US" sz="1800" baseline="30000" dirty="0">
                <a:solidFill>
                  <a:schemeClr val="tx1"/>
                </a:solidFill>
                <a:latin typeface="Consolas" panose="020B0609020204030204" pitchFamily="49" charset="0"/>
              </a:rPr>
              <a:t>+</a:t>
            </a:r>
            <a:r>
              <a:rPr lang="en-US" sz="1800" dirty="0">
                <a:latin typeface="Lato" panose="020B0604020202020204" charset="0"/>
              </a:rPr>
              <a:t> = 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in1</a:t>
            </a:r>
            <a:r>
              <a:rPr lang="en-US" sz="1800" baseline="30000" dirty="0">
                <a:solidFill>
                  <a:schemeClr val="tx1"/>
                </a:solidFill>
                <a:latin typeface="Consolas" panose="020B0609020204030204" pitchFamily="49" charset="0"/>
              </a:rPr>
              <a:t>+</a:t>
            </a:r>
            <a:r>
              <a:rPr lang="en-US" sz="1800" dirty="0">
                <a:latin typeface="Lato" panose="020B0604020202020204" charset="0"/>
              </a:rPr>
              <a:t> </a:t>
            </a:r>
            <a:r>
              <a:rPr lang="en-US" sz="1800" dirty="0">
                <a:latin typeface="MS PGothic" panose="020B0600070205080204" pitchFamily="34" charset="-128"/>
                <a:ea typeface="MS PGothic" panose="020B0600070205080204" pitchFamily="34" charset="-128"/>
              </a:rPr>
              <a:t>∧</a:t>
            </a:r>
            <a:r>
              <a:rPr lang="en-US" sz="1800" dirty="0">
                <a:latin typeface="Lato" panose="020B0604020202020204" charset="0"/>
              </a:rPr>
              <a:t> </a:t>
            </a:r>
            <a:r>
              <a:rPr lang="en-US" sz="1800" dirty="0">
                <a:solidFill>
                  <a:schemeClr val="accent3"/>
                </a:solidFill>
                <a:latin typeface="Consolas" panose="020B0609020204030204" pitchFamily="49" charset="0"/>
              </a:rPr>
              <a:t>in2</a:t>
            </a:r>
            <a:r>
              <a:rPr lang="en-US" sz="1800" baseline="30000" dirty="0">
                <a:solidFill>
                  <a:schemeClr val="accent3"/>
                </a:solidFill>
                <a:latin typeface="Consolas" panose="020B0609020204030204" pitchFamily="49" charset="0"/>
              </a:rPr>
              <a:t>–</a:t>
            </a:r>
            <a:endParaRPr lang="en-US" sz="1800" dirty="0">
              <a:solidFill>
                <a:schemeClr val="accent3"/>
              </a:solidFill>
              <a:latin typeface="Lato" panose="020B060402020202020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CB3A9D8-5B23-59D9-5D54-89973BB4F4FC}"/>
              </a:ext>
            </a:extLst>
          </p:cNvPr>
          <p:cNvSpPr txBox="1"/>
          <p:nvPr/>
        </p:nvSpPr>
        <p:spPr>
          <a:xfrm>
            <a:off x="3251198" y="3058668"/>
            <a:ext cx="6966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Lato" panose="020B0604020202020204" charset="0"/>
              </a:rPr>
              <a:t>Flexo</a:t>
            </a:r>
          </a:p>
        </p:txBody>
      </p:sp>
      <p:graphicFrame>
        <p:nvGraphicFramePr>
          <p:cNvPr id="22" name="表格 7">
            <a:extLst>
              <a:ext uri="{FF2B5EF4-FFF2-40B4-BE49-F238E27FC236}">
                <a16:creationId xmlns:a16="http://schemas.microsoft.com/office/drawing/2014/main" id="{A3556515-CD81-5631-C021-3E38F81BA2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5506533"/>
              </p:ext>
            </p:extLst>
          </p:nvPr>
        </p:nvGraphicFramePr>
        <p:xfrm>
          <a:off x="1093621" y="1661925"/>
          <a:ext cx="1988556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62852">
                  <a:extLst>
                    <a:ext uri="{9D8B030D-6E8A-4147-A177-3AD203B41FA5}">
                      <a16:colId xmlns:a16="http://schemas.microsoft.com/office/drawing/2014/main" val="4279276241"/>
                    </a:ext>
                  </a:extLst>
                </a:gridCol>
                <a:gridCol w="662852">
                  <a:extLst>
                    <a:ext uri="{9D8B030D-6E8A-4147-A177-3AD203B41FA5}">
                      <a16:colId xmlns:a16="http://schemas.microsoft.com/office/drawing/2014/main" val="1455359831"/>
                    </a:ext>
                  </a:extLst>
                </a:gridCol>
                <a:gridCol w="662852">
                  <a:extLst>
                    <a:ext uri="{9D8B030D-6E8A-4147-A177-3AD203B41FA5}">
                      <a16:colId xmlns:a16="http://schemas.microsoft.com/office/drawing/2014/main" val="1461137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in1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in2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out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2498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2316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83192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3933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3415052"/>
                  </a:ext>
                </a:extLst>
              </a:tr>
            </a:tbl>
          </a:graphicData>
        </a:graphic>
      </p:graphicFrame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6BA839C-68C1-41B9-C5F6-56EA993C34C6}"/>
              </a:ext>
            </a:extLst>
          </p:cNvPr>
          <p:cNvCxnSpPr/>
          <p:nvPr/>
        </p:nvCxnSpPr>
        <p:spPr>
          <a:xfrm>
            <a:off x="3251197" y="2259699"/>
            <a:ext cx="747486" cy="0"/>
          </a:xfrm>
          <a:prstGeom prst="straightConnector1">
            <a:avLst/>
          </a:prstGeom>
          <a:ln w="127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667406AF-C437-1D38-675B-8BA9F18F3FB6}"/>
              </a:ext>
            </a:extLst>
          </p:cNvPr>
          <p:cNvSpPr/>
          <p:nvPr/>
        </p:nvSpPr>
        <p:spPr>
          <a:xfrm>
            <a:off x="1087315" y="2409378"/>
            <a:ext cx="1988556" cy="1106747"/>
          </a:xfrm>
          <a:prstGeom prst="rect">
            <a:avLst/>
          </a:prstGeom>
          <a:solidFill>
            <a:srgbClr val="1A1A1A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389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19" grpId="0"/>
      <p:bldP spid="21" grpId="0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5EAA3-098D-E7F3-4504-6DCB719F1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DC428-1067-D4CD-B16E-433F08926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Applying Flexo’s differential encoding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3C6148-107A-F1FC-0F45-98B7BBAF71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19</a:t>
            </a:fld>
            <a:endParaRPr lang="zh-TW" altLang="en-US"/>
          </a:p>
        </p:txBody>
      </p:sp>
      <p:graphicFrame>
        <p:nvGraphicFramePr>
          <p:cNvPr id="5" name="表格 7">
            <a:extLst>
              <a:ext uri="{FF2B5EF4-FFF2-40B4-BE49-F238E27FC236}">
                <a16:creationId xmlns:a16="http://schemas.microsoft.com/office/drawing/2014/main" id="{B93A33AD-7D31-D8F9-5BF3-62DA3A82EA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226475"/>
              </p:ext>
            </p:extLst>
          </p:nvPr>
        </p:nvGraphicFramePr>
        <p:xfrm>
          <a:off x="1093621" y="1661925"/>
          <a:ext cx="1988556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62852">
                  <a:extLst>
                    <a:ext uri="{9D8B030D-6E8A-4147-A177-3AD203B41FA5}">
                      <a16:colId xmlns:a16="http://schemas.microsoft.com/office/drawing/2014/main" val="4279276241"/>
                    </a:ext>
                  </a:extLst>
                </a:gridCol>
                <a:gridCol w="662852">
                  <a:extLst>
                    <a:ext uri="{9D8B030D-6E8A-4147-A177-3AD203B41FA5}">
                      <a16:colId xmlns:a16="http://schemas.microsoft.com/office/drawing/2014/main" val="1455359831"/>
                    </a:ext>
                  </a:extLst>
                </a:gridCol>
                <a:gridCol w="662852">
                  <a:extLst>
                    <a:ext uri="{9D8B030D-6E8A-4147-A177-3AD203B41FA5}">
                      <a16:colId xmlns:a16="http://schemas.microsoft.com/office/drawing/2014/main" val="1461137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in1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in2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out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2498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2316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83192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3933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3415052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07D3CA7-42BA-96F9-E2D3-D77477BB5725}"/>
              </a:ext>
            </a:extLst>
          </p:cNvPr>
          <p:cNvCxnSpPr/>
          <p:nvPr/>
        </p:nvCxnSpPr>
        <p:spPr>
          <a:xfrm>
            <a:off x="3251197" y="2259699"/>
            <a:ext cx="747486" cy="0"/>
          </a:xfrm>
          <a:prstGeom prst="straightConnector1">
            <a:avLst/>
          </a:prstGeom>
          <a:ln w="127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3D13CE6-9938-5027-2FD6-C930A6FA651D}"/>
              </a:ext>
            </a:extLst>
          </p:cNvPr>
          <p:cNvSpPr txBox="1"/>
          <p:nvPr/>
        </p:nvSpPr>
        <p:spPr>
          <a:xfrm>
            <a:off x="4167703" y="2075033"/>
            <a:ext cx="2307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out</a:t>
            </a:r>
            <a:r>
              <a:rPr lang="en-US" sz="1800" baseline="30000" dirty="0">
                <a:solidFill>
                  <a:schemeClr val="tx1"/>
                </a:solidFill>
                <a:latin typeface="Consolas" panose="020B0609020204030204" pitchFamily="49" charset="0"/>
              </a:rPr>
              <a:t>+</a:t>
            </a:r>
            <a:r>
              <a:rPr lang="en-US" sz="1800" dirty="0">
                <a:latin typeface="Lato" panose="020B0604020202020204" charset="0"/>
              </a:rPr>
              <a:t> = 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in1</a:t>
            </a:r>
            <a:r>
              <a:rPr lang="en-US" sz="1800" baseline="30000" dirty="0">
                <a:solidFill>
                  <a:schemeClr val="tx1"/>
                </a:solidFill>
                <a:latin typeface="Consolas" panose="020B0609020204030204" pitchFamily="49" charset="0"/>
              </a:rPr>
              <a:t>+</a:t>
            </a:r>
            <a:r>
              <a:rPr lang="en-US" sz="1800" dirty="0">
                <a:latin typeface="Lato" panose="020B0604020202020204" charset="0"/>
              </a:rPr>
              <a:t> </a:t>
            </a:r>
            <a:r>
              <a:rPr lang="en-US" sz="1800" dirty="0">
                <a:latin typeface="MS PGothic" panose="020B0600070205080204" pitchFamily="34" charset="-128"/>
                <a:ea typeface="MS PGothic" panose="020B0600070205080204" pitchFamily="34" charset="-128"/>
              </a:rPr>
              <a:t>∧</a:t>
            </a:r>
            <a:r>
              <a:rPr lang="en-US" sz="1800" dirty="0">
                <a:latin typeface="Lato" panose="020B0604020202020204" charset="0"/>
              </a:rPr>
              <a:t> </a:t>
            </a:r>
            <a:r>
              <a:rPr lang="en-US" sz="1800" dirty="0">
                <a:solidFill>
                  <a:schemeClr val="accent3"/>
                </a:solidFill>
                <a:latin typeface="Consolas" panose="020B0609020204030204" pitchFamily="49" charset="0"/>
              </a:rPr>
              <a:t>in2</a:t>
            </a:r>
            <a:r>
              <a:rPr lang="en-US" sz="1800" baseline="30000" dirty="0">
                <a:solidFill>
                  <a:schemeClr val="accent3"/>
                </a:solidFill>
                <a:latin typeface="Consolas" panose="020B0609020204030204" pitchFamily="49" charset="0"/>
              </a:rPr>
              <a:t>–</a:t>
            </a:r>
            <a:endParaRPr lang="en-US" sz="1800" dirty="0">
              <a:solidFill>
                <a:schemeClr val="accent3"/>
              </a:solidFill>
              <a:latin typeface="Lato" panose="020B0604020202020204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6861205-79B8-41AA-0897-78F38EB68F93}"/>
              </a:ext>
            </a:extLst>
          </p:cNvPr>
          <p:cNvCxnSpPr/>
          <p:nvPr/>
        </p:nvCxnSpPr>
        <p:spPr>
          <a:xfrm>
            <a:off x="3251197" y="2602724"/>
            <a:ext cx="747486" cy="0"/>
          </a:xfrm>
          <a:prstGeom prst="straightConnector1">
            <a:avLst/>
          </a:prstGeom>
          <a:ln w="127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C04BA11-DC05-BEFB-4F5A-45C239A1967C}"/>
              </a:ext>
            </a:extLst>
          </p:cNvPr>
          <p:cNvSpPr txBox="1"/>
          <p:nvPr/>
        </p:nvSpPr>
        <p:spPr>
          <a:xfrm>
            <a:off x="4167703" y="2418058"/>
            <a:ext cx="2307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out</a:t>
            </a:r>
            <a:r>
              <a:rPr lang="en-US" sz="1800" baseline="30000" dirty="0">
                <a:solidFill>
                  <a:schemeClr val="tx1"/>
                </a:solidFill>
                <a:latin typeface="Consolas" panose="020B0609020204030204" pitchFamily="49" charset="0"/>
              </a:rPr>
              <a:t>+</a:t>
            </a:r>
            <a:r>
              <a:rPr lang="en-US" sz="1800" dirty="0">
                <a:latin typeface="Lato" panose="020B0604020202020204" charset="0"/>
              </a:rPr>
              <a:t> = </a:t>
            </a:r>
            <a:r>
              <a:rPr lang="en-US" sz="1800" dirty="0">
                <a:solidFill>
                  <a:schemeClr val="accent3"/>
                </a:solidFill>
                <a:latin typeface="Consolas" panose="020B0609020204030204" pitchFamily="49" charset="0"/>
              </a:rPr>
              <a:t>in1</a:t>
            </a:r>
            <a:r>
              <a:rPr lang="en-US" sz="1800" baseline="30000" dirty="0">
                <a:solidFill>
                  <a:schemeClr val="accent3"/>
                </a:solidFill>
                <a:latin typeface="Consolas" panose="020B0609020204030204" pitchFamily="49" charset="0"/>
              </a:rPr>
              <a:t>–</a:t>
            </a:r>
            <a:r>
              <a:rPr lang="en-US" sz="1800" dirty="0">
                <a:latin typeface="Lato" panose="020B0604020202020204" charset="0"/>
              </a:rPr>
              <a:t> </a:t>
            </a:r>
            <a:r>
              <a:rPr lang="en-US" sz="1800" dirty="0">
                <a:latin typeface="MS PGothic" panose="020B0600070205080204" pitchFamily="34" charset="-128"/>
                <a:ea typeface="MS PGothic" panose="020B0600070205080204" pitchFamily="34" charset="-128"/>
              </a:rPr>
              <a:t>∧</a:t>
            </a:r>
            <a:r>
              <a:rPr lang="en-US" sz="1800" dirty="0">
                <a:latin typeface="Lato" panose="020B0604020202020204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in2</a:t>
            </a:r>
            <a:r>
              <a:rPr lang="en-US" sz="1800" baseline="30000" dirty="0">
                <a:solidFill>
                  <a:schemeClr val="tx1"/>
                </a:solidFill>
                <a:latin typeface="Consolas" panose="020B0609020204030204" pitchFamily="49" charset="0"/>
              </a:rPr>
              <a:t>+</a:t>
            </a:r>
            <a:endParaRPr lang="en-US" sz="1800" dirty="0">
              <a:solidFill>
                <a:schemeClr val="tx1"/>
              </a:solidFill>
              <a:latin typeface="Lato" panose="020B060402020202020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2443260-9758-8A4F-D0C1-279E7D35C4FC}"/>
              </a:ext>
            </a:extLst>
          </p:cNvPr>
          <p:cNvCxnSpPr/>
          <p:nvPr/>
        </p:nvCxnSpPr>
        <p:spPr>
          <a:xfrm>
            <a:off x="3251197" y="2954945"/>
            <a:ext cx="747486" cy="0"/>
          </a:xfrm>
          <a:prstGeom prst="straightConnector1">
            <a:avLst/>
          </a:prstGeom>
          <a:ln w="127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9163869-D04D-5C62-39C7-13F96E942EFC}"/>
              </a:ext>
            </a:extLst>
          </p:cNvPr>
          <p:cNvSpPr txBox="1"/>
          <p:nvPr/>
        </p:nvSpPr>
        <p:spPr>
          <a:xfrm>
            <a:off x="4167703" y="2770279"/>
            <a:ext cx="2307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accent3"/>
                </a:solidFill>
                <a:latin typeface="Consolas" panose="020B0609020204030204" pitchFamily="49" charset="0"/>
              </a:rPr>
              <a:t>out</a:t>
            </a:r>
            <a:r>
              <a:rPr lang="en-US" sz="1800" baseline="30000" dirty="0">
                <a:solidFill>
                  <a:schemeClr val="accent3"/>
                </a:solidFill>
                <a:latin typeface="Consolas" panose="020B0609020204030204" pitchFamily="49" charset="0"/>
              </a:rPr>
              <a:t>–</a:t>
            </a:r>
            <a:r>
              <a:rPr lang="en-US" sz="1800" dirty="0">
                <a:latin typeface="Lato" panose="020B0604020202020204" charset="0"/>
              </a:rPr>
              <a:t> = 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in1</a:t>
            </a:r>
            <a:r>
              <a:rPr lang="en-US" sz="1800" baseline="30000" dirty="0">
                <a:solidFill>
                  <a:schemeClr val="tx1"/>
                </a:solidFill>
                <a:latin typeface="Consolas" panose="020B0609020204030204" pitchFamily="49" charset="0"/>
              </a:rPr>
              <a:t>+</a:t>
            </a:r>
            <a:r>
              <a:rPr lang="en-US" sz="1800" dirty="0">
                <a:latin typeface="Lato" panose="020B0604020202020204" charset="0"/>
              </a:rPr>
              <a:t> </a:t>
            </a:r>
            <a:r>
              <a:rPr lang="en-US" sz="1800" dirty="0">
                <a:latin typeface="MS PGothic" panose="020B0600070205080204" pitchFamily="34" charset="-128"/>
                <a:ea typeface="MS PGothic" panose="020B0600070205080204" pitchFamily="34" charset="-128"/>
              </a:rPr>
              <a:t>∧</a:t>
            </a:r>
            <a:r>
              <a:rPr lang="en-US" sz="1800" dirty="0">
                <a:latin typeface="Lato" panose="020B0604020202020204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in2</a:t>
            </a:r>
            <a:r>
              <a:rPr lang="en-US" sz="1800" baseline="30000" dirty="0">
                <a:solidFill>
                  <a:schemeClr val="tx1"/>
                </a:solidFill>
                <a:latin typeface="Consolas" panose="020B0609020204030204" pitchFamily="49" charset="0"/>
              </a:rPr>
              <a:t>+</a:t>
            </a:r>
            <a:endParaRPr lang="en-US" sz="1800" dirty="0">
              <a:solidFill>
                <a:schemeClr val="accent3"/>
              </a:solidFill>
              <a:latin typeface="Lato" panose="020B060402020202020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E511494-B271-11B3-C3DA-486B69A9908A}"/>
              </a:ext>
            </a:extLst>
          </p:cNvPr>
          <p:cNvCxnSpPr/>
          <p:nvPr/>
        </p:nvCxnSpPr>
        <p:spPr>
          <a:xfrm>
            <a:off x="3251197" y="3331458"/>
            <a:ext cx="747486" cy="0"/>
          </a:xfrm>
          <a:prstGeom prst="straightConnector1">
            <a:avLst/>
          </a:prstGeom>
          <a:ln w="127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6351104-EF07-BBC0-4DFE-6C71F1AC7BED}"/>
              </a:ext>
            </a:extLst>
          </p:cNvPr>
          <p:cNvSpPr txBox="1"/>
          <p:nvPr/>
        </p:nvSpPr>
        <p:spPr>
          <a:xfrm>
            <a:off x="4167703" y="3146792"/>
            <a:ext cx="2307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accent3"/>
                </a:solidFill>
                <a:latin typeface="Consolas" panose="020B0609020204030204" pitchFamily="49" charset="0"/>
              </a:rPr>
              <a:t>out</a:t>
            </a:r>
            <a:r>
              <a:rPr lang="en-US" sz="1800" baseline="30000" dirty="0">
                <a:solidFill>
                  <a:schemeClr val="accent3"/>
                </a:solidFill>
                <a:latin typeface="Consolas" panose="020B0609020204030204" pitchFamily="49" charset="0"/>
              </a:rPr>
              <a:t>–</a:t>
            </a:r>
            <a:r>
              <a:rPr lang="en-US" sz="1800" dirty="0">
                <a:latin typeface="Lato" panose="020B0604020202020204" charset="0"/>
              </a:rPr>
              <a:t> = </a:t>
            </a:r>
            <a:r>
              <a:rPr lang="en-US" sz="1800" dirty="0">
                <a:solidFill>
                  <a:schemeClr val="accent3"/>
                </a:solidFill>
                <a:latin typeface="Consolas" panose="020B0609020204030204" pitchFamily="49" charset="0"/>
              </a:rPr>
              <a:t>in1</a:t>
            </a:r>
            <a:r>
              <a:rPr lang="en-US" sz="1800" baseline="30000" dirty="0">
                <a:solidFill>
                  <a:schemeClr val="accent3"/>
                </a:solidFill>
                <a:latin typeface="Consolas" panose="020B0609020204030204" pitchFamily="49" charset="0"/>
              </a:rPr>
              <a:t>–</a:t>
            </a:r>
            <a:r>
              <a:rPr lang="en-US" sz="1800" dirty="0">
                <a:latin typeface="Lato" panose="020B0604020202020204" charset="0"/>
              </a:rPr>
              <a:t> </a:t>
            </a:r>
            <a:r>
              <a:rPr lang="en-US" sz="1800" dirty="0">
                <a:latin typeface="MS PGothic" panose="020B0600070205080204" pitchFamily="34" charset="-128"/>
                <a:ea typeface="MS PGothic" panose="020B0600070205080204" pitchFamily="34" charset="-128"/>
              </a:rPr>
              <a:t>∧</a:t>
            </a:r>
            <a:r>
              <a:rPr lang="en-US" sz="1800" dirty="0">
                <a:latin typeface="Lato" panose="020B0604020202020204" charset="0"/>
              </a:rPr>
              <a:t> </a:t>
            </a:r>
            <a:r>
              <a:rPr lang="en-US" sz="1800" dirty="0">
                <a:solidFill>
                  <a:schemeClr val="accent3"/>
                </a:solidFill>
                <a:latin typeface="Consolas" panose="020B0609020204030204" pitchFamily="49" charset="0"/>
              </a:rPr>
              <a:t>in2</a:t>
            </a:r>
            <a:r>
              <a:rPr lang="en-US" sz="1800" baseline="30000" dirty="0">
                <a:solidFill>
                  <a:schemeClr val="accent3"/>
                </a:solidFill>
                <a:latin typeface="Consolas" panose="020B0609020204030204" pitchFamily="49" charset="0"/>
              </a:rPr>
              <a:t>–</a:t>
            </a:r>
            <a:endParaRPr lang="en-US" sz="1800" dirty="0">
              <a:solidFill>
                <a:schemeClr val="accent3"/>
              </a:solidFill>
              <a:latin typeface="Lato" panose="020B0604020202020204" charset="0"/>
            </a:endParaRP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8B37F321-0C83-3421-26BA-06514C61CA18}"/>
              </a:ext>
            </a:extLst>
          </p:cNvPr>
          <p:cNvCxnSpPr/>
          <p:nvPr/>
        </p:nvCxnSpPr>
        <p:spPr>
          <a:xfrm>
            <a:off x="3739532" y="3682870"/>
            <a:ext cx="428171" cy="341086"/>
          </a:xfrm>
          <a:prstGeom prst="bentConnector3">
            <a:avLst>
              <a:gd name="adj1" fmla="val -847"/>
            </a:avLst>
          </a:prstGeom>
          <a:ln w="127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6DDB304-6079-0726-65B8-C266B800E603}"/>
              </a:ext>
            </a:extLst>
          </p:cNvPr>
          <p:cNvSpPr txBox="1"/>
          <p:nvPr/>
        </p:nvSpPr>
        <p:spPr>
          <a:xfrm>
            <a:off x="4167703" y="3700790"/>
            <a:ext cx="41199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out</a:t>
            </a:r>
            <a:r>
              <a:rPr lang="en-US" sz="1800" baseline="30000" dirty="0">
                <a:solidFill>
                  <a:schemeClr val="tx1"/>
                </a:solidFill>
                <a:latin typeface="Consolas" panose="020B0609020204030204" pitchFamily="49" charset="0"/>
              </a:rPr>
              <a:t>+</a:t>
            </a:r>
            <a:r>
              <a:rPr lang="en-US" sz="1800" dirty="0">
                <a:latin typeface="Lato" panose="020B0604020202020204" charset="0"/>
              </a:rPr>
              <a:t> = (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in1</a:t>
            </a:r>
            <a:r>
              <a:rPr lang="en-US" sz="1800" baseline="30000" dirty="0">
                <a:solidFill>
                  <a:schemeClr val="tx1"/>
                </a:solidFill>
                <a:latin typeface="Consolas" panose="020B0609020204030204" pitchFamily="49" charset="0"/>
              </a:rPr>
              <a:t>+</a:t>
            </a:r>
            <a:r>
              <a:rPr lang="en-US" sz="1800" dirty="0">
                <a:latin typeface="Lato" panose="020B0604020202020204" charset="0"/>
              </a:rPr>
              <a:t> </a:t>
            </a:r>
            <a:r>
              <a:rPr lang="en-US" sz="1800" dirty="0">
                <a:latin typeface="MS PGothic" panose="020B0600070205080204" pitchFamily="34" charset="-128"/>
                <a:ea typeface="MS PGothic" panose="020B0600070205080204" pitchFamily="34" charset="-128"/>
              </a:rPr>
              <a:t>∧</a:t>
            </a:r>
            <a:r>
              <a:rPr lang="en-US" sz="1800" dirty="0">
                <a:latin typeface="Lato" panose="020B0604020202020204" charset="0"/>
              </a:rPr>
              <a:t> </a:t>
            </a:r>
            <a:r>
              <a:rPr lang="en-US" sz="1800" dirty="0">
                <a:solidFill>
                  <a:schemeClr val="accent3"/>
                </a:solidFill>
                <a:latin typeface="Consolas" panose="020B0609020204030204" pitchFamily="49" charset="0"/>
              </a:rPr>
              <a:t>in2</a:t>
            </a:r>
            <a:r>
              <a:rPr lang="en-US" sz="1800" baseline="30000" dirty="0">
                <a:solidFill>
                  <a:schemeClr val="accent3"/>
                </a:solidFill>
                <a:latin typeface="Consolas" panose="020B0609020204030204" pitchFamily="49" charset="0"/>
              </a:rPr>
              <a:t>–</a:t>
            </a:r>
            <a:r>
              <a:rPr lang="en-US" sz="1800" dirty="0">
                <a:latin typeface="Lato" panose="020B0604020202020204" charset="0"/>
              </a:rPr>
              <a:t>) </a:t>
            </a:r>
            <a:r>
              <a:rPr lang="en-US" sz="1800" dirty="0">
                <a:latin typeface="MS PGothic" panose="020B0600070205080204" pitchFamily="34" charset="-128"/>
                <a:ea typeface="MS PGothic" panose="020B0600070205080204" pitchFamily="34" charset="-128"/>
              </a:rPr>
              <a:t>∨ (</a:t>
            </a:r>
            <a:r>
              <a:rPr lang="en-US" sz="1800" dirty="0">
                <a:solidFill>
                  <a:schemeClr val="accent3"/>
                </a:solidFill>
                <a:latin typeface="Consolas" panose="020B0609020204030204" pitchFamily="49" charset="0"/>
              </a:rPr>
              <a:t>in1</a:t>
            </a:r>
            <a:r>
              <a:rPr lang="en-US" sz="1800" baseline="30000" dirty="0">
                <a:solidFill>
                  <a:schemeClr val="accent3"/>
                </a:solidFill>
                <a:latin typeface="Consolas" panose="020B0609020204030204" pitchFamily="49" charset="0"/>
              </a:rPr>
              <a:t>–</a:t>
            </a:r>
            <a:r>
              <a:rPr lang="en-US" sz="1800" dirty="0">
                <a:latin typeface="Lato" panose="020B0604020202020204" charset="0"/>
              </a:rPr>
              <a:t> </a:t>
            </a:r>
            <a:r>
              <a:rPr lang="en-US" sz="1800" dirty="0">
                <a:latin typeface="MS PGothic" panose="020B0600070205080204" pitchFamily="34" charset="-128"/>
                <a:ea typeface="MS PGothic" panose="020B0600070205080204" pitchFamily="34" charset="-128"/>
              </a:rPr>
              <a:t>∧</a:t>
            </a:r>
            <a:r>
              <a:rPr lang="en-US" sz="1800" dirty="0">
                <a:latin typeface="Lato" panose="020B0604020202020204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in2</a:t>
            </a:r>
            <a:r>
              <a:rPr lang="en-US" sz="1800" baseline="30000" dirty="0">
                <a:solidFill>
                  <a:schemeClr val="tx1"/>
                </a:solidFill>
                <a:latin typeface="Consolas" panose="020B0609020204030204" pitchFamily="49" charset="0"/>
              </a:rPr>
              <a:t>+</a:t>
            </a:r>
            <a:r>
              <a:rPr lang="en-US" sz="1800" dirty="0">
                <a:latin typeface="MS PGothic" panose="020B0600070205080204" pitchFamily="34" charset="-128"/>
                <a:ea typeface="MS PGothic" panose="020B0600070205080204" pitchFamily="34" charset="-128"/>
              </a:rPr>
              <a:t>)</a:t>
            </a:r>
            <a:endParaRPr lang="en-US" sz="1800" dirty="0">
              <a:solidFill>
                <a:schemeClr val="accent3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chemeClr val="accent3"/>
                </a:solidFill>
                <a:latin typeface="Consolas" panose="020B0609020204030204" pitchFamily="49" charset="0"/>
              </a:rPr>
              <a:t>out</a:t>
            </a:r>
            <a:r>
              <a:rPr lang="en-US" sz="1800" baseline="30000" dirty="0">
                <a:solidFill>
                  <a:schemeClr val="accent3"/>
                </a:solidFill>
                <a:latin typeface="Consolas" panose="020B0609020204030204" pitchFamily="49" charset="0"/>
              </a:rPr>
              <a:t>–</a:t>
            </a:r>
            <a:r>
              <a:rPr lang="en-US" sz="1800" dirty="0">
                <a:latin typeface="Lato" panose="020B0604020202020204" charset="0"/>
              </a:rPr>
              <a:t> = (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in1</a:t>
            </a:r>
            <a:r>
              <a:rPr lang="en-US" sz="1800" baseline="30000" dirty="0">
                <a:solidFill>
                  <a:schemeClr val="tx1"/>
                </a:solidFill>
                <a:latin typeface="Consolas" panose="020B0609020204030204" pitchFamily="49" charset="0"/>
              </a:rPr>
              <a:t>+</a:t>
            </a:r>
            <a:r>
              <a:rPr lang="en-US" sz="1800" dirty="0">
                <a:latin typeface="Lato" panose="020B0604020202020204" charset="0"/>
              </a:rPr>
              <a:t> </a:t>
            </a:r>
            <a:r>
              <a:rPr lang="en-US" sz="1800" dirty="0">
                <a:latin typeface="MS PGothic" panose="020B0600070205080204" pitchFamily="34" charset="-128"/>
                <a:ea typeface="MS PGothic" panose="020B0600070205080204" pitchFamily="34" charset="-128"/>
              </a:rPr>
              <a:t>∧</a:t>
            </a:r>
            <a:r>
              <a:rPr lang="en-US" sz="1800" dirty="0">
                <a:latin typeface="Lato" panose="020B0604020202020204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in2</a:t>
            </a:r>
            <a:r>
              <a:rPr lang="en-US" sz="1800" baseline="30000" dirty="0">
                <a:solidFill>
                  <a:schemeClr val="tx1"/>
                </a:solidFill>
                <a:latin typeface="Consolas" panose="020B0609020204030204" pitchFamily="49" charset="0"/>
              </a:rPr>
              <a:t>+</a:t>
            </a:r>
            <a:r>
              <a:rPr lang="en-US" sz="1800" dirty="0">
                <a:latin typeface="Lato" panose="020B0604020202020204" charset="0"/>
              </a:rPr>
              <a:t>) </a:t>
            </a:r>
            <a:r>
              <a:rPr lang="en-US" sz="1800" dirty="0">
                <a:latin typeface="MS PGothic" panose="020B0600070205080204" pitchFamily="34" charset="-128"/>
                <a:ea typeface="MS PGothic" panose="020B0600070205080204" pitchFamily="34" charset="-128"/>
              </a:rPr>
              <a:t>∨ (</a:t>
            </a:r>
            <a:r>
              <a:rPr lang="en-US" sz="1800" dirty="0">
                <a:solidFill>
                  <a:schemeClr val="accent3"/>
                </a:solidFill>
                <a:latin typeface="Consolas" panose="020B0609020204030204" pitchFamily="49" charset="0"/>
              </a:rPr>
              <a:t>in1</a:t>
            </a:r>
            <a:r>
              <a:rPr lang="en-US" sz="1800" baseline="30000" dirty="0">
                <a:solidFill>
                  <a:schemeClr val="accent3"/>
                </a:solidFill>
                <a:latin typeface="Consolas" panose="020B0609020204030204" pitchFamily="49" charset="0"/>
              </a:rPr>
              <a:t>–</a:t>
            </a:r>
            <a:r>
              <a:rPr lang="en-US" sz="1800" dirty="0">
                <a:latin typeface="Lato" panose="020B0604020202020204" charset="0"/>
              </a:rPr>
              <a:t> </a:t>
            </a:r>
            <a:r>
              <a:rPr lang="en-US" sz="1800" dirty="0">
                <a:latin typeface="MS PGothic" panose="020B0600070205080204" pitchFamily="34" charset="-128"/>
                <a:ea typeface="MS PGothic" panose="020B0600070205080204" pitchFamily="34" charset="-128"/>
              </a:rPr>
              <a:t>∧</a:t>
            </a:r>
            <a:r>
              <a:rPr lang="en-US" sz="1800" dirty="0">
                <a:latin typeface="Lato" panose="020B0604020202020204" charset="0"/>
              </a:rPr>
              <a:t> </a:t>
            </a:r>
            <a:r>
              <a:rPr lang="en-US" sz="1800" dirty="0">
                <a:solidFill>
                  <a:schemeClr val="accent3"/>
                </a:solidFill>
                <a:latin typeface="Consolas" panose="020B0609020204030204" pitchFamily="49" charset="0"/>
              </a:rPr>
              <a:t>in2</a:t>
            </a:r>
            <a:r>
              <a:rPr lang="en-US" sz="1800" baseline="30000" dirty="0">
                <a:solidFill>
                  <a:schemeClr val="accent3"/>
                </a:solidFill>
                <a:latin typeface="Consolas" panose="020B0609020204030204" pitchFamily="49" charset="0"/>
              </a:rPr>
              <a:t>–</a:t>
            </a:r>
            <a:r>
              <a:rPr lang="en-US" sz="1800" dirty="0">
                <a:latin typeface="MS PGothic" panose="020B0600070205080204" pitchFamily="34" charset="-128"/>
                <a:ea typeface="MS PGothic" panose="020B0600070205080204" pitchFamily="34" charset="-128"/>
              </a:rPr>
              <a:t>)</a:t>
            </a:r>
            <a:endParaRPr lang="en-US" sz="1800" dirty="0">
              <a:solidFill>
                <a:schemeClr val="accent3"/>
              </a:solidFill>
              <a:latin typeface="Lato" panose="020B060402020202020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D073D7-3214-7B7D-B572-03BC19F67E4C}"/>
              </a:ext>
            </a:extLst>
          </p:cNvPr>
          <p:cNvSpPr txBox="1"/>
          <p:nvPr/>
        </p:nvSpPr>
        <p:spPr>
          <a:xfrm>
            <a:off x="1961532" y="3703322"/>
            <a:ext cx="1778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Lato" panose="020B0604020202020204" charset="0"/>
              </a:rPr>
              <a:t>OR them together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CC9D57-8C81-0F15-5F3F-7EAC7641E14E}"/>
              </a:ext>
            </a:extLst>
          </p:cNvPr>
          <p:cNvSpPr txBox="1"/>
          <p:nvPr/>
        </p:nvSpPr>
        <p:spPr>
          <a:xfrm>
            <a:off x="4167703" y="4411604"/>
            <a:ext cx="33797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Lato" panose="020B0604020202020204" charset="0"/>
              </a:rPr>
              <a:t>✨ </a:t>
            </a:r>
            <a:r>
              <a:rPr lang="en-US" b="1" dirty="0">
                <a:latin typeface="Lato" panose="020B0604020202020204" charset="0"/>
              </a:rPr>
              <a:t>Only AND &amp; OR operations!!</a:t>
            </a:r>
          </a:p>
        </p:txBody>
      </p:sp>
    </p:spTree>
    <p:extLst>
      <p:ext uri="{BB962C8B-B14F-4D97-AF65-F5344CB8AC3E}">
        <p14:creationId xmlns:p14="http://schemas.microsoft.com/office/powerpoint/2010/main" val="3669388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2" grpId="0"/>
      <p:bldP spid="2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3C1F07-588D-DC50-E0F3-586DE533B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encoding → much more scalable gates!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9C5B398-5CC9-E0B4-FFBA-8C81E7B941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20</a:t>
            </a:fld>
            <a:endParaRPr lang="zh-TW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212539-B089-1271-A7BF-49F14CEEB7A2}"/>
              </a:ext>
            </a:extLst>
          </p:cNvPr>
          <p:cNvSpPr txBox="1"/>
          <p:nvPr/>
        </p:nvSpPr>
        <p:spPr>
          <a:xfrm>
            <a:off x="3296933" y="2086867"/>
            <a:ext cx="4528728" cy="1569660"/>
          </a:xfrm>
          <a:prstGeom prst="rect">
            <a:avLst/>
          </a:prstGeom>
          <a:solidFill>
            <a:srgbClr val="FFF2CC"/>
          </a:solidFill>
        </p:spPr>
        <p:txBody>
          <a:bodyPr wrap="square" rtlCol="0">
            <a:spAutoFit/>
          </a:bodyPr>
          <a:lstStyle/>
          <a:p>
            <a:r>
              <a:rPr lang="en-US" sz="16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condition</a:t>
            </a:r>
            <a:r>
              <a:rPr lang="en-US" sz="16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()) {    </a:t>
            </a:r>
          </a:p>
          <a:p>
            <a:r>
              <a:rPr lang="en-US" sz="1600" dirty="0">
                <a:solidFill>
                  <a:srgbClr val="657B83"/>
                </a:solidFill>
                <a:latin typeface="Consolas" panose="020B0609020204030204" pitchFamily="49" charset="0"/>
              </a:rPr>
              <a:t>   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tmp</a:t>
            </a:r>
            <a:r>
              <a:rPr lang="en-US" sz="16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out_p</a:t>
            </a:r>
            <a:r>
              <a:rPr lang="en-US" sz="16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in1_p</a:t>
            </a:r>
            <a:r>
              <a:rPr lang="en-US" sz="16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6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 +</a:t>
            </a:r>
            <a:r>
              <a:rPr lang="en-US" sz="1600" dirty="0">
                <a:solidFill>
                  <a:srgbClr val="657B83"/>
                </a:solidFill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in2_m</a:t>
            </a:r>
            <a:r>
              <a:rPr lang="en-US" sz="16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]];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tmp</a:t>
            </a:r>
            <a:r>
              <a:rPr lang="en-US" sz="16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out_p</a:t>
            </a:r>
            <a:r>
              <a:rPr lang="en-US" sz="16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in1_m</a:t>
            </a:r>
            <a:r>
              <a:rPr lang="en-US" sz="16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6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rgbClr val="657B83"/>
                </a:solidFill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in2_p</a:t>
            </a:r>
            <a:r>
              <a:rPr lang="en-US" sz="16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]];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tmp</a:t>
            </a:r>
            <a:r>
              <a:rPr lang="en-US" sz="16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out_m</a:t>
            </a:r>
            <a:r>
              <a:rPr lang="en-US" sz="16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in1_p</a:t>
            </a:r>
            <a:r>
              <a:rPr lang="en-US" sz="16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6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 +</a:t>
            </a:r>
            <a:r>
              <a:rPr lang="en-US" sz="1600" dirty="0">
                <a:solidFill>
                  <a:srgbClr val="657B83"/>
                </a:solidFill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in2_p</a:t>
            </a:r>
            <a:r>
              <a:rPr lang="en-US" sz="16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]];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tmp</a:t>
            </a:r>
            <a:r>
              <a:rPr lang="en-US" sz="16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out_m</a:t>
            </a:r>
            <a:r>
              <a:rPr lang="en-US" sz="16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in1_m</a:t>
            </a:r>
            <a:r>
              <a:rPr lang="en-US" sz="16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6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rgbClr val="657B83"/>
                </a:solidFill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in2_m</a:t>
            </a:r>
            <a:r>
              <a:rPr lang="en-US" sz="16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]];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D0BC620E-C7E0-300E-AC7D-DC1586405011}"/>
              </a:ext>
            </a:extLst>
          </p:cNvPr>
          <p:cNvGrpSpPr/>
          <p:nvPr/>
        </p:nvGrpSpPr>
        <p:grpSpPr>
          <a:xfrm>
            <a:off x="4609447" y="3370480"/>
            <a:ext cx="2986624" cy="755708"/>
            <a:chOff x="4609447" y="3370480"/>
            <a:chExt cx="2986624" cy="755708"/>
          </a:xfrm>
        </p:grpSpPr>
        <p:cxnSp>
          <p:nvCxnSpPr>
            <p:cNvPr id="9" name="直線接點 8">
              <a:extLst>
                <a:ext uri="{FF2B5EF4-FFF2-40B4-BE49-F238E27FC236}">
                  <a16:creationId xmlns:a16="http://schemas.microsoft.com/office/drawing/2014/main" id="{F3BCC2A0-CC3E-D77E-BCA3-DD91F486426E}"/>
                </a:ext>
              </a:extLst>
            </p:cNvPr>
            <p:cNvCxnSpPr/>
            <p:nvPr/>
          </p:nvCxnSpPr>
          <p:spPr>
            <a:xfrm>
              <a:off x="4609447" y="3370480"/>
              <a:ext cx="2986624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單箭頭接點 10">
              <a:extLst>
                <a:ext uri="{FF2B5EF4-FFF2-40B4-BE49-F238E27FC236}">
                  <a16:creationId xmlns:a16="http://schemas.microsoft.com/office/drawing/2014/main" id="{C0B1444E-1B5D-BA6D-5390-0357C7144D9E}"/>
                </a:ext>
              </a:extLst>
            </p:cNvPr>
            <p:cNvCxnSpPr/>
            <p:nvPr/>
          </p:nvCxnSpPr>
          <p:spPr>
            <a:xfrm>
              <a:off x="6035662" y="3429775"/>
              <a:ext cx="0" cy="40570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9A809ACC-6402-E4B4-D99B-DA03C6642C41}"/>
                </a:ext>
              </a:extLst>
            </p:cNvPr>
            <p:cNvSpPr txBox="1"/>
            <p:nvPr/>
          </p:nvSpPr>
          <p:spPr>
            <a:xfrm>
              <a:off x="4981095" y="3818411"/>
              <a:ext cx="21091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Lato" panose="020B0604020202020204" charset="0"/>
                </a:rPr>
                <a:t>AND operators</a:t>
              </a:r>
            </a:p>
          </p:txBody>
        </p:sp>
      </p:grp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56089EA6-3FE5-5466-F135-312C20B540ED}"/>
              </a:ext>
            </a:extLst>
          </p:cNvPr>
          <p:cNvGrpSpPr/>
          <p:nvPr/>
        </p:nvGrpSpPr>
        <p:grpSpPr>
          <a:xfrm>
            <a:off x="7670971" y="2394644"/>
            <a:ext cx="1253309" cy="975835"/>
            <a:chOff x="7670971" y="2394644"/>
            <a:chExt cx="1253309" cy="975835"/>
          </a:xfrm>
        </p:grpSpPr>
        <p:sp>
          <p:nvSpPr>
            <p:cNvPr id="13" name="右大括弧 12">
              <a:extLst>
                <a:ext uri="{FF2B5EF4-FFF2-40B4-BE49-F238E27FC236}">
                  <a16:creationId xmlns:a16="http://schemas.microsoft.com/office/drawing/2014/main" id="{F7B03FE9-F845-905F-EA42-F2E8618E8D9E}"/>
                </a:ext>
              </a:extLst>
            </p:cNvPr>
            <p:cNvSpPr/>
            <p:nvPr/>
          </p:nvSpPr>
          <p:spPr>
            <a:xfrm>
              <a:off x="7670971" y="2394644"/>
              <a:ext cx="221578" cy="975835"/>
            </a:xfrm>
            <a:prstGeom prst="righ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96B5F92C-9A5F-B32E-56BC-23C5E4FA6A82}"/>
                </a:ext>
              </a:extLst>
            </p:cNvPr>
            <p:cNvSpPr txBox="1"/>
            <p:nvPr/>
          </p:nvSpPr>
          <p:spPr>
            <a:xfrm>
              <a:off x="7967449" y="2610087"/>
              <a:ext cx="95683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dirty="0">
                  <a:latin typeface="Lato" panose="020B0604020202020204" charset="0"/>
                </a:rPr>
                <a:t>OR operators</a:t>
              </a:r>
            </a:p>
          </p:txBody>
        </p:sp>
      </p:grp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1BD71184-A47A-37F9-01D5-DA1C692205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9654597"/>
              </p:ext>
            </p:extLst>
          </p:nvPr>
        </p:nvGraphicFramePr>
        <p:xfrm>
          <a:off x="542081" y="1973976"/>
          <a:ext cx="1988556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62852">
                  <a:extLst>
                    <a:ext uri="{9D8B030D-6E8A-4147-A177-3AD203B41FA5}">
                      <a16:colId xmlns:a16="http://schemas.microsoft.com/office/drawing/2014/main" val="4279276241"/>
                    </a:ext>
                  </a:extLst>
                </a:gridCol>
                <a:gridCol w="662852">
                  <a:extLst>
                    <a:ext uri="{9D8B030D-6E8A-4147-A177-3AD203B41FA5}">
                      <a16:colId xmlns:a16="http://schemas.microsoft.com/office/drawing/2014/main" val="1455359831"/>
                    </a:ext>
                  </a:extLst>
                </a:gridCol>
                <a:gridCol w="662852">
                  <a:extLst>
                    <a:ext uri="{9D8B030D-6E8A-4147-A177-3AD203B41FA5}">
                      <a16:colId xmlns:a16="http://schemas.microsoft.com/office/drawing/2014/main" val="1461137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in1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in2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out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2498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2316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83192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3933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3415052"/>
                  </a:ext>
                </a:extLst>
              </a:tr>
            </a:tbl>
          </a:graphicData>
        </a:graphic>
      </p:graphicFrame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FA689C7C-BA8D-B8DF-DB0C-413F325D32A4}"/>
              </a:ext>
            </a:extLst>
          </p:cNvPr>
          <p:cNvCxnSpPr/>
          <p:nvPr/>
        </p:nvCxnSpPr>
        <p:spPr>
          <a:xfrm>
            <a:off x="2605884" y="3058403"/>
            <a:ext cx="6054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41A8D8BF-FC89-740F-4A9A-DE429A407332}"/>
              </a:ext>
            </a:extLst>
          </p:cNvPr>
          <p:cNvSpPr txBox="1"/>
          <p:nvPr/>
        </p:nvSpPr>
        <p:spPr>
          <a:xfrm>
            <a:off x="2346856" y="4342017"/>
            <a:ext cx="4450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2"/>
                </a:solidFill>
                <a:latin typeface="Lato" panose="020B0604020202020204" charset="0"/>
              </a:rPr>
              <a:t>✨ Any gate with ≤ 4 inputs works!!</a:t>
            </a:r>
          </a:p>
          <a:p>
            <a:pPr algn="ctr"/>
            <a:r>
              <a:rPr lang="en-US" b="1" dirty="0">
                <a:solidFill>
                  <a:schemeClr val="bg2"/>
                </a:solidFill>
                <a:latin typeface="Lato" panose="020B0604020202020204" charset="0"/>
              </a:rPr>
              <a:t> E.g., 4-bit XOR or 2-bit adder</a:t>
            </a:r>
          </a:p>
        </p:txBody>
      </p:sp>
    </p:spTree>
    <p:extLst>
      <p:ext uri="{BB962C8B-B14F-4D97-AF65-F5344CB8AC3E}">
        <p14:creationId xmlns:p14="http://schemas.microsoft.com/office/powerpoint/2010/main" val="2980320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A14525-4A30-E0DA-5881-9EE7B244D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Error correction with dynamic voting</a:t>
            </a:r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298FA23-3A84-3DF9-4E0D-71862C1259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21</a:t>
            </a:fld>
            <a:endParaRPr lang="zh-TW" altLang="en-US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6F022DFA-7437-E731-D605-CFE30A0975F4}"/>
              </a:ext>
            </a:extLst>
          </p:cNvPr>
          <p:cNvGrpSpPr/>
          <p:nvPr/>
        </p:nvGrpSpPr>
        <p:grpSpPr>
          <a:xfrm>
            <a:off x="1005219" y="1833643"/>
            <a:ext cx="981844" cy="1379220"/>
            <a:chOff x="1730937" y="1790101"/>
            <a:chExt cx="981844" cy="1379220"/>
          </a:xfrm>
        </p:grpSpPr>
        <p:grpSp>
          <p:nvGrpSpPr>
            <p:cNvPr id="5" name="Group 43">
              <a:extLst>
                <a:ext uri="{FF2B5EF4-FFF2-40B4-BE49-F238E27FC236}">
                  <a16:creationId xmlns:a16="http://schemas.microsoft.com/office/drawing/2014/main" id="{059E0DA5-3BF8-9F82-A2D4-571B23F7E455}"/>
                </a:ext>
              </a:extLst>
            </p:cNvPr>
            <p:cNvGrpSpPr/>
            <p:nvPr/>
          </p:nvGrpSpPr>
          <p:grpSpPr>
            <a:xfrm>
              <a:off x="1730937" y="1790101"/>
              <a:ext cx="660400" cy="1379220"/>
              <a:chOff x="763715" y="2153377"/>
              <a:chExt cx="660400" cy="1379220"/>
            </a:xfrm>
          </p:grpSpPr>
          <p:sp>
            <p:nvSpPr>
              <p:cNvPr id="6" name="Arc 28">
                <a:extLst>
                  <a:ext uri="{FF2B5EF4-FFF2-40B4-BE49-F238E27FC236}">
                    <a16:creationId xmlns:a16="http://schemas.microsoft.com/office/drawing/2014/main" id="{92ED4BEA-7E10-1A00-F3B2-8D7799BBF76D}"/>
                  </a:ext>
                </a:extLst>
              </p:cNvPr>
              <p:cNvSpPr/>
              <p:nvPr/>
            </p:nvSpPr>
            <p:spPr>
              <a:xfrm>
                <a:off x="763715" y="2450557"/>
                <a:ext cx="660400" cy="1082040"/>
              </a:xfrm>
              <a:prstGeom prst="arc">
                <a:avLst>
                  <a:gd name="adj1" fmla="val 16200000"/>
                  <a:gd name="adj2" fmla="val 998404"/>
                </a:avLst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Arc 29">
                <a:extLst>
                  <a:ext uri="{FF2B5EF4-FFF2-40B4-BE49-F238E27FC236}">
                    <a16:creationId xmlns:a16="http://schemas.microsoft.com/office/drawing/2014/main" id="{62EB2F57-7131-A58B-BCF5-21AA612AA056}"/>
                  </a:ext>
                </a:extLst>
              </p:cNvPr>
              <p:cNvSpPr/>
              <p:nvPr/>
            </p:nvSpPr>
            <p:spPr>
              <a:xfrm flipH="1">
                <a:off x="763715" y="2450557"/>
                <a:ext cx="660400" cy="1082040"/>
              </a:xfrm>
              <a:prstGeom prst="arc">
                <a:avLst>
                  <a:gd name="adj1" fmla="val 16200000"/>
                  <a:gd name="adj2" fmla="val 887744"/>
                </a:avLst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8" name="Straight Connector 31">
                <a:extLst>
                  <a:ext uri="{FF2B5EF4-FFF2-40B4-BE49-F238E27FC236}">
                    <a16:creationId xmlns:a16="http://schemas.microsoft.com/office/drawing/2014/main" id="{BA176AE7-8272-64D8-1A2A-BD8502FA6E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3715" y="3081389"/>
                <a:ext cx="660400" cy="0"/>
              </a:xfrm>
              <a:prstGeom prst="line">
                <a:avLst/>
              </a:prstGeom>
              <a:ln w="1270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35">
                <a:extLst>
                  <a:ext uri="{FF2B5EF4-FFF2-40B4-BE49-F238E27FC236}">
                    <a16:creationId xmlns:a16="http://schemas.microsoft.com/office/drawing/2014/main" id="{643C80FD-2A7B-74E1-4ED1-689F27CC382A}"/>
                  </a:ext>
                </a:extLst>
              </p:cNvPr>
              <p:cNvCxnSpPr/>
              <p:nvPr/>
            </p:nvCxnSpPr>
            <p:spPr>
              <a:xfrm>
                <a:off x="931102" y="3081389"/>
                <a:ext cx="0" cy="297180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1" name="Straight Connector 37">
                <a:extLst>
                  <a:ext uri="{FF2B5EF4-FFF2-40B4-BE49-F238E27FC236}">
                    <a16:creationId xmlns:a16="http://schemas.microsoft.com/office/drawing/2014/main" id="{6F73C33C-4D6F-677D-0C40-36253D14EEF4}"/>
                  </a:ext>
                </a:extLst>
              </p:cNvPr>
              <p:cNvCxnSpPr/>
              <p:nvPr/>
            </p:nvCxnSpPr>
            <p:spPr>
              <a:xfrm>
                <a:off x="1304219" y="3081389"/>
                <a:ext cx="0" cy="297180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2" name="Straight Connector 38">
                <a:extLst>
                  <a:ext uri="{FF2B5EF4-FFF2-40B4-BE49-F238E27FC236}">
                    <a16:creationId xmlns:a16="http://schemas.microsoft.com/office/drawing/2014/main" id="{79E62237-D209-5934-4FD5-4369F25099E9}"/>
                  </a:ext>
                </a:extLst>
              </p:cNvPr>
              <p:cNvCxnSpPr/>
              <p:nvPr/>
            </p:nvCxnSpPr>
            <p:spPr>
              <a:xfrm>
                <a:off x="1102420" y="2153377"/>
                <a:ext cx="0" cy="297180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  <p:sp>
          <p:nvSpPr>
            <p:cNvPr id="14" name="Arc 15">
              <a:extLst>
                <a:ext uri="{FF2B5EF4-FFF2-40B4-BE49-F238E27FC236}">
                  <a16:creationId xmlns:a16="http://schemas.microsoft.com/office/drawing/2014/main" id="{0552AAEB-6C48-8F79-45FD-A6788ADE7E94}"/>
                </a:ext>
              </a:extLst>
            </p:cNvPr>
            <p:cNvSpPr/>
            <p:nvPr/>
          </p:nvSpPr>
          <p:spPr>
            <a:xfrm>
              <a:off x="2463116" y="2321414"/>
              <a:ext cx="249665" cy="259464"/>
            </a:xfrm>
            <a:prstGeom prst="arc">
              <a:avLst>
                <a:gd name="adj1" fmla="val 12124037"/>
                <a:gd name="adj2" fmla="val 9308724"/>
              </a:avLst>
            </a:prstGeom>
            <a:ln w="12700">
              <a:solidFill>
                <a:schemeClr val="accent3"/>
              </a:solidFill>
              <a:headEnd type="none" w="med" len="med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/>
                </a:solidFill>
              </a:endParaRPr>
            </a:p>
          </p:txBody>
        </p:sp>
      </p:grp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85C66630-539D-B9E5-A004-28D8DBEFE1EB}"/>
              </a:ext>
            </a:extLst>
          </p:cNvPr>
          <p:cNvSpPr txBox="1"/>
          <p:nvPr/>
        </p:nvSpPr>
        <p:spPr>
          <a:xfrm>
            <a:off x="486849" y="3498967"/>
            <a:ext cx="36352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/>
                </a:solidFill>
                <a:latin typeface="Lato" panose="020B0604020202020204" charset="0"/>
              </a:rPr>
              <a:t>Prior work (</a:t>
            </a:r>
            <a:r>
              <a:rPr lang="en-US" sz="1600" dirty="0" err="1">
                <a:solidFill>
                  <a:schemeClr val="bg2"/>
                </a:solidFill>
                <a:latin typeface="Lato" panose="020B0604020202020204" charset="0"/>
              </a:rPr>
              <a:t>GoT</a:t>
            </a:r>
            <a:r>
              <a:rPr lang="en-US" sz="1600" baseline="30000" dirty="0">
                <a:solidFill>
                  <a:schemeClr val="bg2"/>
                </a:solidFill>
                <a:latin typeface="Lato" panose="020B0604020202020204" charset="0"/>
              </a:rPr>
              <a:t>[1]</a:t>
            </a:r>
            <a:r>
              <a:rPr lang="en-US" sz="1600" dirty="0">
                <a:solidFill>
                  <a:schemeClr val="bg2"/>
                </a:solidFill>
                <a:latin typeface="Lato" panose="020B0604020202020204" charset="0"/>
              </a:rPr>
              <a:t>): 3-out-of-5 voting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97F8E2D-8EFF-D104-82EB-C3E939CB8BB4}"/>
              </a:ext>
            </a:extLst>
          </p:cNvPr>
          <p:cNvGrpSpPr/>
          <p:nvPr/>
        </p:nvGrpSpPr>
        <p:grpSpPr>
          <a:xfrm>
            <a:off x="5297766" y="1616045"/>
            <a:ext cx="1096829" cy="1652952"/>
            <a:chOff x="5297766" y="1616045"/>
            <a:chExt cx="1096829" cy="1652952"/>
          </a:xfrm>
        </p:grpSpPr>
        <p:sp>
          <p:nvSpPr>
            <p:cNvPr id="27" name="Arc 28">
              <a:extLst>
                <a:ext uri="{FF2B5EF4-FFF2-40B4-BE49-F238E27FC236}">
                  <a16:creationId xmlns:a16="http://schemas.microsoft.com/office/drawing/2014/main" id="{D2BCAF56-6896-1B02-B739-17672BCC909B}"/>
                </a:ext>
              </a:extLst>
            </p:cNvPr>
            <p:cNvSpPr/>
            <p:nvPr/>
          </p:nvSpPr>
          <p:spPr>
            <a:xfrm>
              <a:off x="5413194" y="2130823"/>
              <a:ext cx="660400" cy="1082040"/>
            </a:xfrm>
            <a:prstGeom prst="arc">
              <a:avLst>
                <a:gd name="adj1" fmla="val 16200000"/>
                <a:gd name="adj2" fmla="val 998404"/>
              </a:avLst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Arc 29">
              <a:extLst>
                <a:ext uri="{FF2B5EF4-FFF2-40B4-BE49-F238E27FC236}">
                  <a16:creationId xmlns:a16="http://schemas.microsoft.com/office/drawing/2014/main" id="{3384C509-0F37-4A0F-FFCE-F88517E3A4EC}"/>
                </a:ext>
              </a:extLst>
            </p:cNvPr>
            <p:cNvSpPr/>
            <p:nvPr/>
          </p:nvSpPr>
          <p:spPr>
            <a:xfrm flipH="1">
              <a:off x="5413194" y="2130823"/>
              <a:ext cx="660400" cy="1082040"/>
            </a:xfrm>
            <a:prstGeom prst="arc">
              <a:avLst>
                <a:gd name="adj1" fmla="val 16200000"/>
                <a:gd name="adj2" fmla="val 887744"/>
              </a:avLst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9" name="Straight Connector 31">
              <a:extLst>
                <a:ext uri="{FF2B5EF4-FFF2-40B4-BE49-F238E27FC236}">
                  <a16:creationId xmlns:a16="http://schemas.microsoft.com/office/drawing/2014/main" id="{3B6FAE2B-000E-CC3B-7112-3F88F9F428BF}"/>
                </a:ext>
              </a:extLst>
            </p:cNvPr>
            <p:cNvCxnSpPr>
              <a:cxnSpLocks/>
            </p:cNvCxnSpPr>
            <p:nvPr/>
          </p:nvCxnSpPr>
          <p:spPr>
            <a:xfrm>
              <a:off x="5413194" y="2761655"/>
              <a:ext cx="660400" cy="0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16">
              <a:extLst>
                <a:ext uri="{FF2B5EF4-FFF2-40B4-BE49-F238E27FC236}">
                  <a16:creationId xmlns:a16="http://schemas.microsoft.com/office/drawing/2014/main" id="{F42EAFAB-1EF6-DEE0-5EB3-1AD3C61DE075}"/>
                </a:ext>
              </a:extLst>
            </p:cNvPr>
            <p:cNvCxnSpPr/>
            <p:nvPr/>
          </p:nvCxnSpPr>
          <p:spPr>
            <a:xfrm>
              <a:off x="5510433" y="2761655"/>
              <a:ext cx="0" cy="29718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32" name="Straight Connector 23">
              <a:extLst>
                <a:ext uri="{FF2B5EF4-FFF2-40B4-BE49-F238E27FC236}">
                  <a16:creationId xmlns:a16="http://schemas.microsoft.com/office/drawing/2014/main" id="{77065903-AC7A-CB56-ED97-C2CB130FAF06}"/>
                </a:ext>
              </a:extLst>
            </p:cNvPr>
            <p:cNvCxnSpPr/>
            <p:nvPr/>
          </p:nvCxnSpPr>
          <p:spPr>
            <a:xfrm>
              <a:off x="5536709" y="2761655"/>
              <a:ext cx="0" cy="29718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33" name="Straight Connector 24">
              <a:extLst>
                <a:ext uri="{FF2B5EF4-FFF2-40B4-BE49-F238E27FC236}">
                  <a16:creationId xmlns:a16="http://schemas.microsoft.com/office/drawing/2014/main" id="{5F8679D6-CFA1-0943-01B3-66BF1F8751A3}"/>
                </a:ext>
              </a:extLst>
            </p:cNvPr>
            <p:cNvCxnSpPr/>
            <p:nvPr/>
          </p:nvCxnSpPr>
          <p:spPr>
            <a:xfrm>
              <a:off x="5962374" y="2761655"/>
              <a:ext cx="0" cy="29718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34" name="Straight Connector 25">
              <a:extLst>
                <a:ext uri="{FF2B5EF4-FFF2-40B4-BE49-F238E27FC236}">
                  <a16:creationId xmlns:a16="http://schemas.microsoft.com/office/drawing/2014/main" id="{59257441-5574-5883-D45F-29D0750BC80C}"/>
                </a:ext>
              </a:extLst>
            </p:cNvPr>
            <p:cNvCxnSpPr/>
            <p:nvPr/>
          </p:nvCxnSpPr>
          <p:spPr>
            <a:xfrm>
              <a:off x="5988650" y="2761655"/>
              <a:ext cx="0" cy="29718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35" name="Straight Connector 26">
              <a:extLst>
                <a:ext uri="{FF2B5EF4-FFF2-40B4-BE49-F238E27FC236}">
                  <a16:creationId xmlns:a16="http://schemas.microsoft.com/office/drawing/2014/main" id="{127CB82E-8F02-7626-026D-B5870A2F3980}"/>
                </a:ext>
              </a:extLst>
            </p:cNvPr>
            <p:cNvCxnSpPr/>
            <p:nvPr/>
          </p:nvCxnSpPr>
          <p:spPr>
            <a:xfrm>
              <a:off x="5735352" y="1833643"/>
              <a:ext cx="0" cy="29718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36" name="Straight Connector 27">
              <a:extLst>
                <a:ext uri="{FF2B5EF4-FFF2-40B4-BE49-F238E27FC236}">
                  <a16:creationId xmlns:a16="http://schemas.microsoft.com/office/drawing/2014/main" id="{FE2B9AD6-39C7-9D87-2DDA-510F9D9C4738}"/>
                </a:ext>
              </a:extLst>
            </p:cNvPr>
            <p:cNvCxnSpPr/>
            <p:nvPr/>
          </p:nvCxnSpPr>
          <p:spPr>
            <a:xfrm>
              <a:off x="5761628" y="1833643"/>
              <a:ext cx="0" cy="29718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37" name="文字方塊 14">
              <a:extLst>
                <a:ext uri="{FF2B5EF4-FFF2-40B4-BE49-F238E27FC236}">
                  <a16:creationId xmlns:a16="http://schemas.microsoft.com/office/drawing/2014/main" id="{99D0FF38-9244-DC53-A38E-BBFE47AF2EED}"/>
                </a:ext>
              </a:extLst>
            </p:cNvPr>
            <p:cNvSpPr txBox="1"/>
            <p:nvPr/>
          </p:nvSpPr>
          <p:spPr>
            <a:xfrm>
              <a:off x="5522823" y="1616045"/>
              <a:ext cx="4555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2"/>
                  </a:solidFill>
                  <a:latin typeface="Consolas" panose="020B0609020204030204" pitchFamily="49" charset="0"/>
                </a:rPr>
                <a:t>+-</a:t>
              </a:r>
            </a:p>
          </p:txBody>
        </p:sp>
        <p:sp>
          <p:nvSpPr>
            <p:cNvPr id="38" name="文字方塊 15">
              <a:extLst>
                <a:ext uri="{FF2B5EF4-FFF2-40B4-BE49-F238E27FC236}">
                  <a16:creationId xmlns:a16="http://schemas.microsoft.com/office/drawing/2014/main" id="{F90C342C-21CD-6522-82F0-8A1B7DBE27FB}"/>
                </a:ext>
              </a:extLst>
            </p:cNvPr>
            <p:cNvSpPr txBox="1"/>
            <p:nvPr/>
          </p:nvSpPr>
          <p:spPr>
            <a:xfrm>
              <a:off x="5297766" y="2961220"/>
              <a:ext cx="4555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2"/>
                  </a:solidFill>
                  <a:latin typeface="Consolas" panose="020B0609020204030204" pitchFamily="49" charset="0"/>
                </a:rPr>
                <a:t>+-</a:t>
              </a:r>
            </a:p>
          </p:txBody>
        </p:sp>
        <p:sp>
          <p:nvSpPr>
            <p:cNvPr id="39" name="文字方塊 16">
              <a:extLst>
                <a:ext uri="{FF2B5EF4-FFF2-40B4-BE49-F238E27FC236}">
                  <a16:creationId xmlns:a16="http://schemas.microsoft.com/office/drawing/2014/main" id="{A5D8A025-7585-EE05-0D23-CEF446A0E589}"/>
                </a:ext>
              </a:extLst>
            </p:cNvPr>
            <p:cNvSpPr txBox="1"/>
            <p:nvPr/>
          </p:nvSpPr>
          <p:spPr>
            <a:xfrm>
              <a:off x="5741115" y="2961219"/>
              <a:ext cx="4555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2"/>
                  </a:solidFill>
                  <a:latin typeface="Consolas" panose="020B0609020204030204" pitchFamily="49" charset="0"/>
                </a:rPr>
                <a:t>+-</a:t>
              </a:r>
            </a:p>
          </p:txBody>
        </p:sp>
        <p:sp>
          <p:nvSpPr>
            <p:cNvPr id="40" name="Arc 15">
              <a:extLst>
                <a:ext uri="{FF2B5EF4-FFF2-40B4-BE49-F238E27FC236}">
                  <a16:creationId xmlns:a16="http://schemas.microsoft.com/office/drawing/2014/main" id="{EAE4C7A8-F10A-FE60-D597-CE71077F46F1}"/>
                </a:ext>
              </a:extLst>
            </p:cNvPr>
            <p:cNvSpPr/>
            <p:nvPr/>
          </p:nvSpPr>
          <p:spPr>
            <a:xfrm>
              <a:off x="6144930" y="2364956"/>
              <a:ext cx="249665" cy="259464"/>
            </a:xfrm>
            <a:prstGeom prst="arc">
              <a:avLst>
                <a:gd name="adj1" fmla="val 12124037"/>
                <a:gd name="adj2" fmla="val 9308724"/>
              </a:avLst>
            </a:prstGeom>
            <a:ln w="12700">
              <a:solidFill>
                <a:schemeClr val="accent3"/>
              </a:solidFill>
              <a:headEnd type="none" w="med" len="med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/>
                </a:solidFill>
              </a:endParaRPr>
            </a:p>
          </p:txBody>
        </p:sp>
      </p:grp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4AF6E0DE-7FBE-6C93-40E0-518517182AA9}"/>
              </a:ext>
            </a:extLst>
          </p:cNvPr>
          <p:cNvSpPr txBox="1"/>
          <p:nvPr/>
        </p:nvSpPr>
        <p:spPr>
          <a:xfrm>
            <a:off x="6394596" y="1956079"/>
            <a:ext cx="152725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>
                <a:solidFill>
                  <a:schemeClr val="bg2"/>
                </a:solidFill>
                <a:latin typeface="Lato" panose="020B0604020202020204" charset="0"/>
              </a:rPr>
              <a:t>Run 1: </a:t>
            </a:r>
            <a:r>
              <a:rPr lang="en-US" sz="1600" dirty="0">
                <a:solidFill>
                  <a:schemeClr val="accent3"/>
                </a:solidFill>
                <a:latin typeface="Lato" panose="020B0604020202020204" charset="0"/>
              </a:rPr>
              <a:t>Invalid!</a:t>
            </a:r>
          </a:p>
          <a:p>
            <a:pPr algn="l"/>
            <a:r>
              <a:rPr lang="en-US" sz="1600" dirty="0">
                <a:solidFill>
                  <a:schemeClr val="bg2"/>
                </a:solidFill>
                <a:latin typeface="Lato" panose="020B0604020202020204" charset="0"/>
              </a:rPr>
              <a:t>Run 2: </a:t>
            </a:r>
            <a:r>
              <a:rPr lang="en-US" sz="1600" dirty="0">
                <a:solidFill>
                  <a:schemeClr val="accent3"/>
                </a:solidFill>
                <a:latin typeface="Lato" panose="020B0604020202020204" charset="0"/>
              </a:rPr>
              <a:t>Invalid!</a:t>
            </a:r>
          </a:p>
          <a:p>
            <a:pPr algn="l"/>
            <a:r>
              <a:rPr lang="en-US" sz="1600" dirty="0">
                <a:solidFill>
                  <a:schemeClr val="bg2"/>
                </a:solidFill>
                <a:latin typeface="Lato" panose="020B0604020202020204" charset="0"/>
              </a:rPr>
              <a:t>Run 3: 1</a:t>
            </a:r>
          </a:p>
          <a:p>
            <a:pPr algn="l"/>
            <a:r>
              <a:rPr lang="en-US" sz="1600" dirty="0">
                <a:solidFill>
                  <a:schemeClr val="bg2"/>
                </a:solidFill>
                <a:latin typeface="Lato" panose="020B0604020202020204" charset="0"/>
              </a:rPr>
              <a:t>→ Output 1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B530304C-F481-6B08-02FF-0D582D676042}"/>
              </a:ext>
            </a:extLst>
          </p:cNvPr>
          <p:cNvSpPr txBox="1"/>
          <p:nvPr/>
        </p:nvSpPr>
        <p:spPr>
          <a:xfrm>
            <a:off x="4965516" y="3498967"/>
            <a:ext cx="3389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/>
                </a:solidFill>
                <a:latin typeface="Lato" panose="020B0604020202020204" charset="0"/>
              </a:rPr>
              <a:t>Flexo: rerun only when error occurs</a:t>
            </a: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14D1D131-CFC5-D27E-8B6D-2EAFB5305F11}"/>
              </a:ext>
            </a:extLst>
          </p:cNvPr>
          <p:cNvSpPr txBox="1"/>
          <p:nvPr/>
        </p:nvSpPr>
        <p:spPr>
          <a:xfrm>
            <a:off x="570711" y="4700430"/>
            <a:ext cx="66134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solidFill>
                  <a:schemeClr val="accent1"/>
                </a:solidFill>
                <a:latin typeface="Lato" panose="020B0604020202020204" charset="0"/>
              </a:rPr>
              <a:t>[1] The Gates of Time: Improving Cache Attacks with Transient Execution, Katzman et al., USENIX Security ‘23</a:t>
            </a: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EAC7E758-F868-E65D-6FA0-2018C9B069A5}"/>
              </a:ext>
            </a:extLst>
          </p:cNvPr>
          <p:cNvSpPr txBox="1"/>
          <p:nvPr/>
        </p:nvSpPr>
        <p:spPr>
          <a:xfrm>
            <a:off x="4990928" y="3961198"/>
            <a:ext cx="33644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chemeClr val="bg2"/>
                </a:solidFill>
                <a:latin typeface="Lato" panose="020B0604020202020204" charset="0"/>
              </a:rPr>
              <a:t>✨ </a:t>
            </a:r>
            <a:r>
              <a:rPr lang="en-US" b="1" dirty="0">
                <a:solidFill>
                  <a:schemeClr val="bg2"/>
                </a:solidFill>
                <a:latin typeface="Lato" panose="020B0604020202020204" charset="0"/>
              </a:rPr>
              <a:t>Higher accuracy &amp; less overhead!!</a:t>
            </a:r>
          </a:p>
        </p:txBody>
      </p:sp>
      <p:sp>
        <p:nvSpPr>
          <p:cNvPr id="13" name="文字方塊 40">
            <a:extLst>
              <a:ext uri="{FF2B5EF4-FFF2-40B4-BE49-F238E27FC236}">
                <a16:creationId xmlns:a16="http://schemas.microsoft.com/office/drawing/2014/main" id="{2AE1B0FD-BA59-263D-0A56-A437BEF33D7E}"/>
              </a:ext>
            </a:extLst>
          </p:cNvPr>
          <p:cNvSpPr txBox="1"/>
          <p:nvPr/>
        </p:nvSpPr>
        <p:spPr>
          <a:xfrm>
            <a:off x="2027635" y="1745871"/>
            <a:ext cx="155888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>
                <a:solidFill>
                  <a:schemeClr val="bg2"/>
                </a:solidFill>
                <a:latin typeface="Lato" panose="020B0604020202020204" charset="0"/>
              </a:rPr>
              <a:t>Run 1: 1</a:t>
            </a:r>
            <a:endParaRPr lang="en-US" sz="1600" dirty="0">
              <a:solidFill>
                <a:schemeClr val="accent3"/>
              </a:solidFill>
              <a:latin typeface="Lato" panose="020B0604020202020204" charset="0"/>
            </a:endParaRPr>
          </a:p>
          <a:p>
            <a:pPr algn="l"/>
            <a:r>
              <a:rPr lang="en-US" sz="1600" dirty="0">
                <a:solidFill>
                  <a:schemeClr val="bg2"/>
                </a:solidFill>
                <a:latin typeface="Lato" panose="020B0604020202020204" charset="0"/>
              </a:rPr>
              <a:t>Run 2: 1</a:t>
            </a:r>
            <a:endParaRPr lang="en-US" sz="1600" dirty="0">
              <a:solidFill>
                <a:schemeClr val="accent3"/>
              </a:solidFill>
              <a:latin typeface="Lato" panose="020B0604020202020204" charset="0"/>
            </a:endParaRPr>
          </a:p>
          <a:p>
            <a:pPr algn="l"/>
            <a:r>
              <a:rPr lang="en-US" sz="1600" dirty="0">
                <a:solidFill>
                  <a:schemeClr val="bg2"/>
                </a:solidFill>
                <a:latin typeface="Lato" panose="020B0604020202020204" charset="0"/>
              </a:rPr>
              <a:t>Run 3: 1</a:t>
            </a:r>
          </a:p>
          <a:p>
            <a:pPr algn="l"/>
            <a:r>
              <a:rPr lang="en-US" sz="1600" dirty="0">
                <a:solidFill>
                  <a:schemeClr val="bg2"/>
                </a:solidFill>
                <a:latin typeface="Lato" panose="020B0604020202020204" charset="0"/>
              </a:rPr>
              <a:t>Run 4: 1</a:t>
            </a:r>
          </a:p>
          <a:p>
            <a:r>
              <a:rPr lang="en-US" sz="1600" dirty="0">
                <a:solidFill>
                  <a:schemeClr val="bg2"/>
                </a:solidFill>
                <a:latin typeface="Lato" panose="020B0604020202020204" charset="0"/>
              </a:rPr>
              <a:t>Run 5: 0</a:t>
            </a:r>
          </a:p>
          <a:p>
            <a:pPr algn="l"/>
            <a:r>
              <a:rPr lang="en-US" sz="1600" dirty="0">
                <a:solidFill>
                  <a:schemeClr val="bg2"/>
                </a:solidFill>
                <a:latin typeface="Lato" panose="020B0604020202020204" charset="0"/>
              </a:rPr>
              <a:t>→ Output 1</a:t>
            </a:r>
          </a:p>
        </p:txBody>
      </p:sp>
    </p:spTree>
    <p:extLst>
      <p:ext uri="{BB962C8B-B14F-4D97-AF65-F5344CB8AC3E}">
        <p14:creationId xmlns:p14="http://schemas.microsoft.com/office/powerpoint/2010/main" val="1125502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1" grpId="0"/>
      <p:bldP spid="43" grpId="0"/>
      <p:bldP spid="45" grpId="0"/>
      <p:bldP spid="48" grpId="0"/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D01EEA-A73D-EE2B-1289-CE43694B3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Flexo’s compiler: the first compiler for μWMs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F223B0F-DC8D-863D-2BE5-382EF26B64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22</a:t>
            </a:fld>
            <a:endParaRPr lang="zh-TW" altLang="en-US"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B1A28CB7-DF24-4E1E-2CA4-5DD77877B95C}"/>
              </a:ext>
            </a:extLst>
          </p:cNvPr>
          <p:cNvSpPr txBox="1"/>
          <p:nvPr/>
        </p:nvSpPr>
        <p:spPr>
          <a:xfrm>
            <a:off x="4998819" y="1645501"/>
            <a:ext cx="3293198" cy="3000821"/>
          </a:xfrm>
          <a:prstGeom prst="rect">
            <a:avLst/>
          </a:prstGeom>
          <a:solidFill>
            <a:srgbClr val="FFF2CC"/>
          </a:solidFill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__weird__sha1_round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unsigned*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input,</a:t>
            </a:r>
          </a:p>
          <a:p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unsigned*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output, </a:t>
            </a:r>
            <a:r>
              <a:rPr lang="en-US" sz="900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unsigned*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error_output</a:t>
            </a:r>
            <a:endParaRPr lang="en-US" sz="900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900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900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900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900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900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900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sz="900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5A827999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(b </a:t>
            </a:r>
            <a:r>
              <a:rPr lang="en-US" sz="9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c) </a:t>
            </a:r>
            <a:r>
              <a:rPr lang="en-US" sz="9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((</a:t>
            </a:r>
            <a:r>
              <a:rPr lang="en-US" sz="9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b) </a:t>
            </a:r>
            <a:r>
              <a:rPr lang="en-US" sz="9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d);</a:t>
            </a:r>
          </a:p>
          <a:p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ROL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(a, </a:t>
            </a:r>
            <a:r>
              <a:rPr lang="en-US" sz="900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9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f </a:t>
            </a:r>
            <a:r>
              <a:rPr lang="en-US" sz="9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e </a:t>
            </a:r>
            <a:r>
              <a:rPr lang="en-US" sz="9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w </a:t>
            </a:r>
            <a:r>
              <a:rPr lang="en-US" sz="9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k;</a:t>
            </a:r>
          </a:p>
          <a:p>
            <a:b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900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9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temp;</a:t>
            </a:r>
          </a:p>
          <a:p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900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9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a;</a:t>
            </a:r>
          </a:p>
          <a:p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900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9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ROL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(b, </a:t>
            </a:r>
            <a:r>
              <a:rPr lang="en-US" sz="900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900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9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c;</a:t>
            </a:r>
          </a:p>
          <a:p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900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9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d;</a:t>
            </a:r>
          </a:p>
          <a:p>
            <a:r>
              <a:rPr lang="en-US" sz="9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900" dirty="0">
              <a:solidFill>
                <a:srgbClr val="657B83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E9DF2DB-A239-861A-B305-3657991637B2}"/>
              </a:ext>
            </a:extLst>
          </p:cNvPr>
          <p:cNvSpPr txBox="1"/>
          <p:nvPr/>
        </p:nvSpPr>
        <p:spPr>
          <a:xfrm>
            <a:off x="535775" y="1315325"/>
            <a:ext cx="3609407" cy="3754874"/>
          </a:xfrm>
          <a:prstGeom prst="rect">
            <a:avLst/>
          </a:prstGeom>
          <a:solidFill>
            <a:srgbClr val="FFF2CC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268BD2"/>
                </a:solidFill>
                <a:latin typeface="Consolas" panose="020B0609020204030204" pitchFamily="49" charset="0"/>
              </a:rPr>
              <a:t>_32BitValueToCacheState</a:t>
            </a:r>
            <a:r>
              <a:rPr lang="en-US" sz="900" dirty="0">
                <a:solidFill>
                  <a:srgbClr val="657B83"/>
                </a:solidFill>
                <a:latin typeface="Consolas" panose="020B0609020204030204" pitchFamily="49" charset="0"/>
              </a:rPr>
              <a:t>(</a:t>
            </a:r>
            <a:r>
              <a:rPr lang="en-US" sz="900" dirty="0" err="1">
                <a:solidFill>
                  <a:srgbClr val="657B83"/>
                </a:solidFill>
                <a:latin typeface="Consolas" panose="020B0609020204030204" pitchFamily="49" charset="0"/>
              </a:rPr>
              <a:t>C_arch</a:t>
            </a:r>
            <a:r>
              <a:rPr lang="en-US" sz="900" dirty="0">
                <a:solidFill>
                  <a:srgbClr val="657B83"/>
                </a:solidFill>
                <a:latin typeface="Consolas" panose="020B0609020204030204" pitchFamily="49" charset="0"/>
              </a:rPr>
              <a:t>, C1, </a:t>
            </a:r>
            <a:r>
              <a:rPr lang="en-US" sz="900" dirty="0">
                <a:solidFill>
                  <a:srgbClr val="B58900"/>
                </a:solidFill>
                <a:latin typeface="Consolas" panose="020B0609020204030204" pitchFamily="49" charset="0"/>
              </a:rPr>
              <a:t>NULL</a:t>
            </a:r>
            <a:r>
              <a:rPr lang="en-US" sz="900" dirty="0">
                <a:solidFill>
                  <a:srgbClr val="657B83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900" dirty="0">
                <a:solidFill>
                  <a:srgbClr val="268BD2"/>
                </a:solidFill>
                <a:latin typeface="Consolas" panose="020B0609020204030204" pitchFamily="49" charset="0"/>
              </a:rPr>
              <a:t>_32BitValueToCacheState</a:t>
            </a:r>
            <a:r>
              <a:rPr lang="en-US" sz="900" dirty="0">
                <a:solidFill>
                  <a:srgbClr val="657B83"/>
                </a:solidFill>
                <a:latin typeface="Consolas" panose="020B0609020204030204" pitchFamily="49" charset="0"/>
              </a:rPr>
              <a:t>(</a:t>
            </a:r>
            <a:r>
              <a:rPr lang="en-US" sz="900" dirty="0" err="1">
                <a:solidFill>
                  <a:srgbClr val="657B83"/>
                </a:solidFill>
                <a:latin typeface="Consolas" panose="020B0609020204030204" pitchFamily="49" charset="0"/>
              </a:rPr>
              <a:t>D_arch</a:t>
            </a:r>
            <a:r>
              <a:rPr lang="en-US" sz="900" dirty="0">
                <a:solidFill>
                  <a:srgbClr val="657B83"/>
                </a:solidFill>
                <a:latin typeface="Consolas" panose="020B0609020204030204" pitchFamily="49" charset="0"/>
              </a:rPr>
              <a:t>, D1, </a:t>
            </a:r>
            <a:r>
              <a:rPr lang="en-US" sz="900" dirty="0">
                <a:solidFill>
                  <a:srgbClr val="B58900"/>
                </a:solidFill>
                <a:latin typeface="Consolas" panose="020B0609020204030204" pitchFamily="49" charset="0"/>
              </a:rPr>
              <a:t>NULL</a:t>
            </a:r>
            <a:r>
              <a:rPr lang="en-US" sz="900" dirty="0">
                <a:solidFill>
                  <a:srgbClr val="657B83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900" dirty="0">
                <a:solidFill>
                  <a:srgbClr val="268BD2"/>
                </a:solidFill>
                <a:latin typeface="Consolas" panose="020B0609020204030204" pitchFamily="49" charset="0"/>
              </a:rPr>
              <a:t>_32BitValueToCacheState</a:t>
            </a:r>
            <a:r>
              <a:rPr lang="en-US" sz="900" dirty="0">
                <a:solidFill>
                  <a:srgbClr val="657B83"/>
                </a:solidFill>
                <a:latin typeface="Consolas" panose="020B0609020204030204" pitchFamily="49" charset="0"/>
              </a:rPr>
              <a:t>(</a:t>
            </a:r>
            <a:r>
              <a:rPr lang="en-US" sz="900" dirty="0" err="1">
                <a:solidFill>
                  <a:srgbClr val="657B83"/>
                </a:solidFill>
                <a:latin typeface="Consolas" panose="020B0609020204030204" pitchFamily="49" charset="0"/>
              </a:rPr>
              <a:t>E_arch</a:t>
            </a:r>
            <a:r>
              <a:rPr lang="en-US" sz="900" dirty="0">
                <a:solidFill>
                  <a:srgbClr val="657B83"/>
                </a:solidFill>
                <a:latin typeface="Consolas" panose="020B0609020204030204" pitchFamily="49" charset="0"/>
              </a:rPr>
              <a:t>, E, </a:t>
            </a:r>
            <a:r>
              <a:rPr lang="en-US" sz="900" dirty="0">
                <a:solidFill>
                  <a:srgbClr val="B58900"/>
                </a:solidFill>
                <a:latin typeface="Consolas" panose="020B0609020204030204" pitchFamily="49" charset="0"/>
              </a:rPr>
              <a:t>NULL</a:t>
            </a:r>
            <a:r>
              <a:rPr lang="en-US" sz="900" dirty="0">
                <a:solidFill>
                  <a:srgbClr val="657B83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900" dirty="0">
                <a:solidFill>
                  <a:srgbClr val="268BD2"/>
                </a:solidFill>
                <a:latin typeface="Consolas" panose="020B0609020204030204" pitchFamily="49" charset="0"/>
              </a:rPr>
              <a:t>_32BitValueToCacheState</a:t>
            </a:r>
            <a:r>
              <a:rPr lang="en-US" sz="900" dirty="0">
                <a:solidFill>
                  <a:srgbClr val="657B83"/>
                </a:solidFill>
                <a:latin typeface="Consolas" panose="020B0609020204030204" pitchFamily="49" charset="0"/>
              </a:rPr>
              <a:t>(</a:t>
            </a:r>
            <a:r>
              <a:rPr lang="en-US" sz="900" dirty="0">
                <a:solidFill>
                  <a:srgbClr val="268BD2"/>
                </a:solidFill>
                <a:latin typeface="Consolas" panose="020B0609020204030204" pitchFamily="49" charset="0"/>
              </a:rPr>
              <a:t>K</a:t>
            </a:r>
            <a:r>
              <a:rPr lang="en-US" sz="900" dirty="0">
                <a:solidFill>
                  <a:srgbClr val="657B83"/>
                </a:solidFill>
                <a:latin typeface="Consolas" panose="020B0609020204030204" pitchFamily="49" charset="0"/>
              </a:rPr>
              <a:t>[</a:t>
            </a:r>
            <a:r>
              <a:rPr lang="en-US" sz="900" dirty="0">
                <a:solidFill>
                  <a:srgbClr val="D33682"/>
                </a:solidFill>
                <a:latin typeface="Consolas" panose="020B0609020204030204" pitchFamily="49" charset="0"/>
              </a:rPr>
              <a:t>0</a:t>
            </a:r>
            <a:r>
              <a:rPr lang="en-US" sz="900" dirty="0">
                <a:solidFill>
                  <a:srgbClr val="657B83"/>
                </a:solidFill>
                <a:latin typeface="Consolas" panose="020B0609020204030204" pitchFamily="49" charset="0"/>
              </a:rPr>
              <a:t>], K0, </a:t>
            </a:r>
            <a:r>
              <a:rPr lang="en-US" sz="900" dirty="0">
                <a:solidFill>
                  <a:srgbClr val="B58900"/>
                </a:solidFill>
                <a:latin typeface="Consolas" panose="020B0609020204030204" pitchFamily="49" charset="0"/>
              </a:rPr>
              <a:t>NULL</a:t>
            </a:r>
            <a:r>
              <a:rPr lang="en-US" sz="900" dirty="0">
                <a:solidFill>
                  <a:srgbClr val="657B83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900" dirty="0">
                <a:solidFill>
                  <a:srgbClr val="268BD2"/>
                </a:solidFill>
                <a:latin typeface="Consolas" panose="020B0609020204030204" pitchFamily="49" charset="0"/>
              </a:rPr>
              <a:t>_32BitValueToCacheState</a:t>
            </a:r>
            <a:r>
              <a:rPr lang="en-US" sz="900" dirty="0">
                <a:solidFill>
                  <a:srgbClr val="657B83"/>
                </a:solidFill>
                <a:latin typeface="Consolas" panose="020B0609020204030204" pitchFamily="49" charset="0"/>
              </a:rPr>
              <a:t>(</a:t>
            </a:r>
            <a:r>
              <a:rPr lang="en-US" sz="900" dirty="0" err="1">
                <a:solidFill>
                  <a:srgbClr val="657B83"/>
                </a:solidFill>
                <a:latin typeface="Consolas" panose="020B0609020204030204" pitchFamily="49" charset="0"/>
              </a:rPr>
              <a:t>W_arch</a:t>
            </a:r>
            <a:r>
              <a:rPr lang="en-US" sz="900" dirty="0">
                <a:solidFill>
                  <a:srgbClr val="657B83"/>
                </a:solidFill>
                <a:latin typeface="Consolas" panose="020B0609020204030204" pitchFamily="49" charset="0"/>
              </a:rPr>
              <a:t>, W, </a:t>
            </a:r>
            <a:r>
              <a:rPr lang="en-US" sz="900" dirty="0">
                <a:solidFill>
                  <a:srgbClr val="B58900"/>
                </a:solidFill>
                <a:latin typeface="Consolas" panose="020B0609020204030204" pitchFamily="49" charset="0"/>
              </a:rPr>
              <a:t>NULL</a:t>
            </a:r>
            <a:r>
              <a:rPr lang="en-US" sz="900" dirty="0">
                <a:solidFill>
                  <a:srgbClr val="657B83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900" dirty="0" err="1">
                <a:solidFill>
                  <a:srgbClr val="268BD2"/>
                </a:solidFill>
                <a:latin typeface="Consolas" panose="020B0609020204030204" pitchFamily="49" charset="0"/>
              </a:rPr>
              <a:t>LeftShift</a:t>
            </a:r>
            <a:r>
              <a:rPr lang="en-US" sz="900" dirty="0">
                <a:solidFill>
                  <a:srgbClr val="657B83"/>
                </a:solidFill>
                <a:latin typeface="Consolas" panose="020B0609020204030204" pitchFamily="49" charset="0"/>
              </a:rPr>
              <a:t>(A1, A1, </a:t>
            </a:r>
            <a:r>
              <a:rPr lang="en-US" sz="900" dirty="0">
                <a:solidFill>
                  <a:srgbClr val="D33682"/>
                </a:solidFill>
                <a:latin typeface="Consolas" panose="020B0609020204030204" pitchFamily="49" charset="0"/>
              </a:rPr>
              <a:t>27</a:t>
            </a:r>
            <a:r>
              <a:rPr lang="en-US" sz="900" dirty="0">
                <a:solidFill>
                  <a:srgbClr val="657B83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900" dirty="0" err="1">
                <a:solidFill>
                  <a:srgbClr val="268BD2"/>
                </a:solidFill>
                <a:latin typeface="Consolas" panose="020B0609020204030204" pitchFamily="49" charset="0"/>
              </a:rPr>
              <a:t>mfence</a:t>
            </a:r>
            <a:r>
              <a:rPr lang="en-US" sz="900" dirty="0">
                <a:solidFill>
                  <a:srgbClr val="657B83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900" dirty="0" err="1">
                <a:solidFill>
                  <a:srgbClr val="268BD2"/>
                </a:solidFill>
                <a:latin typeface="Consolas" panose="020B0609020204030204" pitchFamily="49" charset="0"/>
              </a:rPr>
              <a:t>lfence</a:t>
            </a:r>
            <a:r>
              <a:rPr lang="en-US" sz="900" dirty="0">
                <a:solidFill>
                  <a:srgbClr val="657B83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900" dirty="0">
                <a:solidFill>
                  <a:srgbClr val="657B83"/>
                </a:solidFill>
                <a:latin typeface="Consolas" panose="020B0609020204030204" pitchFamily="49" charset="0"/>
              </a:rPr>
              <a:t>trash </a:t>
            </a:r>
            <a:r>
              <a:rPr lang="en-US" sz="900" dirty="0">
                <a:solidFill>
                  <a:srgbClr val="859900"/>
                </a:solidFill>
                <a:latin typeface="Consolas" panose="020B0609020204030204" pitchFamily="49" charset="0"/>
              </a:rPr>
              <a:t>=</a:t>
            </a:r>
            <a:r>
              <a:rPr lang="en-US" sz="900" dirty="0">
                <a:solidFill>
                  <a:srgbClr val="657B83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268BD2"/>
                </a:solidFill>
                <a:latin typeface="Consolas" panose="020B0609020204030204" pitchFamily="49" charset="0"/>
              </a:rPr>
              <a:t>_32BitAnd</a:t>
            </a:r>
            <a:r>
              <a:rPr lang="en-US" sz="900" dirty="0">
                <a:solidFill>
                  <a:srgbClr val="657B83"/>
                </a:solidFill>
                <a:latin typeface="Consolas" panose="020B0609020204030204" pitchFamily="49" charset="0"/>
              </a:rPr>
              <a:t>(B1, C1, B_AND_C, trash);</a:t>
            </a:r>
          </a:p>
          <a:p>
            <a:r>
              <a:rPr lang="en-US" sz="900" dirty="0" err="1">
                <a:solidFill>
                  <a:srgbClr val="268BD2"/>
                </a:solidFill>
                <a:latin typeface="Consolas" panose="020B0609020204030204" pitchFamily="49" charset="0"/>
              </a:rPr>
              <a:t>mfence</a:t>
            </a:r>
            <a:r>
              <a:rPr lang="en-US" sz="900" dirty="0">
                <a:solidFill>
                  <a:srgbClr val="657B83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900" dirty="0" err="1">
                <a:solidFill>
                  <a:srgbClr val="268BD2"/>
                </a:solidFill>
                <a:latin typeface="Consolas" panose="020B0609020204030204" pitchFamily="49" charset="0"/>
              </a:rPr>
              <a:t>lfence</a:t>
            </a:r>
            <a:r>
              <a:rPr lang="en-US" sz="900" dirty="0">
                <a:solidFill>
                  <a:srgbClr val="657B83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900" dirty="0">
                <a:solidFill>
                  <a:srgbClr val="657B83"/>
                </a:solidFill>
                <a:latin typeface="Consolas" panose="020B0609020204030204" pitchFamily="49" charset="0"/>
              </a:rPr>
              <a:t>trash </a:t>
            </a:r>
            <a:r>
              <a:rPr lang="en-US" sz="900" dirty="0">
                <a:solidFill>
                  <a:srgbClr val="859900"/>
                </a:solidFill>
                <a:latin typeface="Consolas" panose="020B0609020204030204" pitchFamily="49" charset="0"/>
              </a:rPr>
              <a:t>=</a:t>
            </a:r>
            <a:r>
              <a:rPr lang="en-US" sz="900" dirty="0">
                <a:solidFill>
                  <a:srgbClr val="657B83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268BD2"/>
                </a:solidFill>
                <a:latin typeface="Consolas" panose="020B0609020204030204" pitchFamily="49" charset="0"/>
              </a:rPr>
              <a:t>_32BitNot</a:t>
            </a:r>
            <a:r>
              <a:rPr lang="en-US" sz="900" dirty="0">
                <a:solidFill>
                  <a:srgbClr val="657B83"/>
                </a:solidFill>
                <a:latin typeface="Consolas" panose="020B0609020204030204" pitchFamily="49" charset="0"/>
              </a:rPr>
              <a:t>(B2, NOT_B, trash);</a:t>
            </a:r>
          </a:p>
          <a:p>
            <a:r>
              <a:rPr lang="en-US" sz="900" dirty="0" err="1">
                <a:solidFill>
                  <a:srgbClr val="268BD2"/>
                </a:solidFill>
                <a:latin typeface="Consolas" panose="020B0609020204030204" pitchFamily="49" charset="0"/>
              </a:rPr>
              <a:t>mfence</a:t>
            </a:r>
            <a:r>
              <a:rPr lang="en-US" sz="900" dirty="0">
                <a:solidFill>
                  <a:srgbClr val="657B83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900" dirty="0" err="1">
                <a:solidFill>
                  <a:srgbClr val="268BD2"/>
                </a:solidFill>
                <a:latin typeface="Consolas" panose="020B0609020204030204" pitchFamily="49" charset="0"/>
              </a:rPr>
              <a:t>lfence</a:t>
            </a:r>
            <a:r>
              <a:rPr lang="en-US" sz="900" dirty="0">
                <a:solidFill>
                  <a:srgbClr val="657B83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900" dirty="0">
                <a:solidFill>
                  <a:srgbClr val="657B83"/>
                </a:solidFill>
                <a:latin typeface="Consolas" panose="020B0609020204030204" pitchFamily="49" charset="0"/>
              </a:rPr>
              <a:t>trash </a:t>
            </a:r>
            <a:r>
              <a:rPr lang="en-US" sz="900" dirty="0">
                <a:solidFill>
                  <a:srgbClr val="859900"/>
                </a:solidFill>
                <a:latin typeface="Consolas" panose="020B0609020204030204" pitchFamily="49" charset="0"/>
              </a:rPr>
              <a:t>=</a:t>
            </a:r>
            <a:r>
              <a:rPr lang="en-US" sz="900" dirty="0">
                <a:solidFill>
                  <a:srgbClr val="657B83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268BD2"/>
                </a:solidFill>
                <a:latin typeface="Consolas" panose="020B0609020204030204" pitchFamily="49" charset="0"/>
              </a:rPr>
              <a:t>_32BitAnd</a:t>
            </a:r>
            <a:r>
              <a:rPr lang="en-US" sz="900" dirty="0">
                <a:solidFill>
                  <a:srgbClr val="657B83"/>
                </a:solidFill>
                <a:latin typeface="Consolas" panose="020B0609020204030204" pitchFamily="49" charset="0"/>
              </a:rPr>
              <a:t>(NOT_B, D1, NOT_B_AND_D, trash);</a:t>
            </a:r>
          </a:p>
          <a:p>
            <a:r>
              <a:rPr lang="en-US" sz="900" dirty="0" err="1">
                <a:solidFill>
                  <a:srgbClr val="268BD2"/>
                </a:solidFill>
                <a:latin typeface="Consolas" panose="020B0609020204030204" pitchFamily="49" charset="0"/>
              </a:rPr>
              <a:t>mfence</a:t>
            </a:r>
            <a:r>
              <a:rPr lang="en-US" sz="900" dirty="0">
                <a:solidFill>
                  <a:srgbClr val="657B83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900" dirty="0" err="1">
                <a:solidFill>
                  <a:srgbClr val="268BD2"/>
                </a:solidFill>
                <a:latin typeface="Consolas" panose="020B0609020204030204" pitchFamily="49" charset="0"/>
              </a:rPr>
              <a:t>lfence</a:t>
            </a:r>
            <a:r>
              <a:rPr lang="en-US" sz="900" dirty="0">
                <a:solidFill>
                  <a:srgbClr val="657B83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900" dirty="0">
                <a:solidFill>
                  <a:srgbClr val="657B83"/>
                </a:solidFill>
                <a:latin typeface="Consolas" panose="020B0609020204030204" pitchFamily="49" charset="0"/>
              </a:rPr>
              <a:t>trash </a:t>
            </a:r>
            <a:r>
              <a:rPr lang="en-US" sz="900" dirty="0">
                <a:solidFill>
                  <a:srgbClr val="859900"/>
                </a:solidFill>
                <a:latin typeface="Consolas" panose="020B0609020204030204" pitchFamily="49" charset="0"/>
              </a:rPr>
              <a:t>=</a:t>
            </a:r>
            <a:r>
              <a:rPr lang="en-US" sz="900" dirty="0">
                <a:solidFill>
                  <a:srgbClr val="657B83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268BD2"/>
                </a:solidFill>
                <a:latin typeface="Consolas" panose="020B0609020204030204" pitchFamily="49" charset="0"/>
              </a:rPr>
              <a:t>_32BitOr</a:t>
            </a:r>
            <a:r>
              <a:rPr lang="en-US" sz="900" dirty="0">
                <a:solidFill>
                  <a:srgbClr val="657B83"/>
                </a:solidFill>
                <a:latin typeface="Consolas" panose="020B0609020204030204" pitchFamily="49" charset="0"/>
              </a:rPr>
              <a:t>(B_AND_C, NOT_B_AND_D, B_AND_C_OR_NOT_B_AND_D, trash);</a:t>
            </a:r>
          </a:p>
          <a:p>
            <a:r>
              <a:rPr lang="en-US" sz="900" dirty="0" err="1">
                <a:solidFill>
                  <a:srgbClr val="268BD2"/>
                </a:solidFill>
                <a:latin typeface="Consolas" panose="020B0609020204030204" pitchFamily="49" charset="0"/>
              </a:rPr>
              <a:t>mfence</a:t>
            </a:r>
            <a:r>
              <a:rPr lang="en-US" sz="900" dirty="0">
                <a:solidFill>
                  <a:srgbClr val="657B83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900" dirty="0" err="1">
                <a:solidFill>
                  <a:srgbClr val="268BD2"/>
                </a:solidFill>
                <a:latin typeface="Consolas" panose="020B0609020204030204" pitchFamily="49" charset="0"/>
              </a:rPr>
              <a:t>lfence</a:t>
            </a:r>
            <a:r>
              <a:rPr lang="en-US" sz="900" dirty="0">
                <a:solidFill>
                  <a:srgbClr val="657B83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900" dirty="0">
                <a:solidFill>
                  <a:srgbClr val="657B83"/>
                </a:solidFill>
                <a:latin typeface="Consolas" panose="020B0609020204030204" pitchFamily="49" charset="0"/>
              </a:rPr>
              <a:t>trash </a:t>
            </a:r>
            <a:r>
              <a:rPr lang="en-US" sz="900" dirty="0">
                <a:solidFill>
                  <a:srgbClr val="859900"/>
                </a:solidFill>
                <a:latin typeface="Consolas" panose="020B0609020204030204" pitchFamily="49" charset="0"/>
              </a:rPr>
              <a:t>=</a:t>
            </a:r>
            <a:r>
              <a:rPr lang="en-US" sz="900" dirty="0">
                <a:solidFill>
                  <a:srgbClr val="657B83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268BD2"/>
                </a:solidFill>
                <a:latin typeface="Consolas" panose="020B0609020204030204" pitchFamily="49" charset="0"/>
              </a:rPr>
              <a:t>_32BitAdder_impl</a:t>
            </a:r>
            <a:r>
              <a:rPr lang="en-US" sz="900" dirty="0">
                <a:solidFill>
                  <a:srgbClr val="657B83"/>
                </a:solidFill>
                <a:latin typeface="Consolas" panose="020B0609020204030204" pitchFamily="49" charset="0"/>
              </a:rPr>
              <a:t>(A1, B_AND_C_OR_NOT_B_AND_D, SUM_1, WORDSIZE, trash);</a:t>
            </a:r>
          </a:p>
          <a:p>
            <a:r>
              <a:rPr lang="en-US" sz="900" dirty="0" err="1">
                <a:solidFill>
                  <a:srgbClr val="268BD2"/>
                </a:solidFill>
                <a:latin typeface="Consolas" panose="020B0609020204030204" pitchFamily="49" charset="0"/>
              </a:rPr>
              <a:t>mfence</a:t>
            </a:r>
            <a:r>
              <a:rPr lang="en-US" sz="900" dirty="0">
                <a:solidFill>
                  <a:srgbClr val="657B83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900" dirty="0" err="1">
                <a:solidFill>
                  <a:srgbClr val="268BD2"/>
                </a:solidFill>
                <a:latin typeface="Consolas" panose="020B0609020204030204" pitchFamily="49" charset="0"/>
              </a:rPr>
              <a:t>lfence</a:t>
            </a:r>
            <a:r>
              <a:rPr lang="en-US" sz="900" dirty="0">
                <a:solidFill>
                  <a:srgbClr val="657B83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900" dirty="0">
                <a:solidFill>
                  <a:srgbClr val="657B83"/>
                </a:solidFill>
                <a:latin typeface="Consolas" panose="020B0609020204030204" pitchFamily="49" charset="0"/>
              </a:rPr>
              <a:t>…</a:t>
            </a:r>
            <a:br>
              <a:rPr lang="en-US" sz="900" dirty="0">
                <a:solidFill>
                  <a:srgbClr val="657B83"/>
                </a:solidFill>
                <a:latin typeface="Consolas" panose="020B0609020204030204" pitchFamily="49" charset="0"/>
              </a:rPr>
            </a:br>
            <a:endParaRPr lang="en-US" sz="400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7FB2B496-C0CC-716E-C15F-2F3E6B069C19}"/>
              </a:ext>
            </a:extLst>
          </p:cNvPr>
          <p:cNvCxnSpPr/>
          <p:nvPr/>
        </p:nvCxnSpPr>
        <p:spPr>
          <a:xfrm>
            <a:off x="4323895" y="3170752"/>
            <a:ext cx="4962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69C9183-E586-338D-F9C5-EB76DE11077E}"/>
              </a:ext>
            </a:extLst>
          </p:cNvPr>
          <p:cNvSpPr txBox="1"/>
          <p:nvPr/>
        </p:nvSpPr>
        <p:spPr>
          <a:xfrm>
            <a:off x="1171731" y="4762299"/>
            <a:ext cx="23374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</a:t>
            </a:r>
            <a:r>
              <a:rPr lang="en-US" sz="1400" b="1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128 lines in total)</a:t>
            </a:r>
            <a:endParaRPr lang="en-US" dirty="0">
              <a:solidFill>
                <a:schemeClr val="accen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F8E9DD-4E34-1B04-43E3-6DC170844B2F}"/>
              </a:ext>
            </a:extLst>
          </p:cNvPr>
          <p:cNvSpPr txBox="1"/>
          <p:nvPr/>
        </p:nvSpPr>
        <p:spPr>
          <a:xfrm>
            <a:off x="5476671" y="4638874"/>
            <a:ext cx="23374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(21</a:t>
            </a:r>
            <a:r>
              <a:rPr lang="en-US" sz="1400" b="1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lines in total)</a:t>
            </a:r>
            <a:endParaRPr lang="en-US" dirty="0">
              <a:solidFill>
                <a:schemeClr val="accen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文字方塊 5">
            <a:extLst>
              <a:ext uri="{FF2B5EF4-FFF2-40B4-BE49-F238E27FC236}">
                <a16:creationId xmlns:a16="http://schemas.microsoft.com/office/drawing/2014/main" id="{E16294E1-ECF8-C038-AE76-775E06F55CDA}"/>
              </a:ext>
            </a:extLst>
          </p:cNvPr>
          <p:cNvSpPr txBox="1"/>
          <p:nvPr/>
        </p:nvSpPr>
        <p:spPr>
          <a:xfrm>
            <a:off x="6857635" y="3783953"/>
            <a:ext cx="2055424" cy="862369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txBody>
          <a:bodyPr wrap="square" tIns="91440" bIns="91440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ja-JP" altLang="en-US" dirty="0">
                <a:solidFill>
                  <a:schemeClr val="bg2"/>
                </a:solidFill>
                <a:latin typeface="Lato" panose="020F0502020204030203" pitchFamily="34" charset="0"/>
                <a:cs typeface="Lato" panose="020F0502020204030203" pitchFamily="34" charset="0"/>
              </a:rPr>
              <a:t>😇</a:t>
            </a:r>
            <a:r>
              <a:rPr lang="en-US" dirty="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No low-level details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✨ Optimizations!</a:t>
            </a:r>
          </a:p>
        </p:txBody>
      </p:sp>
    </p:spTree>
    <p:extLst>
      <p:ext uri="{BB962C8B-B14F-4D97-AF65-F5344CB8AC3E}">
        <p14:creationId xmlns:p14="http://schemas.microsoft.com/office/powerpoint/2010/main" val="1833738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/>
      <p:bldP spid="1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54C7C5-9896-D72A-31D3-81BE70328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UPX + Flexo: the first μWM binary packer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C9EFC2B-9ACB-2453-988D-04CBFA12569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23</a:t>
            </a:fld>
            <a:endParaRPr lang="zh-TW" altLang="en-US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F32AD1CF-2EAB-A53E-75E8-08BCF5362E92}"/>
              </a:ext>
            </a:extLst>
          </p:cNvPr>
          <p:cNvGrpSpPr/>
          <p:nvPr/>
        </p:nvGrpSpPr>
        <p:grpSpPr>
          <a:xfrm>
            <a:off x="967352" y="2168969"/>
            <a:ext cx="6965869" cy="1527324"/>
            <a:chOff x="966937" y="2168969"/>
            <a:chExt cx="6965869" cy="1527324"/>
          </a:xfrm>
        </p:grpSpPr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F984AC8D-59AA-A7B6-57FA-806F6F49DFFA}"/>
                </a:ext>
              </a:extLst>
            </p:cNvPr>
            <p:cNvSpPr txBox="1"/>
            <p:nvPr/>
          </p:nvSpPr>
          <p:spPr>
            <a:xfrm>
              <a:off x="5762307" y="2477252"/>
              <a:ext cx="7126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>
                <a:buClrTx/>
                <a:buFontTx/>
                <a:buNone/>
              </a:pPr>
              <a:r>
                <a:rPr lang="en-US" kern="1200" dirty="0">
                  <a:solidFill>
                    <a:schemeClr val="accent1"/>
                  </a:solidFill>
                  <a:latin typeface="Calibri" panose="020F0502020204030204"/>
                  <a:ea typeface="+mn-ea"/>
                  <a:cs typeface="+mn-cs"/>
                </a:rPr>
                <a:t>Pack</a:t>
              </a:r>
            </a:p>
          </p:txBody>
        </p: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8BC9893C-2D24-1EFA-A959-B91C7C050651}"/>
                </a:ext>
              </a:extLst>
            </p:cNvPr>
            <p:cNvSpPr txBox="1"/>
            <p:nvPr/>
          </p:nvSpPr>
          <p:spPr>
            <a:xfrm>
              <a:off x="5749723" y="2819989"/>
              <a:ext cx="7378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>
                <a:buClrTx/>
                <a:buFontTx/>
                <a:buNone/>
              </a:pPr>
              <a:r>
                <a:rPr lang="en-US" altLang="zh-TW" kern="1200" dirty="0">
                  <a:solidFill>
                    <a:schemeClr val="accent1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Unpack</a:t>
              </a:r>
              <a:endParaRPr lang="en-US" kern="1200" dirty="0">
                <a:solidFill>
                  <a:schemeClr val="accent1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7C1C44A3-6ECC-4C0C-0208-4F3536389D12}"/>
                </a:ext>
              </a:extLst>
            </p:cNvPr>
            <p:cNvSpPr txBox="1"/>
            <p:nvPr/>
          </p:nvSpPr>
          <p:spPr>
            <a:xfrm>
              <a:off x="2213929" y="2819989"/>
              <a:ext cx="10779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>
                <a:buClrTx/>
                <a:buFontTx/>
                <a:buNone/>
              </a:pPr>
              <a:r>
                <a:rPr lang="en-US" altLang="zh-TW" kern="1200" dirty="0">
                  <a:solidFill>
                    <a:schemeClr val="accent1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Decompress</a:t>
              </a:r>
              <a:endParaRPr lang="en-US" kern="1200" dirty="0">
                <a:solidFill>
                  <a:schemeClr val="accent1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B4C97016-BFA6-9F51-6D41-2BCC8DEE6E89}"/>
                </a:ext>
              </a:extLst>
            </p:cNvPr>
            <p:cNvSpPr txBox="1"/>
            <p:nvPr/>
          </p:nvSpPr>
          <p:spPr>
            <a:xfrm>
              <a:off x="2296183" y="2477252"/>
              <a:ext cx="9134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>
                <a:buClrTx/>
                <a:buFontTx/>
                <a:buNone/>
              </a:pPr>
              <a:r>
                <a:rPr lang="en-US" altLang="zh-TW" kern="1200" dirty="0">
                  <a:solidFill>
                    <a:schemeClr val="accent1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Compress</a:t>
              </a:r>
              <a:endParaRPr lang="en-US" kern="1200" dirty="0">
                <a:solidFill>
                  <a:schemeClr val="accent1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7" name="圖形 6">
              <a:extLst>
                <a:ext uri="{FF2B5EF4-FFF2-40B4-BE49-F238E27FC236}">
                  <a16:creationId xmlns:a16="http://schemas.microsoft.com/office/drawing/2014/main" id="{42330CD0-1DA7-2CE0-DEF0-66ABC14943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430272" y="2456479"/>
              <a:ext cx="443461" cy="517399"/>
            </a:xfrm>
            <a:prstGeom prst="rect">
              <a:avLst/>
            </a:prstGeom>
          </p:spPr>
        </p:pic>
        <p:pic>
          <p:nvPicPr>
            <p:cNvPr id="8" name="圖形 7">
              <a:extLst>
                <a:ext uri="{FF2B5EF4-FFF2-40B4-BE49-F238E27FC236}">
                  <a16:creationId xmlns:a16="http://schemas.microsoft.com/office/drawing/2014/main" id="{4039114B-CF2F-CD3A-F382-8D98A005B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rgbClr val="5B9BD5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756534" y="2203733"/>
              <a:ext cx="913466" cy="1162593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3DC1F009-B078-AADA-B213-2FE39E6232E4}"/>
                </a:ext>
              </a:extLst>
            </p:cNvPr>
            <p:cNvSpPr/>
            <p:nvPr/>
          </p:nvSpPr>
          <p:spPr>
            <a:xfrm>
              <a:off x="6826383" y="3054500"/>
              <a:ext cx="773766" cy="25058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  <p:txBody>
            <a:bodyPr wrap="none" lIns="0" rIns="0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UPX + WM</a:t>
              </a:r>
            </a:p>
          </p:txBody>
        </p:sp>
        <p:cxnSp>
          <p:nvCxnSpPr>
            <p:cNvPr id="10" name="直線單箭頭接點 9">
              <a:extLst>
                <a:ext uri="{FF2B5EF4-FFF2-40B4-BE49-F238E27FC236}">
                  <a16:creationId xmlns:a16="http://schemas.microsoft.com/office/drawing/2014/main" id="{E9097BF2-7C34-FDE6-133F-4C985D19D898}"/>
                </a:ext>
              </a:extLst>
            </p:cNvPr>
            <p:cNvCxnSpPr>
              <a:cxnSpLocks/>
            </p:cNvCxnSpPr>
            <p:nvPr/>
          </p:nvCxnSpPr>
          <p:spPr>
            <a:xfrm>
              <a:off x="2250005" y="2761216"/>
              <a:ext cx="971260" cy="0"/>
            </a:xfrm>
            <a:prstGeom prst="straightConnector1">
              <a:avLst/>
            </a:prstGeom>
            <a:noFill/>
            <a:ln w="28575" cap="flat" cmpd="sng" algn="ctr">
              <a:solidFill>
                <a:srgbClr val="4472C4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1" name="直線單箭頭接點 10">
              <a:extLst>
                <a:ext uri="{FF2B5EF4-FFF2-40B4-BE49-F238E27FC236}">
                  <a16:creationId xmlns:a16="http://schemas.microsoft.com/office/drawing/2014/main" id="{FAA7E071-6A41-E0B7-DD7B-0418E3D98978}"/>
                </a:ext>
              </a:extLst>
            </p:cNvPr>
            <p:cNvCxnSpPr>
              <a:cxnSpLocks/>
            </p:cNvCxnSpPr>
            <p:nvPr/>
          </p:nvCxnSpPr>
          <p:spPr>
            <a:xfrm>
              <a:off x="2250005" y="2842179"/>
              <a:ext cx="967484" cy="0"/>
            </a:xfrm>
            <a:prstGeom prst="straightConnector1">
              <a:avLst/>
            </a:prstGeom>
            <a:noFill/>
            <a:ln w="28575" cap="flat" cmpd="sng" algn="ctr">
              <a:solidFill>
                <a:srgbClr val="FFC000"/>
              </a:solidFill>
              <a:prstDash val="solid"/>
              <a:miter lim="800000"/>
              <a:headEnd type="triangle" w="med" len="med"/>
              <a:tailEnd type="none" w="med" len="med"/>
            </a:ln>
            <a:effectLst/>
          </p:spPr>
        </p:cxnSp>
        <p:cxnSp>
          <p:nvCxnSpPr>
            <p:cNvPr id="12" name="直線單箭頭接點 11">
              <a:extLst>
                <a:ext uri="{FF2B5EF4-FFF2-40B4-BE49-F238E27FC236}">
                  <a16:creationId xmlns:a16="http://schemas.microsoft.com/office/drawing/2014/main" id="{A889145F-7395-1E7E-EEBA-7CEDB06931BF}"/>
                </a:ext>
              </a:extLst>
            </p:cNvPr>
            <p:cNvCxnSpPr>
              <a:cxnSpLocks/>
            </p:cNvCxnSpPr>
            <p:nvPr/>
          </p:nvCxnSpPr>
          <p:spPr>
            <a:xfrm>
              <a:off x="5766853" y="2761216"/>
              <a:ext cx="708142" cy="0"/>
            </a:xfrm>
            <a:prstGeom prst="straightConnector1">
              <a:avLst/>
            </a:prstGeom>
            <a:noFill/>
            <a:ln w="28575" cap="flat" cmpd="sng" algn="ctr">
              <a:solidFill>
                <a:srgbClr val="4472C4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3" name="直線單箭頭接點 12">
              <a:extLst>
                <a:ext uri="{FF2B5EF4-FFF2-40B4-BE49-F238E27FC236}">
                  <a16:creationId xmlns:a16="http://schemas.microsoft.com/office/drawing/2014/main" id="{9F067C78-D491-BDA1-2B27-3B76560D04EE}"/>
                </a:ext>
              </a:extLst>
            </p:cNvPr>
            <p:cNvCxnSpPr>
              <a:cxnSpLocks/>
            </p:cNvCxnSpPr>
            <p:nvPr/>
          </p:nvCxnSpPr>
          <p:spPr>
            <a:xfrm>
              <a:off x="5766853" y="2842179"/>
              <a:ext cx="708142" cy="0"/>
            </a:xfrm>
            <a:prstGeom prst="straightConnector1">
              <a:avLst/>
            </a:prstGeom>
            <a:noFill/>
            <a:ln w="28575" cap="flat" cmpd="sng" algn="ctr">
              <a:solidFill>
                <a:srgbClr val="FFC000"/>
              </a:solidFill>
              <a:prstDash val="solid"/>
              <a:miter lim="800000"/>
              <a:headEnd type="triangle" w="med" len="med"/>
              <a:tailEnd type="none" w="med" len="med"/>
            </a:ln>
            <a:effectLst/>
          </p:spPr>
        </p:cxn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2F0E5D71-6F51-3A9A-04B8-288A9FD5AF36}"/>
                </a:ext>
              </a:extLst>
            </p:cNvPr>
            <p:cNvSpPr txBox="1"/>
            <p:nvPr/>
          </p:nvSpPr>
          <p:spPr>
            <a:xfrm>
              <a:off x="966937" y="3388516"/>
              <a:ext cx="12469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>
                <a:buClrTx/>
                <a:buFontTx/>
                <a:buNone/>
              </a:pPr>
              <a:r>
                <a:rPr lang="en-US" altLang="zh-TW" kern="1200" dirty="0">
                  <a:solidFill>
                    <a:schemeClr val="accent1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Input program</a:t>
              </a:r>
              <a:endParaRPr lang="en-US" kern="1200" dirty="0">
                <a:solidFill>
                  <a:schemeClr val="accent1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EDDFA3A3-9E27-7299-C503-3C1F5BC7B80C}"/>
                </a:ext>
              </a:extLst>
            </p:cNvPr>
            <p:cNvSpPr txBox="1"/>
            <p:nvPr/>
          </p:nvSpPr>
          <p:spPr>
            <a:xfrm>
              <a:off x="6493728" y="3386671"/>
              <a:ext cx="14390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>
                <a:buClrTx/>
                <a:buFontTx/>
                <a:buNone/>
              </a:pPr>
              <a:r>
                <a:rPr lang="en-US" altLang="zh-TW" kern="1200" dirty="0">
                  <a:solidFill>
                    <a:schemeClr val="accent1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Packed program</a:t>
              </a:r>
              <a:endParaRPr lang="en-US" kern="1200" dirty="0">
                <a:solidFill>
                  <a:schemeClr val="accent1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手繪多邊形: 圖案 17">
              <a:extLst>
                <a:ext uri="{FF2B5EF4-FFF2-40B4-BE49-F238E27FC236}">
                  <a16:creationId xmlns:a16="http://schemas.microsoft.com/office/drawing/2014/main" id="{B0DFD13D-CE44-9148-E4FC-F21BC764D4DA}"/>
                </a:ext>
              </a:extLst>
            </p:cNvPr>
            <p:cNvSpPr/>
            <p:nvPr/>
          </p:nvSpPr>
          <p:spPr>
            <a:xfrm>
              <a:off x="1116315" y="2223237"/>
              <a:ext cx="873897" cy="1123582"/>
            </a:xfrm>
            <a:custGeom>
              <a:avLst/>
              <a:gdLst>
                <a:gd name="connsiteX0" fmla="*/ 855614 w 873897"/>
                <a:gd name="connsiteY0" fmla="*/ 189786 h 1123582"/>
                <a:gd name="connsiteX1" fmla="*/ 684109 w 873897"/>
                <a:gd name="connsiteY1" fmla="*/ 18281 h 1123582"/>
                <a:gd name="connsiteX2" fmla="*/ 639971 w 873897"/>
                <a:gd name="connsiteY2" fmla="*/ 0 h 1123582"/>
                <a:gd name="connsiteX3" fmla="*/ 41615 w 873897"/>
                <a:gd name="connsiteY3" fmla="*/ 0 h 1123582"/>
                <a:gd name="connsiteX4" fmla="*/ 0 w 873897"/>
                <a:gd name="connsiteY4" fmla="*/ 41615 h 1123582"/>
                <a:gd name="connsiteX5" fmla="*/ 0 w 873897"/>
                <a:gd name="connsiteY5" fmla="*/ 1081968 h 1123582"/>
                <a:gd name="connsiteX6" fmla="*/ 41615 w 873897"/>
                <a:gd name="connsiteY6" fmla="*/ 1123583 h 1123582"/>
                <a:gd name="connsiteX7" fmla="*/ 832283 w 873897"/>
                <a:gd name="connsiteY7" fmla="*/ 1123583 h 1123582"/>
                <a:gd name="connsiteX8" fmla="*/ 873898 w 873897"/>
                <a:gd name="connsiteY8" fmla="*/ 1081968 h 1123582"/>
                <a:gd name="connsiteX9" fmla="*/ 873898 w 873897"/>
                <a:gd name="connsiteY9" fmla="*/ 233926 h 1123582"/>
                <a:gd name="connsiteX10" fmla="*/ 855614 w 873897"/>
                <a:gd name="connsiteY10" fmla="*/ 189786 h 1123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73897" h="1123582">
                  <a:moveTo>
                    <a:pt x="855614" y="189786"/>
                  </a:moveTo>
                  <a:lnTo>
                    <a:pt x="684109" y="18281"/>
                  </a:lnTo>
                  <a:cubicBezTo>
                    <a:pt x="672406" y="6574"/>
                    <a:pt x="656527" y="0"/>
                    <a:pt x="639971" y="0"/>
                  </a:cubicBezTo>
                  <a:lnTo>
                    <a:pt x="41615" y="0"/>
                  </a:lnTo>
                  <a:cubicBezTo>
                    <a:pt x="18633" y="0"/>
                    <a:pt x="0" y="18631"/>
                    <a:pt x="0" y="41615"/>
                  </a:cubicBezTo>
                  <a:lnTo>
                    <a:pt x="0" y="1081968"/>
                  </a:lnTo>
                  <a:cubicBezTo>
                    <a:pt x="0" y="1104949"/>
                    <a:pt x="18633" y="1123583"/>
                    <a:pt x="41615" y="1123583"/>
                  </a:cubicBezTo>
                  <a:lnTo>
                    <a:pt x="832283" y="1123583"/>
                  </a:lnTo>
                  <a:cubicBezTo>
                    <a:pt x="855264" y="1123583"/>
                    <a:pt x="873898" y="1104949"/>
                    <a:pt x="873898" y="1081968"/>
                  </a:cubicBezTo>
                  <a:lnTo>
                    <a:pt x="873898" y="233926"/>
                  </a:lnTo>
                  <a:cubicBezTo>
                    <a:pt x="873898" y="217373"/>
                    <a:pt x="867322" y="201494"/>
                    <a:pt x="855614" y="189786"/>
                  </a:cubicBezTo>
                  <a:close/>
                </a:path>
              </a:pathLst>
            </a:custGeom>
            <a:solidFill>
              <a:srgbClr val="FFC000">
                <a:lumMod val="60000"/>
                <a:lumOff val="40000"/>
              </a:srgbClr>
            </a:solidFill>
            <a:ln w="227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手繪多邊形: 圖案 18">
              <a:extLst>
                <a:ext uri="{FF2B5EF4-FFF2-40B4-BE49-F238E27FC236}">
                  <a16:creationId xmlns:a16="http://schemas.microsoft.com/office/drawing/2014/main" id="{0D48C03C-7134-B766-BF2D-BD09FD31DC47}"/>
                </a:ext>
              </a:extLst>
            </p:cNvPr>
            <p:cNvSpPr/>
            <p:nvPr/>
          </p:nvSpPr>
          <p:spPr>
            <a:xfrm>
              <a:off x="1741829" y="2233641"/>
              <a:ext cx="39012" cy="85829"/>
            </a:xfrm>
            <a:custGeom>
              <a:avLst/>
              <a:gdLst>
                <a:gd name="connsiteX0" fmla="*/ 0 w 39012"/>
                <a:gd name="connsiteY0" fmla="*/ 0 h 85829"/>
                <a:gd name="connsiteX1" fmla="*/ 39013 w 39012"/>
                <a:gd name="connsiteY1" fmla="*/ 0 h 85829"/>
                <a:gd name="connsiteX2" fmla="*/ 39013 w 39012"/>
                <a:gd name="connsiteY2" fmla="*/ 85830 h 85829"/>
                <a:gd name="connsiteX3" fmla="*/ 0 w 39012"/>
                <a:gd name="connsiteY3" fmla="*/ 85830 h 8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012" h="85829">
                  <a:moveTo>
                    <a:pt x="0" y="0"/>
                  </a:moveTo>
                  <a:lnTo>
                    <a:pt x="39013" y="0"/>
                  </a:lnTo>
                  <a:lnTo>
                    <a:pt x="39013" y="85830"/>
                  </a:lnTo>
                  <a:lnTo>
                    <a:pt x="0" y="85830"/>
                  </a:lnTo>
                  <a:close/>
                </a:path>
              </a:pathLst>
            </a:custGeom>
            <a:solidFill>
              <a:srgbClr val="FFC000">
                <a:lumMod val="75000"/>
              </a:srgbClr>
            </a:solidFill>
            <a:ln w="227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手繪多邊形: 圖案 19">
              <a:extLst>
                <a:ext uri="{FF2B5EF4-FFF2-40B4-BE49-F238E27FC236}">
                  <a16:creationId xmlns:a16="http://schemas.microsoft.com/office/drawing/2014/main" id="{95F68780-85D1-092E-F36C-50A14D591A9B}"/>
                </a:ext>
              </a:extLst>
            </p:cNvPr>
            <p:cNvSpPr/>
            <p:nvPr/>
          </p:nvSpPr>
          <p:spPr>
            <a:xfrm>
              <a:off x="1096810" y="2203732"/>
              <a:ext cx="912907" cy="1162593"/>
            </a:xfrm>
            <a:custGeom>
              <a:avLst/>
              <a:gdLst>
                <a:gd name="connsiteX0" fmla="*/ 888914 w 912907"/>
                <a:gd name="connsiteY0" fmla="*/ 195500 h 1162593"/>
                <a:gd name="connsiteX1" fmla="*/ 717408 w 912907"/>
                <a:gd name="connsiteY1" fmla="*/ 23994 h 1162593"/>
                <a:gd name="connsiteX2" fmla="*/ 659476 w 912907"/>
                <a:gd name="connsiteY2" fmla="*/ 0 h 1162593"/>
                <a:gd name="connsiteX3" fmla="*/ 61120 w 912907"/>
                <a:gd name="connsiteY3" fmla="*/ 0 h 1162593"/>
                <a:gd name="connsiteX4" fmla="*/ 0 w 912907"/>
                <a:gd name="connsiteY4" fmla="*/ 61120 h 1162593"/>
                <a:gd name="connsiteX5" fmla="*/ 0 w 912907"/>
                <a:gd name="connsiteY5" fmla="*/ 1101473 h 1162593"/>
                <a:gd name="connsiteX6" fmla="*/ 61120 w 912907"/>
                <a:gd name="connsiteY6" fmla="*/ 1162593 h 1162593"/>
                <a:gd name="connsiteX7" fmla="*/ 851788 w 912907"/>
                <a:gd name="connsiteY7" fmla="*/ 1162593 h 1162593"/>
                <a:gd name="connsiteX8" fmla="*/ 912908 w 912907"/>
                <a:gd name="connsiteY8" fmla="*/ 1101473 h 1162593"/>
                <a:gd name="connsiteX9" fmla="*/ 912908 w 912907"/>
                <a:gd name="connsiteY9" fmla="*/ 253432 h 1162593"/>
                <a:gd name="connsiteX10" fmla="*/ 888914 w 912907"/>
                <a:gd name="connsiteY10" fmla="*/ 195500 h 1162593"/>
                <a:gd name="connsiteX11" fmla="*/ 851788 w 912907"/>
                <a:gd name="connsiteY11" fmla="*/ 1123580 h 1162593"/>
                <a:gd name="connsiteX12" fmla="*/ 61120 w 912907"/>
                <a:gd name="connsiteY12" fmla="*/ 1123580 h 1162593"/>
                <a:gd name="connsiteX13" fmla="*/ 39013 w 912907"/>
                <a:gd name="connsiteY13" fmla="*/ 1101473 h 1162593"/>
                <a:gd name="connsiteX14" fmla="*/ 39013 w 912907"/>
                <a:gd name="connsiteY14" fmla="*/ 61120 h 1162593"/>
                <a:gd name="connsiteX15" fmla="*/ 61120 w 912907"/>
                <a:gd name="connsiteY15" fmla="*/ 39013 h 1162593"/>
                <a:gd name="connsiteX16" fmla="*/ 659476 w 912907"/>
                <a:gd name="connsiteY16" fmla="*/ 39013 h 1162593"/>
                <a:gd name="connsiteX17" fmla="*/ 689822 w 912907"/>
                <a:gd name="connsiteY17" fmla="*/ 51583 h 1162593"/>
                <a:gd name="connsiteX18" fmla="*/ 861327 w 912907"/>
                <a:gd name="connsiteY18" fmla="*/ 223088 h 1162593"/>
                <a:gd name="connsiteX19" fmla="*/ 866145 w 912907"/>
                <a:gd name="connsiteY19" fmla="*/ 228879 h 1162593"/>
                <a:gd name="connsiteX20" fmla="*/ 706139 w 912907"/>
                <a:gd name="connsiteY20" fmla="*/ 228879 h 1162593"/>
                <a:gd name="connsiteX21" fmla="*/ 684032 w 912907"/>
                <a:gd name="connsiteY21" fmla="*/ 206771 h 1162593"/>
                <a:gd name="connsiteX22" fmla="*/ 684032 w 912907"/>
                <a:gd name="connsiteY22" fmla="*/ 102735 h 1162593"/>
                <a:gd name="connsiteX23" fmla="*/ 664524 w 912907"/>
                <a:gd name="connsiteY23" fmla="*/ 83228 h 1162593"/>
                <a:gd name="connsiteX24" fmla="*/ 645017 w 912907"/>
                <a:gd name="connsiteY24" fmla="*/ 102735 h 1162593"/>
                <a:gd name="connsiteX25" fmla="*/ 645017 w 912907"/>
                <a:gd name="connsiteY25" fmla="*/ 206769 h 1162593"/>
                <a:gd name="connsiteX26" fmla="*/ 706137 w 912907"/>
                <a:gd name="connsiteY26" fmla="*/ 267889 h 1162593"/>
                <a:gd name="connsiteX27" fmla="*/ 873893 w 912907"/>
                <a:gd name="connsiteY27" fmla="*/ 267889 h 1162593"/>
                <a:gd name="connsiteX28" fmla="*/ 873893 w 912907"/>
                <a:gd name="connsiteY28" fmla="*/ 1101471 h 1162593"/>
                <a:gd name="connsiteX29" fmla="*/ 851788 w 912907"/>
                <a:gd name="connsiteY29" fmla="*/ 1123580 h 1162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912907" h="1162593">
                  <a:moveTo>
                    <a:pt x="888914" y="195500"/>
                  </a:moveTo>
                  <a:lnTo>
                    <a:pt x="717408" y="23994"/>
                  </a:lnTo>
                  <a:cubicBezTo>
                    <a:pt x="701934" y="8520"/>
                    <a:pt x="681359" y="0"/>
                    <a:pt x="659476" y="0"/>
                  </a:cubicBezTo>
                  <a:lnTo>
                    <a:pt x="61120" y="0"/>
                  </a:lnTo>
                  <a:cubicBezTo>
                    <a:pt x="27419" y="0"/>
                    <a:pt x="0" y="27419"/>
                    <a:pt x="0" y="61120"/>
                  </a:cubicBezTo>
                  <a:lnTo>
                    <a:pt x="0" y="1101473"/>
                  </a:lnTo>
                  <a:cubicBezTo>
                    <a:pt x="0" y="1135174"/>
                    <a:pt x="27419" y="1162593"/>
                    <a:pt x="61120" y="1162593"/>
                  </a:cubicBezTo>
                  <a:lnTo>
                    <a:pt x="851788" y="1162593"/>
                  </a:lnTo>
                  <a:cubicBezTo>
                    <a:pt x="885489" y="1162593"/>
                    <a:pt x="912908" y="1135174"/>
                    <a:pt x="912908" y="1101473"/>
                  </a:cubicBezTo>
                  <a:lnTo>
                    <a:pt x="912908" y="253432"/>
                  </a:lnTo>
                  <a:cubicBezTo>
                    <a:pt x="912908" y="231549"/>
                    <a:pt x="904388" y="210977"/>
                    <a:pt x="888914" y="195500"/>
                  </a:cubicBezTo>
                  <a:close/>
                  <a:moveTo>
                    <a:pt x="851788" y="1123580"/>
                  </a:moveTo>
                  <a:lnTo>
                    <a:pt x="61120" y="1123580"/>
                  </a:lnTo>
                  <a:cubicBezTo>
                    <a:pt x="48929" y="1123580"/>
                    <a:pt x="39013" y="1113664"/>
                    <a:pt x="39013" y="1101473"/>
                  </a:cubicBezTo>
                  <a:lnTo>
                    <a:pt x="39013" y="61120"/>
                  </a:lnTo>
                  <a:cubicBezTo>
                    <a:pt x="39013" y="48929"/>
                    <a:pt x="48929" y="39013"/>
                    <a:pt x="61120" y="39013"/>
                  </a:cubicBezTo>
                  <a:lnTo>
                    <a:pt x="659476" y="39013"/>
                  </a:lnTo>
                  <a:cubicBezTo>
                    <a:pt x="670939" y="39013"/>
                    <a:pt x="681716" y="43477"/>
                    <a:pt x="689822" y="51583"/>
                  </a:cubicBezTo>
                  <a:lnTo>
                    <a:pt x="861327" y="223088"/>
                  </a:lnTo>
                  <a:cubicBezTo>
                    <a:pt x="863128" y="224889"/>
                    <a:pt x="864715" y="226837"/>
                    <a:pt x="866145" y="228879"/>
                  </a:cubicBezTo>
                  <a:lnTo>
                    <a:pt x="706139" y="228879"/>
                  </a:lnTo>
                  <a:cubicBezTo>
                    <a:pt x="693948" y="228879"/>
                    <a:pt x="684032" y="218963"/>
                    <a:pt x="684032" y="206771"/>
                  </a:cubicBezTo>
                  <a:lnTo>
                    <a:pt x="684032" y="102735"/>
                  </a:lnTo>
                  <a:cubicBezTo>
                    <a:pt x="684032" y="91961"/>
                    <a:pt x="675301" y="83228"/>
                    <a:pt x="664524" y="83228"/>
                  </a:cubicBezTo>
                  <a:cubicBezTo>
                    <a:pt x="653747" y="83228"/>
                    <a:pt x="645017" y="91958"/>
                    <a:pt x="645017" y="102735"/>
                  </a:cubicBezTo>
                  <a:lnTo>
                    <a:pt x="645017" y="206769"/>
                  </a:lnTo>
                  <a:cubicBezTo>
                    <a:pt x="645017" y="240471"/>
                    <a:pt x="672435" y="267889"/>
                    <a:pt x="706137" y="267889"/>
                  </a:cubicBezTo>
                  <a:lnTo>
                    <a:pt x="873893" y="267889"/>
                  </a:lnTo>
                  <a:lnTo>
                    <a:pt x="873893" y="1101471"/>
                  </a:lnTo>
                  <a:cubicBezTo>
                    <a:pt x="873895" y="1113662"/>
                    <a:pt x="863977" y="1123580"/>
                    <a:pt x="851788" y="1123580"/>
                  </a:cubicBezTo>
                  <a:close/>
                </a:path>
              </a:pathLst>
            </a:custGeom>
            <a:solidFill>
              <a:srgbClr val="000000"/>
            </a:solidFill>
            <a:ln w="227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7200">
                <a:buClrTx/>
                <a:buFontTx/>
                <a:buNone/>
              </a:pPr>
              <a:endParaRPr lang="en-US" sz="18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1FE86717-3865-3A62-B86A-EB8E0D0059B8}"/>
                </a:ext>
              </a:extLst>
            </p:cNvPr>
            <p:cNvSpPr txBox="1"/>
            <p:nvPr/>
          </p:nvSpPr>
          <p:spPr>
            <a:xfrm>
              <a:off x="1008196" y="2549791"/>
              <a:ext cx="107797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>
                <a:buClrTx/>
                <a:buFontTx/>
                <a:buNone/>
              </a:pPr>
              <a:r>
                <a:rPr lang="en-US" sz="3200" b="1" kern="1200" dirty="0">
                  <a:solidFill>
                    <a:prstClr val="black"/>
                  </a:solidFill>
                  <a:latin typeface="UD Digi Kyokasho N-B" panose="02020700000000000000" pitchFamily="17" charset="-128"/>
                  <a:ea typeface="UD Digi Kyokasho N-B" panose="02020700000000000000" pitchFamily="17" charset="-128"/>
                  <a:cs typeface="+mn-cs"/>
                </a:rPr>
                <a:t>&lt;/&gt;</a:t>
              </a:r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5AE38EDB-17DA-19C4-A32D-4FA147873C75}"/>
                </a:ext>
              </a:extLst>
            </p:cNvPr>
            <p:cNvSpPr txBox="1"/>
            <p:nvPr/>
          </p:nvSpPr>
          <p:spPr>
            <a:xfrm>
              <a:off x="3718236" y="2819989"/>
              <a:ext cx="13639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>
                <a:buClrTx/>
                <a:buFontTx/>
                <a:buNone/>
              </a:pPr>
              <a:r>
                <a:rPr lang="en-US" altLang="zh-TW" kern="1200" dirty="0">
                  <a:solidFill>
                    <a:schemeClr val="accent1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Decrypt</a:t>
              </a:r>
            </a:p>
            <a:p>
              <a:pPr algn="ctr" defTabSz="457200">
                <a:buClrTx/>
                <a:buFontTx/>
                <a:buNone/>
              </a:pPr>
              <a:r>
                <a:rPr lang="en-US" kern="1200" dirty="0">
                  <a:solidFill>
                    <a:schemeClr val="accent1"/>
                  </a:solidFill>
                  <a:latin typeface="Calibri" panose="020F0502020204030204"/>
                  <a:ea typeface="+mn-ea"/>
                  <a:cs typeface="+mn-cs"/>
                </a:rPr>
                <a:t>(Using </a:t>
              </a:r>
              <a:r>
                <a:rPr lang="en-US" kern="1200" dirty="0" err="1">
                  <a:solidFill>
                    <a:schemeClr val="accent1"/>
                  </a:solidFill>
                  <a:latin typeface="Calibri" panose="020F0502020204030204"/>
                  <a:ea typeface="+mn-ea"/>
                  <a:cs typeface="+mn-cs"/>
                </a:rPr>
                <a:t>Flexo</a:t>
              </a:r>
              <a:r>
                <a:rPr lang="en-US" kern="1200" dirty="0">
                  <a:solidFill>
                    <a:schemeClr val="accent1"/>
                  </a:solidFill>
                  <a:latin typeface="Calibri" panose="020F0502020204030204"/>
                  <a:ea typeface="+mn-ea"/>
                  <a:cs typeface="+mn-cs"/>
                </a:rPr>
                <a:t>)</a:t>
              </a:r>
            </a:p>
          </p:txBody>
        </p: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31EEAD4F-F1F9-472C-3993-A3F72EA6058E}"/>
                </a:ext>
              </a:extLst>
            </p:cNvPr>
            <p:cNvSpPr txBox="1"/>
            <p:nvPr/>
          </p:nvSpPr>
          <p:spPr>
            <a:xfrm>
              <a:off x="3940800" y="2477252"/>
              <a:ext cx="9134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>
                <a:buClrTx/>
                <a:buFontTx/>
                <a:buNone/>
              </a:pPr>
              <a:r>
                <a:rPr lang="en-US" altLang="zh-TW" kern="1200" dirty="0">
                  <a:solidFill>
                    <a:schemeClr val="accent1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Encrypt</a:t>
              </a:r>
              <a:endParaRPr lang="en-US" kern="1200" dirty="0">
                <a:solidFill>
                  <a:schemeClr val="accent1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4" name="直線單箭頭接點 23">
              <a:extLst>
                <a:ext uri="{FF2B5EF4-FFF2-40B4-BE49-F238E27FC236}">
                  <a16:creationId xmlns:a16="http://schemas.microsoft.com/office/drawing/2014/main" id="{AD6A7130-0446-D524-62C1-DB45B1A7AF6F}"/>
                </a:ext>
              </a:extLst>
            </p:cNvPr>
            <p:cNvCxnSpPr>
              <a:cxnSpLocks/>
            </p:cNvCxnSpPr>
            <p:nvPr/>
          </p:nvCxnSpPr>
          <p:spPr>
            <a:xfrm>
              <a:off x="4005659" y="2761216"/>
              <a:ext cx="790427" cy="0"/>
            </a:xfrm>
            <a:prstGeom prst="straightConnector1">
              <a:avLst/>
            </a:prstGeom>
            <a:noFill/>
            <a:ln w="28575" cap="flat" cmpd="sng" algn="ctr">
              <a:solidFill>
                <a:srgbClr val="4472C4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25" name="直線單箭頭接點 24">
              <a:extLst>
                <a:ext uri="{FF2B5EF4-FFF2-40B4-BE49-F238E27FC236}">
                  <a16:creationId xmlns:a16="http://schemas.microsoft.com/office/drawing/2014/main" id="{C7219A67-1B69-BE02-2A10-B5CF250C1183}"/>
                </a:ext>
              </a:extLst>
            </p:cNvPr>
            <p:cNvCxnSpPr>
              <a:cxnSpLocks/>
            </p:cNvCxnSpPr>
            <p:nvPr/>
          </p:nvCxnSpPr>
          <p:spPr>
            <a:xfrm>
              <a:off x="4005659" y="2842179"/>
              <a:ext cx="790427" cy="0"/>
            </a:xfrm>
            <a:prstGeom prst="straightConnector1">
              <a:avLst/>
            </a:prstGeom>
            <a:noFill/>
            <a:ln w="28575" cap="flat" cmpd="sng" algn="ctr">
              <a:solidFill>
                <a:srgbClr val="FFC000"/>
              </a:solidFill>
              <a:prstDash val="solid"/>
              <a:miter lim="800000"/>
              <a:headEnd type="triangle" w="med" len="med"/>
              <a:tailEnd type="none" w="med" len="med"/>
            </a:ln>
            <a:effectLst/>
          </p:spPr>
        </p:cxn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BB6D0A9F-C406-5D4A-3875-D9A14AE7027B}"/>
                </a:ext>
              </a:extLst>
            </p:cNvPr>
            <p:cNvSpPr/>
            <p:nvPr/>
          </p:nvSpPr>
          <p:spPr>
            <a:xfrm>
              <a:off x="4977948" y="2809372"/>
              <a:ext cx="550284" cy="201594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  <p:txBody>
            <a:bodyPr wrap="none" lIns="0" rIns="0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chksum</a:t>
              </a:r>
              <a:endPara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46823ABA-2E61-0048-8335-F66B2A1B1819}"/>
                </a:ext>
              </a:extLst>
            </p:cNvPr>
            <p:cNvSpPr/>
            <p:nvPr/>
          </p:nvSpPr>
          <p:spPr>
            <a:xfrm>
              <a:off x="6933556" y="2818967"/>
              <a:ext cx="550284" cy="201594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  <p:txBody>
            <a:bodyPr wrap="none" lIns="0" rIns="0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chksum</a:t>
              </a:r>
              <a:endPara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8" name="群組 27">
              <a:extLst>
                <a:ext uri="{FF2B5EF4-FFF2-40B4-BE49-F238E27FC236}">
                  <a16:creationId xmlns:a16="http://schemas.microsoft.com/office/drawing/2014/main" id="{EB44B78A-79AC-A589-0D30-C0FB30496C15}"/>
                </a:ext>
              </a:extLst>
            </p:cNvPr>
            <p:cNvGrpSpPr/>
            <p:nvPr/>
          </p:nvGrpSpPr>
          <p:grpSpPr>
            <a:xfrm>
              <a:off x="5049804" y="2276858"/>
              <a:ext cx="406538" cy="517436"/>
              <a:chOff x="3299394" y="98526"/>
              <a:chExt cx="406538" cy="517436"/>
            </a:xfrm>
          </p:grpSpPr>
          <p:grpSp>
            <p:nvGrpSpPr>
              <p:cNvPr id="29" name="圖形 149">
                <a:extLst>
                  <a:ext uri="{FF2B5EF4-FFF2-40B4-BE49-F238E27FC236}">
                    <a16:creationId xmlns:a16="http://schemas.microsoft.com/office/drawing/2014/main" id="{BEAB0F07-D0F3-7C97-35C7-FF2B783A71B3}"/>
                  </a:ext>
                </a:extLst>
              </p:cNvPr>
              <p:cNvGrpSpPr/>
              <p:nvPr/>
            </p:nvGrpSpPr>
            <p:grpSpPr>
              <a:xfrm>
                <a:off x="3299394" y="98526"/>
                <a:ext cx="406538" cy="517436"/>
                <a:chOff x="3814617" y="278146"/>
                <a:chExt cx="406538" cy="517436"/>
              </a:xfrm>
            </p:grpSpPr>
            <p:sp>
              <p:nvSpPr>
                <p:cNvPr id="31" name="手繪多邊形: 圖案 30">
                  <a:extLst>
                    <a:ext uri="{FF2B5EF4-FFF2-40B4-BE49-F238E27FC236}">
                      <a16:creationId xmlns:a16="http://schemas.microsoft.com/office/drawing/2014/main" id="{FD1D5471-5214-684A-5416-3957E4F2B5AB}"/>
                    </a:ext>
                  </a:extLst>
                </p:cNvPr>
                <p:cNvSpPr/>
                <p:nvPr/>
              </p:nvSpPr>
              <p:spPr>
                <a:xfrm>
                  <a:off x="4101051" y="288925"/>
                  <a:ext cx="110865" cy="129349"/>
                </a:xfrm>
                <a:custGeom>
                  <a:avLst/>
                  <a:gdLst>
                    <a:gd name="connsiteX0" fmla="*/ 110865 w 110865"/>
                    <a:gd name="connsiteY0" fmla="*/ 129350 h 129349"/>
                    <a:gd name="connsiteX1" fmla="*/ 36955 w 110865"/>
                    <a:gd name="connsiteY1" fmla="*/ 129350 h 129349"/>
                    <a:gd name="connsiteX2" fmla="*/ 0 w 110865"/>
                    <a:gd name="connsiteY2" fmla="*/ 86233 h 129349"/>
                    <a:gd name="connsiteX3" fmla="*/ 0 w 110865"/>
                    <a:gd name="connsiteY3" fmla="*/ 0 h 1293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0865" h="129349">
                      <a:moveTo>
                        <a:pt x="110865" y="129350"/>
                      </a:moveTo>
                      <a:lnTo>
                        <a:pt x="36955" y="129350"/>
                      </a:lnTo>
                      <a:cubicBezTo>
                        <a:pt x="16546" y="129350"/>
                        <a:pt x="0" y="110045"/>
                        <a:pt x="0" y="86233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D7D31">
                    <a:lumMod val="75000"/>
                  </a:srgbClr>
                </a:solidFill>
                <a:ln w="912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手繪多邊形: 圖案 31">
                  <a:extLst>
                    <a:ext uri="{FF2B5EF4-FFF2-40B4-BE49-F238E27FC236}">
                      <a16:creationId xmlns:a16="http://schemas.microsoft.com/office/drawing/2014/main" id="{518DB8A1-68FC-E0CF-FB4C-17126910D9A0}"/>
                    </a:ext>
                  </a:extLst>
                </p:cNvPr>
                <p:cNvSpPr/>
                <p:nvPr/>
              </p:nvSpPr>
              <p:spPr>
                <a:xfrm>
                  <a:off x="3823888" y="288925"/>
                  <a:ext cx="388028" cy="495840"/>
                </a:xfrm>
                <a:custGeom>
                  <a:avLst/>
                  <a:gdLst>
                    <a:gd name="connsiteX0" fmla="*/ 388028 w 388028"/>
                    <a:gd name="connsiteY0" fmla="*/ 129350 h 495840"/>
                    <a:gd name="connsiteX1" fmla="*/ 388028 w 388028"/>
                    <a:gd name="connsiteY1" fmla="*/ 452724 h 495840"/>
                    <a:gd name="connsiteX2" fmla="*/ 351073 w 388028"/>
                    <a:gd name="connsiteY2" fmla="*/ 495841 h 495840"/>
                    <a:gd name="connsiteX3" fmla="*/ 36955 w 388028"/>
                    <a:gd name="connsiteY3" fmla="*/ 495841 h 495840"/>
                    <a:gd name="connsiteX4" fmla="*/ 0 w 388028"/>
                    <a:gd name="connsiteY4" fmla="*/ 452724 h 495840"/>
                    <a:gd name="connsiteX5" fmla="*/ 0 w 388028"/>
                    <a:gd name="connsiteY5" fmla="*/ 43117 h 495840"/>
                    <a:gd name="connsiteX6" fmla="*/ 36955 w 388028"/>
                    <a:gd name="connsiteY6" fmla="*/ 0 h 495840"/>
                    <a:gd name="connsiteX7" fmla="*/ 277163 w 388028"/>
                    <a:gd name="connsiteY7" fmla="*/ 0 h 495840"/>
                    <a:gd name="connsiteX8" fmla="*/ 277163 w 388028"/>
                    <a:gd name="connsiteY8" fmla="*/ 86233 h 495840"/>
                    <a:gd name="connsiteX9" fmla="*/ 314118 w 388028"/>
                    <a:gd name="connsiteY9" fmla="*/ 129350 h 495840"/>
                    <a:gd name="connsiteX10" fmla="*/ 388028 w 388028"/>
                    <a:gd name="connsiteY10" fmla="*/ 129350 h 4958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88028" h="495840">
                      <a:moveTo>
                        <a:pt x="388028" y="129350"/>
                      </a:moveTo>
                      <a:lnTo>
                        <a:pt x="388028" y="452724"/>
                      </a:lnTo>
                      <a:cubicBezTo>
                        <a:pt x="388028" y="476536"/>
                        <a:pt x="371483" y="495841"/>
                        <a:pt x="351073" y="495841"/>
                      </a:cubicBezTo>
                      <a:lnTo>
                        <a:pt x="36955" y="495841"/>
                      </a:lnTo>
                      <a:cubicBezTo>
                        <a:pt x="0" y="495841"/>
                        <a:pt x="0" y="452724"/>
                        <a:pt x="0" y="452724"/>
                      </a:cubicBezTo>
                      <a:lnTo>
                        <a:pt x="0" y="43117"/>
                      </a:lnTo>
                      <a:cubicBezTo>
                        <a:pt x="0" y="19304"/>
                        <a:pt x="16545" y="0"/>
                        <a:pt x="36955" y="0"/>
                      </a:cubicBezTo>
                      <a:lnTo>
                        <a:pt x="277163" y="0"/>
                      </a:lnTo>
                      <a:lnTo>
                        <a:pt x="277163" y="86233"/>
                      </a:lnTo>
                      <a:cubicBezTo>
                        <a:pt x="277163" y="110045"/>
                        <a:pt x="293709" y="129350"/>
                        <a:pt x="314118" y="129350"/>
                      </a:cubicBezTo>
                      <a:lnTo>
                        <a:pt x="388028" y="129350"/>
                      </a:lnTo>
                      <a:close/>
                    </a:path>
                  </a:pathLst>
                </a:custGeom>
                <a:solidFill>
                  <a:srgbClr val="ED7D31">
                    <a:lumMod val="60000"/>
                    <a:lumOff val="40000"/>
                  </a:srgbClr>
                </a:solidFill>
                <a:ln w="912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33" name="圖形 149">
                  <a:extLst>
                    <a:ext uri="{FF2B5EF4-FFF2-40B4-BE49-F238E27FC236}">
                      <a16:creationId xmlns:a16="http://schemas.microsoft.com/office/drawing/2014/main" id="{BCFE387A-8BD5-FEC9-60ED-BC43419661D5}"/>
                    </a:ext>
                  </a:extLst>
                </p:cNvPr>
                <p:cNvGrpSpPr/>
                <p:nvPr/>
              </p:nvGrpSpPr>
              <p:grpSpPr>
                <a:xfrm>
                  <a:off x="3814617" y="278146"/>
                  <a:ext cx="406538" cy="517436"/>
                  <a:chOff x="3814617" y="278146"/>
                  <a:chExt cx="406538" cy="517436"/>
                </a:xfrm>
              </p:grpSpPr>
              <p:sp>
                <p:nvSpPr>
                  <p:cNvPr id="34" name="手繪多邊形: 圖案 33">
                    <a:extLst>
                      <a:ext uri="{FF2B5EF4-FFF2-40B4-BE49-F238E27FC236}">
                        <a16:creationId xmlns:a16="http://schemas.microsoft.com/office/drawing/2014/main" id="{24730FC5-0FD0-C653-4AF1-BD3262D786AD}"/>
                      </a:ext>
                    </a:extLst>
                  </p:cNvPr>
                  <p:cNvSpPr/>
                  <p:nvPr/>
                </p:nvSpPr>
                <p:spPr>
                  <a:xfrm>
                    <a:off x="3916271" y="579962"/>
                    <a:ext cx="55440" cy="43121"/>
                  </a:xfrm>
                  <a:custGeom>
                    <a:avLst/>
                    <a:gdLst>
                      <a:gd name="connsiteX0" fmla="*/ 4 w 55440"/>
                      <a:gd name="connsiteY0" fmla="*/ 0 h 43121"/>
                      <a:gd name="connsiteX1" fmla="*/ 55437 w 55440"/>
                      <a:gd name="connsiteY1" fmla="*/ 0 h 43121"/>
                      <a:gd name="connsiteX2" fmla="*/ 55437 w 55440"/>
                      <a:gd name="connsiteY2" fmla="*/ 21558 h 43121"/>
                      <a:gd name="connsiteX3" fmla="*/ 37725 w 55440"/>
                      <a:gd name="connsiteY3" fmla="*/ 43117 h 43121"/>
                      <a:gd name="connsiteX4" fmla="*/ 36959 w 55440"/>
                      <a:gd name="connsiteY4" fmla="*/ 43117 h 43121"/>
                      <a:gd name="connsiteX5" fmla="*/ 18482 w 55440"/>
                      <a:gd name="connsiteY5" fmla="*/ 43117 h 43121"/>
                      <a:gd name="connsiteX6" fmla="*/ 4 w 55440"/>
                      <a:gd name="connsiteY6" fmla="*/ 22452 h 43121"/>
                      <a:gd name="connsiteX7" fmla="*/ 4 w 55440"/>
                      <a:gd name="connsiteY7" fmla="*/ 21558 h 431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55440" h="43121">
                        <a:moveTo>
                          <a:pt x="4" y="0"/>
                        </a:moveTo>
                        <a:lnTo>
                          <a:pt x="55437" y="0"/>
                        </a:lnTo>
                        <a:lnTo>
                          <a:pt x="55437" y="21558"/>
                        </a:lnTo>
                        <a:cubicBezTo>
                          <a:pt x="55648" y="33218"/>
                          <a:pt x="47719" y="42870"/>
                          <a:pt x="37725" y="43117"/>
                        </a:cubicBezTo>
                        <a:cubicBezTo>
                          <a:pt x="37470" y="43123"/>
                          <a:pt x="37214" y="43123"/>
                          <a:pt x="36959" y="43117"/>
                        </a:cubicBezTo>
                        <a:lnTo>
                          <a:pt x="18482" y="43117"/>
                        </a:lnTo>
                        <a:cubicBezTo>
                          <a:pt x="8488" y="43363"/>
                          <a:pt x="216" y="34112"/>
                          <a:pt x="4" y="22452"/>
                        </a:cubicBezTo>
                        <a:cubicBezTo>
                          <a:pt x="-1" y="22154"/>
                          <a:pt x="-1" y="21856"/>
                          <a:pt x="4" y="21558"/>
                        </a:cubicBezTo>
                        <a:close/>
                      </a:path>
                    </a:pathLst>
                  </a:custGeom>
                  <a:solidFill>
                    <a:srgbClr val="A4B0C0"/>
                  </a:solidFill>
                  <a:ln w="912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defTabSz="4572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5" name="手繪多邊形: 圖案 34">
                    <a:extLst>
                      <a:ext uri="{FF2B5EF4-FFF2-40B4-BE49-F238E27FC236}">
                        <a16:creationId xmlns:a16="http://schemas.microsoft.com/office/drawing/2014/main" id="{933D915A-4E18-71FB-7E87-9F760DF7D0F3}"/>
                      </a:ext>
                    </a:extLst>
                  </p:cNvPr>
                  <p:cNvSpPr/>
                  <p:nvPr/>
                </p:nvSpPr>
                <p:spPr>
                  <a:xfrm>
                    <a:off x="3916276" y="526061"/>
                    <a:ext cx="55436" cy="53900"/>
                  </a:xfrm>
                  <a:custGeom>
                    <a:avLst/>
                    <a:gdLst>
                      <a:gd name="connsiteX0" fmla="*/ 55433 w 55436"/>
                      <a:gd name="connsiteY0" fmla="*/ 21563 h 53900"/>
                      <a:gd name="connsiteX1" fmla="*/ 55433 w 55436"/>
                      <a:gd name="connsiteY1" fmla="*/ 53901 h 53900"/>
                      <a:gd name="connsiteX2" fmla="*/ 0 w 55436"/>
                      <a:gd name="connsiteY2" fmla="*/ 53901 h 53900"/>
                      <a:gd name="connsiteX3" fmla="*/ 0 w 55436"/>
                      <a:gd name="connsiteY3" fmla="*/ 5 h 53900"/>
                      <a:gd name="connsiteX4" fmla="*/ 36955 w 55436"/>
                      <a:gd name="connsiteY4" fmla="*/ 5 h 53900"/>
                      <a:gd name="connsiteX5" fmla="*/ 55433 w 55436"/>
                      <a:gd name="connsiteY5" fmla="*/ 20670 h 53900"/>
                      <a:gd name="connsiteX6" fmla="*/ 55433 w 55436"/>
                      <a:gd name="connsiteY6" fmla="*/ 21563 h 539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55436" h="53900">
                        <a:moveTo>
                          <a:pt x="55433" y="21563"/>
                        </a:moveTo>
                        <a:lnTo>
                          <a:pt x="55433" y="53901"/>
                        </a:lnTo>
                        <a:lnTo>
                          <a:pt x="0" y="53901"/>
                        </a:lnTo>
                        <a:lnTo>
                          <a:pt x="0" y="5"/>
                        </a:lnTo>
                        <a:lnTo>
                          <a:pt x="36955" y="5"/>
                        </a:lnTo>
                        <a:cubicBezTo>
                          <a:pt x="46949" y="-242"/>
                          <a:pt x="55221" y="9010"/>
                          <a:pt x="55433" y="20670"/>
                        </a:cubicBezTo>
                        <a:cubicBezTo>
                          <a:pt x="55438" y="20967"/>
                          <a:pt x="55438" y="21266"/>
                          <a:pt x="55433" y="21563"/>
                        </a:cubicBezTo>
                        <a:close/>
                      </a:path>
                    </a:pathLst>
                  </a:custGeom>
                  <a:solidFill>
                    <a:srgbClr val="D0D7DF"/>
                  </a:solidFill>
                  <a:ln w="912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defTabSz="4572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6" name="手繪多邊形: 圖案 35">
                    <a:extLst>
                      <a:ext uri="{FF2B5EF4-FFF2-40B4-BE49-F238E27FC236}">
                        <a16:creationId xmlns:a16="http://schemas.microsoft.com/office/drawing/2014/main" id="{5A7B9E66-BDD1-BEC2-C8A8-BF45D0DB15C2}"/>
                      </a:ext>
                    </a:extLst>
                  </p:cNvPr>
                  <p:cNvSpPr/>
                  <p:nvPr/>
                </p:nvSpPr>
                <p:spPr>
                  <a:xfrm>
                    <a:off x="3814617" y="278146"/>
                    <a:ext cx="406538" cy="517436"/>
                  </a:xfrm>
                  <a:custGeom>
                    <a:avLst/>
                    <a:gdLst>
                      <a:gd name="connsiteX0" fmla="*/ 403831 w 406538"/>
                      <a:gd name="connsiteY0" fmla="*/ 132508 h 517436"/>
                      <a:gd name="connsiteX1" fmla="*/ 292966 w 406538"/>
                      <a:gd name="connsiteY1" fmla="*/ 3158 h 517436"/>
                      <a:gd name="connsiteX2" fmla="*/ 286434 w 406538"/>
                      <a:gd name="connsiteY2" fmla="*/ 0 h 517436"/>
                      <a:gd name="connsiteX3" fmla="*/ 166330 w 406538"/>
                      <a:gd name="connsiteY3" fmla="*/ 0 h 517436"/>
                      <a:gd name="connsiteX4" fmla="*/ 157092 w 406538"/>
                      <a:gd name="connsiteY4" fmla="*/ 10779 h 517436"/>
                      <a:gd name="connsiteX5" fmla="*/ 166330 w 406538"/>
                      <a:gd name="connsiteY5" fmla="*/ 21558 h 517436"/>
                      <a:gd name="connsiteX6" fmla="*/ 277196 w 406538"/>
                      <a:gd name="connsiteY6" fmla="*/ 21558 h 517436"/>
                      <a:gd name="connsiteX7" fmla="*/ 277196 w 406538"/>
                      <a:gd name="connsiteY7" fmla="*/ 97012 h 517436"/>
                      <a:gd name="connsiteX8" fmla="*/ 323390 w 406538"/>
                      <a:gd name="connsiteY8" fmla="*/ 150908 h 517436"/>
                      <a:gd name="connsiteX9" fmla="*/ 341867 w 406538"/>
                      <a:gd name="connsiteY9" fmla="*/ 150908 h 517436"/>
                      <a:gd name="connsiteX10" fmla="*/ 351106 w 406538"/>
                      <a:gd name="connsiteY10" fmla="*/ 140129 h 517436"/>
                      <a:gd name="connsiteX11" fmla="*/ 341867 w 406538"/>
                      <a:gd name="connsiteY11" fmla="*/ 129350 h 517436"/>
                      <a:gd name="connsiteX12" fmla="*/ 323390 w 406538"/>
                      <a:gd name="connsiteY12" fmla="*/ 129350 h 517436"/>
                      <a:gd name="connsiteX13" fmla="*/ 295673 w 406538"/>
                      <a:gd name="connsiteY13" fmla="*/ 97012 h 517436"/>
                      <a:gd name="connsiteX14" fmla="*/ 295673 w 406538"/>
                      <a:gd name="connsiteY14" fmla="*/ 36800 h 517436"/>
                      <a:gd name="connsiteX15" fmla="*/ 388061 w 406538"/>
                      <a:gd name="connsiteY15" fmla="*/ 144591 h 517436"/>
                      <a:gd name="connsiteX16" fmla="*/ 388061 w 406538"/>
                      <a:gd name="connsiteY16" fmla="*/ 463503 h 517436"/>
                      <a:gd name="connsiteX17" fmla="*/ 360345 w 406538"/>
                      <a:gd name="connsiteY17" fmla="*/ 495841 h 517436"/>
                      <a:gd name="connsiteX18" fmla="*/ 46226 w 406538"/>
                      <a:gd name="connsiteY18" fmla="*/ 495841 h 517436"/>
                      <a:gd name="connsiteX19" fmla="*/ 18510 w 406538"/>
                      <a:gd name="connsiteY19" fmla="*/ 466781 h 517436"/>
                      <a:gd name="connsiteX20" fmla="*/ 18510 w 406538"/>
                      <a:gd name="connsiteY20" fmla="*/ 463503 h 517436"/>
                      <a:gd name="connsiteX21" fmla="*/ 18510 w 406538"/>
                      <a:gd name="connsiteY21" fmla="*/ 53896 h 517436"/>
                      <a:gd name="connsiteX22" fmla="*/ 46226 w 406538"/>
                      <a:gd name="connsiteY22" fmla="*/ 21558 h 517436"/>
                      <a:gd name="connsiteX23" fmla="*/ 110898 w 406538"/>
                      <a:gd name="connsiteY23" fmla="*/ 21558 h 517436"/>
                      <a:gd name="connsiteX24" fmla="*/ 110898 w 406538"/>
                      <a:gd name="connsiteY24" fmla="*/ 43117 h 517436"/>
                      <a:gd name="connsiteX25" fmla="*/ 104532 w 406538"/>
                      <a:gd name="connsiteY25" fmla="*/ 55793 h 517436"/>
                      <a:gd name="connsiteX26" fmla="*/ 92420 w 406538"/>
                      <a:gd name="connsiteY26" fmla="*/ 84077 h 517436"/>
                      <a:gd name="connsiteX27" fmla="*/ 104560 w 406538"/>
                      <a:gd name="connsiteY27" fmla="*/ 112394 h 517436"/>
                      <a:gd name="connsiteX28" fmla="*/ 110898 w 406538"/>
                      <a:gd name="connsiteY28" fmla="*/ 124930 h 517436"/>
                      <a:gd name="connsiteX29" fmla="*/ 104532 w 406538"/>
                      <a:gd name="connsiteY29" fmla="*/ 137607 h 517436"/>
                      <a:gd name="connsiteX30" fmla="*/ 98534 w 406538"/>
                      <a:gd name="connsiteY30" fmla="*/ 187177 h 517436"/>
                      <a:gd name="connsiteX31" fmla="*/ 104532 w 406538"/>
                      <a:gd name="connsiteY31" fmla="*/ 194176 h 517436"/>
                      <a:gd name="connsiteX32" fmla="*/ 110925 w 406538"/>
                      <a:gd name="connsiteY32" fmla="*/ 206960 h 517436"/>
                      <a:gd name="connsiteX33" fmla="*/ 104569 w 406538"/>
                      <a:gd name="connsiteY33" fmla="*/ 219625 h 517436"/>
                      <a:gd name="connsiteX34" fmla="*/ 92420 w 406538"/>
                      <a:gd name="connsiteY34" fmla="*/ 247920 h 517436"/>
                      <a:gd name="connsiteX35" fmla="*/ 92420 w 406538"/>
                      <a:gd name="connsiteY35" fmla="*/ 323374 h 517436"/>
                      <a:gd name="connsiteX36" fmla="*/ 118561 w 406538"/>
                      <a:gd name="connsiteY36" fmla="*/ 355712 h 517436"/>
                      <a:gd name="connsiteX37" fmla="*/ 120137 w 406538"/>
                      <a:gd name="connsiteY37" fmla="*/ 355712 h 517436"/>
                      <a:gd name="connsiteX38" fmla="*/ 138614 w 406538"/>
                      <a:gd name="connsiteY38" fmla="*/ 355712 h 517436"/>
                      <a:gd name="connsiteX39" fmla="*/ 166330 w 406538"/>
                      <a:gd name="connsiteY39" fmla="*/ 325212 h 517436"/>
                      <a:gd name="connsiteX40" fmla="*/ 166330 w 406538"/>
                      <a:gd name="connsiteY40" fmla="*/ 323374 h 517436"/>
                      <a:gd name="connsiteX41" fmla="*/ 166330 w 406538"/>
                      <a:gd name="connsiteY41" fmla="*/ 269479 h 517436"/>
                      <a:gd name="connsiteX42" fmla="*/ 140189 w 406538"/>
                      <a:gd name="connsiteY42" fmla="*/ 237141 h 517436"/>
                      <a:gd name="connsiteX43" fmla="*/ 138614 w 406538"/>
                      <a:gd name="connsiteY43" fmla="*/ 237141 h 517436"/>
                      <a:gd name="connsiteX44" fmla="*/ 129375 w 406538"/>
                      <a:gd name="connsiteY44" fmla="*/ 247920 h 517436"/>
                      <a:gd name="connsiteX45" fmla="*/ 138614 w 406538"/>
                      <a:gd name="connsiteY45" fmla="*/ 258700 h 517436"/>
                      <a:gd name="connsiteX46" fmla="*/ 147853 w 406538"/>
                      <a:gd name="connsiteY46" fmla="*/ 267551 h 517436"/>
                      <a:gd name="connsiteX47" fmla="*/ 147853 w 406538"/>
                      <a:gd name="connsiteY47" fmla="*/ 269479 h 517436"/>
                      <a:gd name="connsiteX48" fmla="*/ 147853 w 406538"/>
                      <a:gd name="connsiteY48" fmla="*/ 291037 h 517436"/>
                      <a:gd name="connsiteX49" fmla="*/ 110898 w 406538"/>
                      <a:gd name="connsiteY49" fmla="*/ 291037 h 517436"/>
                      <a:gd name="connsiteX50" fmla="*/ 110898 w 406538"/>
                      <a:gd name="connsiteY50" fmla="*/ 247920 h 517436"/>
                      <a:gd name="connsiteX51" fmla="*/ 117263 w 406538"/>
                      <a:gd name="connsiteY51" fmla="*/ 235244 h 517436"/>
                      <a:gd name="connsiteX52" fmla="*/ 123257 w 406538"/>
                      <a:gd name="connsiteY52" fmla="*/ 185550 h 517436"/>
                      <a:gd name="connsiteX53" fmla="*/ 117263 w 406538"/>
                      <a:gd name="connsiteY53" fmla="*/ 178557 h 517436"/>
                      <a:gd name="connsiteX54" fmla="*/ 110907 w 406538"/>
                      <a:gd name="connsiteY54" fmla="*/ 165891 h 517436"/>
                      <a:gd name="connsiteX55" fmla="*/ 117263 w 406538"/>
                      <a:gd name="connsiteY55" fmla="*/ 153226 h 517436"/>
                      <a:gd name="connsiteX56" fmla="*/ 123345 w 406538"/>
                      <a:gd name="connsiteY56" fmla="*/ 103839 h 517436"/>
                      <a:gd name="connsiteX57" fmla="*/ 117263 w 406538"/>
                      <a:gd name="connsiteY57" fmla="*/ 96743 h 517436"/>
                      <a:gd name="connsiteX58" fmla="*/ 110898 w 406538"/>
                      <a:gd name="connsiteY58" fmla="*/ 84077 h 517436"/>
                      <a:gd name="connsiteX59" fmla="*/ 117254 w 406538"/>
                      <a:gd name="connsiteY59" fmla="*/ 71412 h 517436"/>
                      <a:gd name="connsiteX60" fmla="*/ 129375 w 406538"/>
                      <a:gd name="connsiteY60" fmla="*/ 43117 h 517436"/>
                      <a:gd name="connsiteX61" fmla="*/ 129375 w 406538"/>
                      <a:gd name="connsiteY61" fmla="*/ 10779 h 517436"/>
                      <a:gd name="connsiteX62" fmla="*/ 120137 w 406538"/>
                      <a:gd name="connsiteY62" fmla="*/ 0 h 517436"/>
                      <a:gd name="connsiteX63" fmla="*/ 46226 w 406538"/>
                      <a:gd name="connsiteY63" fmla="*/ 0 h 517436"/>
                      <a:gd name="connsiteX64" fmla="*/ 33 w 406538"/>
                      <a:gd name="connsiteY64" fmla="*/ 53896 h 517436"/>
                      <a:gd name="connsiteX65" fmla="*/ 33 w 406538"/>
                      <a:gd name="connsiteY65" fmla="*/ 463503 h 517436"/>
                      <a:gd name="connsiteX66" fmla="*/ 42855 w 406538"/>
                      <a:gd name="connsiteY66" fmla="*/ 517399 h 517436"/>
                      <a:gd name="connsiteX67" fmla="*/ 46226 w 406538"/>
                      <a:gd name="connsiteY67" fmla="*/ 517399 h 517436"/>
                      <a:gd name="connsiteX68" fmla="*/ 360345 w 406538"/>
                      <a:gd name="connsiteY68" fmla="*/ 517399 h 517436"/>
                      <a:gd name="connsiteX69" fmla="*/ 406538 w 406538"/>
                      <a:gd name="connsiteY69" fmla="*/ 463503 h 517436"/>
                      <a:gd name="connsiteX70" fmla="*/ 406538 w 406538"/>
                      <a:gd name="connsiteY70" fmla="*/ 140129 h 517436"/>
                      <a:gd name="connsiteX71" fmla="*/ 403831 w 406538"/>
                      <a:gd name="connsiteY71" fmla="*/ 132508 h 517436"/>
                      <a:gd name="connsiteX72" fmla="*/ 147853 w 406538"/>
                      <a:gd name="connsiteY72" fmla="*/ 312595 h 517436"/>
                      <a:gd name="connsiteX73" fmla="*/ 147853 w 406538"/>
                      <a:gd name="connsiteY73" fmla="*/ 323374 h 517436"/>
                      <a:gd name="connsiteX74" fmla="*/ 140266 w 406538"/>
                      <a:gd name="connsiteY74" fmla="*/ 334154 h 517436"/>
                      <a:gd name="connsiteX75" fmla="*/ 138614 w 406538"/>
                      <a:gd name="connsiteY75" fmla="*/ 334154 h 517436"/>
                      <a:gd name="connsiteX76" fmla="*/ 120137 w 406538"/>
                      <a:gd name="connsiteY76" fmla="*/ 334154 h 517436"/>
                      <a:gd name="connsiteX77" fmla="*/ 110898 w 406538"/>
                      <a:gd name="connsiteY77" fmla="*/ 325302 h 517436"/>
                      <a:gd name="connsiteX78" fmla="*/ 110898 w 406538"/>
                      <a:gd name="connsiteY78" fmla="*/ 323374 h 517436"/>
                      <a:gd name="connsiteX79" fmla="*/ 110898 w 406538"/>
                      <a:gd name="connsiteY79" fmla="*/ 312595 h 5174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</a:cxnLst>
                    <a:rect l="l" t="t" r="r" b="b"/>
                    <a:pathLst>
                      <a:path w="406538" h="517436">
                        <a:moveTo>
                          <a:pt x="403831" y="132508"/>
                        </a:moveTo>
                        <a:lnTo>
                          <a:pt x="292966" y="3158"/>
                        </a:lnTo>
                        <a:cubicBezTo>
                          <a:pt x="291229" y="1146"/>
                          <a:pt x="288883" y="11"/>
                          <a:pt x="286434" y="0"/>
                        </a:cubicBezTo>
                        <a:lnTo>
                          <a:pt x="166330" y="0"/>
                        </a:lnTo>
                        <a:cubicBezTo>
                          <a:pt x="161228" y="0"/>
                          <a:pt x="157092" y="4826"/>
                          <a:pt x="157092" y="10779"/>
                        </a:cubicBezTo>
                        <a:cubicBezTo>
                          <a:pt x="157092" y="16732"/>
                          <a:pt x="161228" y="21558"/>
                          <a:pt x="166330" y="21558"/>
                        </a:cubicBezTo>
                        <a:lnTo>
                          <a:pt x="277196" y="21558"/>
                        </a:lnTo>
                        <a:lnTo>
                          <a:pt x="277196" y="97012"/>
                        </a:lnTo>
                        <a:cubicBezTo>
                          <a:pt x="277226" y="126764"/>
                          <a:pt x="297890" y="150872"/>
                          <a:pt x="323390" y="150908"/>
                        </a:cubicBezTo>
                        <a:lnTo>
                          <a:pt x="341867" y="150908"/>
                        </a:lnTo>
                        <a:cubicBezTo>
                          <a:pt x="346970" y="150908"/>
                          <a:pt x="351106" y="146082"/>
                          <a:pt x="351106" y="140129"/>
                        </a:cubicBezTo>
                        <a:cubicBezTo>
                          <a:pt x="351106" y="134176"/>
                          <a:pt x="346970" y="129350"/>
                          <a:pt x="341867" y="129350"/>
                        </a:cubicBezTo>
                        <a:lnTo>
                          <a:pt x="323390" y="129350"/>
                        </a:lnTo>
                        <a:cubicBezTo>
                          <a:pt x="308082" y="129350"/>
                          <a:pt x="295673" y="114872"/>
                          <a:pt x="295673" y="97012"/>
                        </a:cubicBezTo>
                        <a:lnTo>
                          <a:pt x="295673" y="36800"/>
                        </a:lnTo>
                        <a:lnTo>
                          <a:pt x="388061" y="144591"/>
                        </a:lnTo>
                        <a:lnTo>
                          <a:pt x="388061" y="463503"/>
                        </a:lnTo>
                        <a:cubicBezTo>
                          <a:pt x="388061" y="481363"/>
                          <a:pt x="375652" y="495841"/>
                          <a:pt x="360345" y="495841"/>
                        </a:cubicBezTo>
                        <a:lnTo>
                          <a:pt x="46226" y="495841"/>
                        </a:lnTo>
                        <a:cubicBezTo>
                          <a:pt x="31695" y="496746"/>
                          <a:pt x="19286" y="483736"/>
                          <a:pt x="18510" y="466781"/>
                        </a:cubicBezTo>
                        <a:cubicBezTo>
                          <a:pt x="18460" y="465689"/>
                          <a:pt x="18460" y="464595"/>
                          <a:pt x="18510" y="463503"/>
                        </a:cubicBezTo>
                        <a:lnTo>
                          <a:pt x="18510" y="53896"/>
                        </a:lnTo>
                        <a:cubicBezTo>
                          <a:pt x="18510" y="36036"/>
                          <a:pt x="30919" y="21558"/>
                          <a:pt x="46226" y="21558"/>
                        </a:cubicBezTo>
                        <a:lnTo>
                          <a:pt x="110898" y="21558"/>
                        </a:lnTo>
                        <a:lnTo>
                          <a:pt x="110898" y="43117"/>
                        </a:lnTo>
                        <a:cubicBezTo>
                          <a:pt x="110898" y="48506"/>
                          <a:pt x="108948" y="50899"/>
                          <a:pt x="104532" y="55793"/>
                        </a:cubicBezTo>
                        <a:cubicBezTo>
                          <a:pt x="97021" y="62584"/>
                          <a:pt x="92565" y="72992"/>
                          <a:pt x="92420" y="84077"/>
                        </a:cubicBezTo>
                        <a:cubicBezTo>
                          <a:pt x="92566" y="95179"/>
                          <a:pt x="97033" y="105600"/>
                          <a:pt x="104560" y="112394"/>
                        </a:cubicBezTo>
                        <a:cubicBezTo>
                          <a:pt x="108958" y="117245"/>
                          <a:pt x="110898" y="119627"/>
                          <a:pt x="110898" y="124930"/>
                        </a:cubicBezTo>
                        <a:cubicBezTo>
                          <a:pt x="110898" y="130234"/>
                          <a:pt x="108948" y="132713"/>
                          <a:pt x="104532" y="137607"/>
                        </a:cubicBezTo>
                        <a:cubicBezTo>
                          <a:pt x="91143" y="149362"/>
                          <a:pt x="88458" y="171555"/>
                          <a:pt x="98534" y="187177"/>
                        </a:cubicBezTo>
                        <a:cubicBezTo>
                          <a:pt x="100242" y="189825"/>
                          <a:pt x="102261" y="192181"/>
                          <a:pt x="104532" y="194176"/>
                        </a:cubicBezTo>
                        <a:cubicBezTo>
                          <a:pt x="108967" y="199102"/>
                          <a:pt x="110925" y="201495"/>
                          <a:pt x="110925" y="206960"/>
                        </a:cubicBezTo>
                        <a:cubicBezTo>
                          <a:pt x="110925" y="212425"/>
                          <a:pt x="108976" y="214731"/>
                          <a:pt x="104569" y="219625"/>
                        </a:cubicBezTo>
                        <a:cubicBezTo>
                          <a:pt x="97040" y="226408"/>
                          <a:pt x="92568" y="236823"/>
                          <a:pt x="92420" y="247920"/>
                        </a:cubicBezTo>
                        <a:lnTo>
                          <a:pt x="92420" y="323374"/>
                        </a:lnTo>
                        <a:cubicBezTo>
                          <a:pt x="91985" y="340727"/>
                          <a:pt x="103689" y="355204"/>
                          <a:pt x="118561" y="355712"/>
                        </a:cubicBezTo>
                        <a:cubicBezTo>
                          <a:pt x="119086" y="355730"/>
                          <a:pt x="119612" y="355730"/>
                          <a:pt x="120137" y="355712"/>
                        </a:cubicBezTo>
                        <a:lnTo>
                          <a:pt x="138614" y="355712"/>
                        </a:lnTo>
                        <a:cubicBezTo>
                          <a:pt x="153487" y="356220"/>
                          <a:pt x="165895" y="342565"/>
                          <a:pt x="166330" y="325212"/>
                        </a:cubicBezTo>
                        <a:cubicBezTo>
                          <a:pt x="166346" y="324600"/>
                          <a:pt x="166346" y="323987"/>
                          <a:pt x="166330" y="323374"/>
                        </a:cubicBezTo>
                        <a:lnTo>
                          <a:pt x="166330" y="269479"/>
                        </a:lnTo>
                        <a:cubicBezTo>
                          <a:pt x="166766" y="252126"/>
                          <a:pt x="155062" y="237649"/>
                          <a:pt x="140189" y="237141"/>
                        </a:cubicBezTo>
                        <a:cubicBezTo>
                          <a:pt x="139665" y="237123"/>
                          <a:pt x="139139" y="237123"/>
                          <a:pt x="138614" y="237141"/>
                        </a:cubicBezTo>
                        <a:cubicBezTo>
                          <a:pt x="133512" y="237141"/>
                          <a:pt x="129375" y="241967"/>
                          <a:pt x="129375" y="247920"/>
                        </a:cubicBezTo>
                        <a:cubicBezTo>
                          <a:pt x="129375" y="253874"/>
                          <a:pt x="133512" y="258700"/>
                          <a:pt x="138614" y="258700"/>
                        </a:cubicBezTo>
                        <a:cubicBezTo>
                          <a:pt x="143260" y="258167"/>
                          <a:pt x="147396" y="262131"/>
                          <a:pt x="147853" y="267551"/>
                        </a:cubicBezTo>
                        <a:cubicBezTo>
                          <a:pt x="147906" y="268193"/>
                          <a:pt x="147906" y="268838"/>
                          <a:pt x="147853" y="269479"/>
                        </a:cubicBezTo>
                        <a:lnTo>
                          <a:pt x="147853" y="291037"/>
                        </a:lnTo>
                        <a:lnTo>
                          <a:pt x="110898" y="291037"/>
                        </a:lnTo>
                        <a:lnTo>
                          <a:pt x="110898" y="247920"/>
                        </a:lnTo>
                        <a:cubicBezTo>
                          <a:pt x="110898" y="242531"/>
                          <a:pt x="112847" y="240138"/>
                          <a:pt x="117263" y="235244"/>
                        </a:cubicBezTo>
                        <a:cubicBezTo>
                          <a:pt x="130680" y="223453"/>
                          <a:pt x="133364" y="201205"/>
                          <a:pt x="123257" y="185550"/>
                        </a:cubicBezTo>
                        <a:cubicBezTo>
                          <a:pt x="121549" y="182904"/>
                          <a:pt x="119531" y="180550"/>
                          <a:pt x="117263" y="178557"/>
                        </a:cubicBezTo>
                        <a:cubicBezTo>
                          <a:pt x="112856" y="173663"/>
                          <a:pt x="110907" y="171270"/>
                          <a:pt x="110907" y="165891"/>
                        </a:cubicBezTo>
                        <a:cubicBezTo>
                          <a:pt x="110907" y="160512"/>
                          <a:pt x="112856" y="158119"/>
                          <a:pt x="117263" y="153226"/>
                        </a:cubicBezTo>
                        <a:cubicBezTo>
                          <a:pt x="130632" y="141547"/>
                          <a:pt x="133354" y="119436"/>
                          <a:pt x="123345" y="103839"/>
                        </a:cubicBezTo>
                        <a:cubicBezTo>
                          <a:pt x="121618" y="101148"/>
                          <a:pt x="119570" y="98758"/>
                          <a:pt x="117263" y="96743"/>
                        </a:cubicBezTo>
                        <a:cubicBezTo>
                          <a:pt x="112847" y="91849"/>
                          <a:pt x="110898" y="89467"/>
                          <a:pt x="110898" y="84077"/>
                        </a:cubicBezTo>
                        <a:cubicBezTo>
                          <a:pt x="110898" y="78688"/>
                          <a:pt x="112847" y="76306"/>
                          <a:pt x="117254" y="71412"/>
                        </a:cubicBezTo>
                        <a:cubicBezTo>
                          <a:pt x="124773" y="64622"/>
                          <a:pt x="129234" y="54208"/>
                          <a:pt x="129375" y="43117"/>
                        </a:cubicBezTo>
                        <a:lnTo>
                          <a:pt x="129375" y="10779"/>
                        </a:lnTo>
                        <a:cubicBezTo>
                          <a:pt x="129375" y="4826"/>
                          <a:pt x="125239" y="0"/>
                          <a:pt x="120137" y="0"/>
                        </a:cubicBezTo>
                        <a:lnTo>
                          <a:pt x="46226" y="0"/>
                        </a:lnTo>
                        <a:cubicBezTo>
                          <a:pt x="20727" y="36"/>
                          <a:pt x="63" y="24145"/>
                          <a:pt x="33" y="53896"/>
                        </a:cubicBezTo>
                        <a:lnTo>
                          <a:pt x="33" y="463503"/>
                        </a:lnTo>
                        <a:cubicBezTo>
                          <a:pt x="-898" y="492183"/>
                          <a:pt x="18274" y="516312"/>
                          <a:pt x="42855" y="517399"/>
                        </a:cubicBezTo>
                        <a:cubicBezTo>
                          <a:pt x="43978" y="517449"/>
                          <a:pt x="45103" y="517449"/>
                          <a:pt x="46226" y="517399"/>
                        </a:cubicBezTo>
                        <a:lnTo>
                          <a:pt x="360345" y="517399"/>
                        </a:lnTo>
                        <a:cubicBezTo>
                          <a:pt x="385845" y="517363"/>
                          <a:pt x="406508" y="493255"/>
                          <a:pt x="406538" y="463503"/>
                        </a:cubicBezTo>
                        <a:lnTo>
                          <a:pt x="406538" y="140129"/>
                        </a:lnTo>
                        <a:cubicBezTo>
                          <a:pt x="406538" y="137270"/>
                          <a:pt x="405565" y="134529"/>
                          <a:pt x="403831" y="132508"/>
                        </a:cubicBezTo>
                        <a:close/>
                        <a:moveTo>
                          <a:pt x="147853" y="312595"/>
                        </a:moveTo>
                        <a:lnTo>
                          <a:pt x="147853" y="323374"/>
                        </a:lnTo>
                        <a:cubicBezTo>
                          <a:pt x="148309" y="328795"/>
                          <a:pt x="144912" y="333621"/>
                          <a:pt x="140266" y="334154"/>
                        </a:cubicBezTo>
                        <a:cubicBezTo>
                          <a:pt x="139716" y="334216"/>
                          <a:pt x="139163" y="334216"/>
                          <a:pt x="138614" y="334154"/>
                        </a:cubicBezTo>
                        <a:lnTo>
                          <a:pt x="120137" y="334154"/>
                        </a:lnTo>
                        <a:cubicBezTo>
                          <a:pt x="115490" y="334686"/>
                          <a:pt x="111354" y="330723"/>
                          <a:pt x="110898" y="325302"/>
                        </a:cubicBezTo>
                        <a:cubicBezTo>
                          <a:pt x="110844" y="324660"/>
                          <a:pt x="110844" y="324015"/>
                          <a:pt x="110898" y="323374"/>
                        </a:cubicBezTo>
                        <a:lnTo>
                          <a:pt x="110898" y="312595"/>
                        </a:lnTo>
                        <a:close/>
                      </a:path>
                    </a:pathLst>
                  </a:custGeom>
                  <a:solidFill>
                    <a:srgbClr val="474C54"/>
                  </a:solidFill>
                  <a:ln w="912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defTabSz="4572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pic>
            <p:nvPicPr>
              <p:cNvPr id="30" name="圖形 29">
                <a:extLst>
                  <a:ext uri="{FF2B5EF4-FFF2-40B4-BE49-F238E27FC236}">
                    <a16:creationId xmlns:a16="http://schemas.microsoft.com/office/drawing/2014/main" id="{77FC45B8-5DF4-90E9-D200-025EB91E71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3518515" y="417698"/>
                <a:ext cx="165186" cy="165186"/>
              </a:xfrm>
              <a:prstGeom prst="rect">
                <a:avLst/>
              </a:prstGeom>
            </p:spPr>
          </p:pic>
        </p:grpSp>
        <p:grpSp>
          <p:nvGrpSpPr>
            <p:cNvPr id="37" name="群組 36">
              <a:extLst>
                <a:ext uri="{FF2B5EF4-FFF2-40B4-BE49-F238E27FC236}">
                  <a16:creationId xmlns:a16="http://schemas.microsoft.com/office/drawing/2014/main" id="{147B421D-FB63-11F9-424B-7773D8FDC1CF}"/>
                </a:ext>
              </a:extLst>
            </p:cNvPr>
            <p:cNvGrpSpPr/>
            <p:nvPr/>
          </p:nvGrpSpPr>
          <p:grpSpPr>
            <a:xfrm>
              <a:off x="6916476" y="2276858"/>
              <a:ext cx="406538" cy="517436"/>
              <a:chOff x="3299394" y="98526"/>
              <a:chExt cx="406538" cy="517436"/>
            </a:xfrm>
          </p:grpSpPr>
          <p:grpSp>
            <p:nvGrpSpPr>
              <p:cNvPr id="38" name="圖形 149">
                <a:extLst>
                  <a:ext uri="{FF2B5EF4-FFF2-40B4-BE49-F238E27FC236}">
                    <a16:creationId xmlns:a16="http://schemas.microsoft.com/office/drawing/2014/main" id="{63E4591E-6383-A94A-0D25-E20A264101D0}"/>
                  </a:ext>
                </a:extLst>
              </p:cNvPr>
              <p:cNvGrpSpPr/>
              <p:nvPr/>
            </p:nvGrpSpPr>
            <p:grpSpPr>
              <a:xfrm>
                <a:off x="3299394" y="98526"/>
                <a:ext cx="406538" cy="517436"/>
                <a:chOff x="3814617" y="278146"/>
                <a:chExt cx="406538" cy="517436"/>
              </a:xfrm>
            </p:grpSpPr>
            <p:sp>
              <p:nvSpPr>
                <p:cNvPr id="40" name="手繪多邊形: 圖案 39">
                  <a:extLst>
                    <a:ext uri="{FF2B5EF4-FFF2-40B4-BE49-F238E27FC236}">
                      <a16:creationId xmlns:a16="http://schemas.microsoft.com/office/drawing/2014/main" id="{0BDC8B4D-F2A9-2DE2-1EC2-09F9D79FC026}"/>
                    </a:ext>
                  </a:extLst>
                </p:cNvPr>
                <p:cNvSpPr/>
                <p:nvPr/>
              </p:nvSpPr>
              <p:spPr>
                <a:xfrm>
                  <a:off x="4101051" y="288925"/>
                  <a:ext cx="110865" cy="129349"/>
                </a:xfrm>
                <a:custGeom>
                  <a:avLst/>
                  <a:gdLst>
                    <a:gd name="connsiteX0" fmla="*/ 110865 w 110865"/>
                    <a:gd name="connsiteY0" fmla="*/ 129350 h 129349"/>
                    <a:gd name="connsiteX1" fmla="*/ 36955 w 110865"/>
                    <a:gd name="connsiteY1" fmla="*/ 129350 h 129349"/>
                    <a:gd name="connsiteX2" fmla="*/ 0 w 110865"/>
                    <a:gd name="connsiteY2" fmla="*/ 86233 h 129349"/>
                    <a:gd name="connsiteX3" fmla="*/ 0 w 110865"/>
                    <a:gd name="connsiteY3" fmla="*/ 0 h 1293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0865" h="129349">
                      <a:moveTo>
                        <a:pt x="110865" y="129350"/>
                      </a:moveTo>
                      <a:lnTo>
                        <a:pt x="36955" y="129350"/>
                      </a:lnTo>
                      <a:cubicBezTo>
                        <a:pt x="16546" y="129350"/>
                        <a:pt x="0" y="110045"/>
                        <a:pt x="0" y="86233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D7D31">
                    <a:lumMod val="75000"/>
                  </a:srgbClr>
                </a:solidFill>
                <a:ln w="912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1" name="手繪多邊形: 圖案 40">
                  <a:extLst>
                    <a:ext uri="{FF2B5EF4-FFF2-40B4-BE49-F238E27FC236}">
                      <a16:creationId xmlns:a16="http://schemas.microsoft.com/office/drawing/2014/main" id="{CB9EF41C-27EA-37DA-F0E3-361EE7E83E24}"/>
                    </a:ext>
                  </a:extLst>
                </p:cNvPr>
                <p:cNvSpPr/>
                <p:nvPr/>
              </p:nvSpPr>
              <p:spPr>
                <a:xfrm>
                  <a:off x="3823888" y="288925"/>
                  <a:ext cx="388028" cy="495840"/>
                </a:xfrm>
                <a:custGeom>
                  <a:avLst/>
                  <a:gdLst>
                    <a:gd name="connsiteX0" fmla="*/ 388028 w 388028"/>
                    <a:gd name="connsiteY0" fmla="*/ 129350 h 495840"/>
                    <a:gd name="connsiteX1" fmla="*/ 388028 w 388028"/>
                    <a:gd name="connsiteY1" fmla="*/ 452724 h 495840"/>
                    <a:gd name="connsiteX2" fmla="*/ 351073 w 388028"/>
                    <a:gd name="connsiteY2" fmla="*/ 495841 h 495840"/>
                    <a:gd name="connsiteX3" fmla="*/ 36955 w 388028"/>
                    <a:gd name="connsiteY3" fmla="*/ 495841 h 495840"/>
                    <a:gd name="connsiteX4" fmla="*/ 0 w 388028"/>
                    <a:gd name="connsiteY4" fmla="*/ 452724 h 495840"/>
                    <a:gd name="connsiteX5" fmla="*/ 0 w 388028"/>
                    <a:gd name="connsiteY5" fmla="*/ 43117 h 495840"/>
                    <a:gd name="connsiteX6" fmla="*/ 36955 w 388028"/>
                    <a:gd name="connsiteY6" fmla="*/ 0 h 495840"/>
                    <a:gd name="connsiteX7" fmla="*/ 277163 w 388028"/>
                    <a:gd name="connsiteY7" fmla="*/ 0 h 495840"/>
                    <a:gd name="connsiteX8" fmla="*/ 277163 w 388028"/>
                    <a:gd name="connsiteY8" fmla="*/ 86233 h 495840"/>
                    <a:gd name="connsiteX9" fmla="*/ 314118 w 388028"/>
                    <a:gd name="connsiteY9" fmla="*/ 129350 h 495840"/>
                    <a:gd name="connsiteX10" fmla="*/ 388028 w 388028"/>
                    <a:gd name="connsiteY10" fmla="*/ 129350 h 4958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88028" h="495840">
                      <a:moveTo>
                        <a:pt x="388028" y="129350"/>
                      </a:moveTo>
                      <a:lnTo>
                        <a:pt x="388028" y="452724"/>
                      </a:lnTo>
                      <a:cubicBezTo>
                        <a:pt x="388028" y="476536"/>
                        <a:pt x="371483" y="495841"/>
                        <a:pt x="351073" y="495841"/>
                      </a:cubicBezTo>
                      <a:lnTo>
                        <a:pt x="36955" y="495841"/>
                      </a:lnTo>
                      <a:cubicBezTo>
                        <a:pt x="0" y="495841"/>
                        <a:pt x="0" y="452724"/>
                        <a:pt x="0" y="452724"/>
                      </a:cubicBezTo>
                      <a:lnTo>
                        <a:pt x="0" y="43117"/>
                      </a:lnTo>
                      <a:cubicBezTo>
                        <a:pt x="0" y="19304"/>
                        <a:pt x="16545" y="0"/>
                        <a:pt x="36955" y="0"/>
                      </a:cubicBezTo>
                      <a:lnTo>
                        <a:pt x="277163" y="0"/>
                      </a:lnTo>
                      <a:lnTo>
                        <a:pt x="277163" y="86233"/>
                      </a:lnTo>
                      <a:cubicBezTo>
                        <a:pt x="277163" y="110045"/>
                        <a:pt x="293709" y="129350"/>
                        <a:pt x="314118" y="129350"/>
                      </a:cubicBezTo>
                      <a:lnTo>
                        <a:pt x="388028" y="129350"/>
                      </a:lnTo>
                      <a:close/>
                    </a:path>
                  </a:pathLst>
                </a:custGeom>
                <a:solidFill>
                  <a:srgbClr val="ED7D31">
                    <a:lumMod val="60000"/>
                    <a:lumOff val="40000"/>
                  </a:srgbClr>
                </a:solidFill>
                <a:ln w="912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42" name="圖形 149">
                  <a:extLst>
                    <a:ext uri="{FF2B5EF4-FFF2-40B4-BE49-F238E27FC236}">
                      <a16:creationId xmlns:a16="http://schemas.microsoft.com/office/drawing/2014/main" id="{734798EA-76F3-6959-8AF9-7EEDDAB647F5}"/>
                    </a:ext>
                  </a:extLst>
                </p:cNvPr>
                <p:cNvGrpSpPr/>
                <p:nvPr/>
              </p:nvGrpSpPr>
              <p:grpSpPr>
                <a:xfrm>
                  <a:off x="3814617" y="278146"/>
                  <a:ext cx="406538" cy="517436"/>
                  <a:chOff x="3814617" y="278146"/>
                  <a:chExt cx="406538" cy="517436"/>
                </a:xfrm>
              </p:grpSpPr>
              <p:sp>
                <p:nvSpPr>
                  <p:cNvPr id="43" name="手繪多邊形: 圖案 42">
                    <a:extLst>
                      <a:ext uri="{FF2B5EF4-FFF2-40B4-BE49-F238E27FC236}">
                        <a16:creationId xmlns:a16="http://schemas.microsoft.com/office/drawing/2014/main" id="{9876214C-6CB8-4E67-EC49-DC01AE4FE122}"/>
                      </a:ext>
                    </a:extLst>
                  </p:cNvPr>
                  <p:cNvSpPr/>
                  <p:nvPr/>
                </p:nvSpPr>
                <p:spPr>
                  <a:xfrm>
                    <a:off x="3916271" y="579962"/>
                    <a:ext cx="55440" cy="43121"/>
                  </a:xfrm>
                  <a:custGeom>
                    <a:avLst/>
                    <a:gdLst>
                      <a:gd name="connsiteX0" fmla="*/ 4 w 55440"/>
                      <a:gd name="connsiteY0" fmla="*/ 0 h 43121"/>
                      <a:gd name="connsiteX1" fmla="*/ 55437 w 55440"/>
                      <a:gd name="connsiteY1" fmla="*/ 0 h 43121"/>
                      <a:gd name="connsiteX2" fmla="*/ 55437 w 55440"/>
                      <a:gd name="connsiteY2" fmla="*/ 21558 h 43121"/>
                      <a:gd name="connsiteX3" fmla="*/ 37725 w 55440"/>
                      <a:gd name="connsiteY3" fmla="*/ 43117 h 43121"/>
                      <a:gd name="connsiteX4" fmla="*/ 36959 w 55440"/>
                      <a:gd name="connsiteY4" fmla="*/ 43117 h 43121"/>
                      <a:gd name="connsiteX5" fmla="*/ 18482 w 55440"/>
                      <a:gd name="connsiteY5" fmla="*/ 43117 h 43121"/>
                      <a:gd name="connsiteX6" fmla="*/ 4 w 55440"/>
                      <a:gd name="connsiteY6" fmla="*/ 22452 h 43121"/>
                      <a:gd name="connsiteX7" fmla="*/ 4 w 55440"/>
                      <a:gd name="connsiteY7" fmla="*/ 21558 h 431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55440" h="43121">
                        <a:moveTo>
                          <a:pt x="4" y="0"/>
                        </a:moveTo>
                        <a:lnTo>
                          <a:pt x="55437" y="0"/>
                        </a:lnTo>
                        <a:lnTo>
                          <a:pt x="55437" y="21558"/>
                        </a:lnTo>
                        <a:cubicBezTo>
                          <a:pt x="55648" y="33218"/>
                          <a:pt x="47719" y="42870"/>
                          <a:pt x="37725" y="43117"/>
                        </a:cubicBezTo>
                        <a:cubicBezTo>
                          <a:pt x="37470" y="43123"/>
                          <a:pt x="37214" y="43123"/>
                          <a:pt x="36959" y="43117"/>
                        </a:cubicBezTo>
                        <a:lnTo>
                          <a:pt x="18482" y="43117"/>
                        </a:lnTo>
                        <a:cubicBezTo>
                          <a:pt x="8488" y="43363"/>
                          <a:pt x="216" y="34112"/>
                          <a:pt x="4" y="22452"/>
                        </a:cubicBezTo>
                        <a:cubicBezTo>
                          <a:pt x="-1" y="22154"/>
                          <a:pt x="-1" y="21856"/>
                          <a:pt x="4" y="21558"/>
                        </a:cubicBezTo>
                        <a:close/>
                      </a:path>
                    </a:pathLst>
                  </a:custGeom>
                  <a:solidFill>
                    <a:srgbClr val="A4B0C0"/>
                  </a:solidFill>
                  <a:ln w="912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defTabSz="4572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4" name="手繪多邊形: 圖案 43">
                    <a:extLst>
                      <a:ext uri="{FF2B5EF4-FFF2-40B4-BE49-F238E27FC236}">
                        <a16:creationId xmlns:a16="http://schemas.microsoft.com/office/drawing/2014/main" id="{E878B356-2ED5-1E44-EBDE-3BAAC46D5A79}"/>
                      </a:ext>
                    </a:extLst>
                  </p:cNvPr>
                  <p:cNvSpPr/>
                  <p:nvPr/>
                </p:nvSpPr>
                <p:spPr>
                  <a:xfrm>
                    <a:off x="3916276" y="526061"/>
                    <a:ext cx="55436" cy="53900"/>
                  </a:xfrm>
                  <a:custGeom>
                    <a:avLst/>
                    <a:gdLst>
                      <a:gd name="connsiteX0" fmla="*/ 55433 w 55436"/>
                      <a:gd name="connsiteY0" fmla="*/ 21563 h 53900"/>
                      <a:gd name="connsiteX1" fmla="*/ 55433 w 55436"/>
                      <a:gd name="connsiteY1" fmla="*/ 53901 h 53900"/>
                      <a:gd name="connsiteX2" fmla="*/ 0 w 55436"/>
                      <a:gd name="connsiteY2" fmla="*/ 53901 h 53900"/>
                      <a:gd name="connsiteX3" fmla="*/ 0 w 55436"/>
                      <a:gd name="connsiteY3" fmla="*/ 5 h 53900"/>
                      <a:gd name="connsiteX4" fmla="*/ 36955 w 55436"/>
                      <a:gd name="connsiteY4" fmla="*/ 5 h 53900"/>
                      <a:gd name="connsiteX5" fmla="*/ 55433 w 55436"/>
                      <a:gd name="connsiteY5" fmla="*/ 20670 h 53900"/>
                      <a:gd name="connsiteX6" fmla="*/ 55433 w 55436"/>
                      <a:gd name="connsiteY6" fmla="*/ 21563 h 539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55436" h="53900">
                        <a:moveTo>
                          <a:pt x="55433" y="21563"/>
                        </a:moveTo>
                        <a:lnTo>
                          <a:pt x="55433" y="53901"/>
                        </a:lnTo>
                        <a:lnTo>
                          <a:pt x="0" y="53901"/>
                        </a:lnTo>
                        <a:lnTo>
                          <a:pt x="0" y="5"/>
                        </a:lnTo>
                        <a:lnTo>
                          <a:pt x="36955" y="5"/>
                        </a:lnTo>
                        <a:cubicBezTo>
                          <a:pt x="46949" y="-242"/>
                          <a:pt x="55221" y="9010"/>
                          <a:pt x="55433" y="20670"/>
                        </a:cubicBezTo>
                        <a:cubicBezTo>
                          <a:pt x="55438" y="20967"/>
                          <a:pt x="55438" y="21266"/>
                          <a:pt x="55433" y="21563"/>
                        </a:cubicBezTo>
                        <a:close/>
                      </a:path>
                    </a:pathLst>
                  </a:custGeom>
                  <a:solidFill>
                    <a:srgbClr val="D0D7DF"/>
                  </a:solidFill>
                  <a:ln w="912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defTabSz="4572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5" name="手繪多邊形: 圖案 44">
                    <a:extLst>
                      <a:ext uri="{FF2B5EF4-FFF2-40B4-BE49-F238E27FC236}">
                        <a16:creationId xmlns:a16="http://schemas.microsoft.com/office/drawing/2014/main" id="{578B8EB7-030D-28FD-BE7C-FA4342CF8FD8}"/>
                      </a:ext>
                    </a:extLst>
                  </p:cNvPr>
                  <p:cNvSpPr/>
                  <p:nvPr/>
                </p:nvSpPr>
                <p:spPr>
                  <a:xfrm>
                    <a:off x="3814617" y="278146"/>
                    <a:ext cx="406538" cy="517436"/>
                  </a:xfrm>
                  <a:custGeom>
                    <a:avLst/>
                    <a:gdLst>
                      <a:gd name="connsiteX0" fmla="*/ 403831 w 406538"/>
                      <a:gd name="connsiteY0" fmla="*/ 132508 h 517436"/>
                      <a:gd name="connsiteX1" fmla="*/ 292966 w 406538"/>
                      <a:gd name="connsiteY1" fmla="*/ 3158 h 517436"/>
                      <a:gd name="connsiteX2" fmla="*/ 286434 w 406538"/>
                      <a:gd name="connsiteY2" fmla="*/ 0 h 517436"/>
                      <a:gd name="connsiteX3" fmla="*/ 166330 w 406538"/>
                      <a:gd name="connsiteY3" fmla="*/ 0 h 517436"/>
                      <a:gd name="connsiteX4" fmla="*/ 157092 w 406538"/>
                      <a:gd name="connsiteY4" fmla="*/ 10779 h 517436"/>
                      <a:gd name="connsiteX5" fmla="*/ 166330 w 406538"/>
                      <a:gd name="connsiteY5" fmla="*/ 21558 h 517436"/>
                      <a:gd name="connsiteX6" fmla="*/ 277196 w 406538"/>
                      <a:gd name="connsiteY6" fmla="*/ 21558 h 517436"/>
                      <a:gd name="connsiteX7" fmla="*/ 277196 w 406538"/>
                      <a:gd name="connsiteY7" fmla="*/ 97012 h 517436"/>
                      <a:gd name="connsiteX8" fmla="*/ 323390 w 406538"/>
                      <a:gd name="connsiteY8" fmla="*/ 150908 h 517436"/>
                      <a:gd name="connsiteX9" fmla="*/ 341867 w 406538"/>
                      <a:gd name="connsiteY9" fmla="*/ 150908 h 517436"/>
                      <a:gd name="connsiteX10" fmla="*/ 351106 w 406538"/>
                      <a:gd name="connsiteY10" fmla="*/ 140129 h 517436"/>
                      <a:gd name="connsiteX11" fmla="*/ 341867 w 406538"/>
                      <a:gd name="connsiteY11" fmla="*/ 129350 h 517436"/>
                      <a:gd name="connsiteX12" fmla="*/ 323390 w 406538"/>
                      <a:gd name="connsiteY12" fmla="*/ 129350 h 517436"/>
                      <a:gd name="connsiteX13" fmla="*/ 295673 w 406538"/>
                      <a:gd name="connsiteY13" fmla="*/ 97012 h 517436"/>
                      <a:gd name="connsiteX14" fmla="*/ 295673 w 406538"/>
                      <a:gd name="connsiteY14" fmla="*/ 36800 h 517436"/>
                      <a:gd name="connsiteX15" fmla="*/ 388061 w 406538"/>
                      <a:gd name="connsiteY15" fmla="*/ 144591 h 517436"/>
                      <a:gd name="connsiteX16" fmla="*/ 388061 w 406538"/>
                      <a:gd name="connsiteY16" fmla="*/ 463503 h 517436"/>
                      <a:gd name="connsiteX17" fmla="*/ 360345 w 406538"/>
                      <a:gd name="connsiteY17" fmla="*/ 495841 h 517436"/>
                      <a:gd name="connsiteX18" fmla="*/ 46226 w 406538"/>
                      <a:gd name="connsiteY18" fmla="*/ 495841 h 517436"/>
                      <a:gd name="connsiteX19" fmla="*/ 18510 w 406538"/>
                      <a:gd name="connsiteY19" fmla="*/ 466781 h 517436"/>
                      <a:gd name="connsiteX20" fmla="*/ 18510 w 406538"/>
                      <a:gd name="connsiteY20" fmla="*/ 463503 h 517436"/>
                      <a:gd name="connsiteX21" fmla="*/ 18510 w 406538"/>
                      <a:gd name="connsiteY21" fmla="*/ 53896 h 517436"/>
                      <a:gd name="connsiteX22" fmla="*/ 46226 w 406538"/>
                      <a:gd name="connsiteY22" fmla="*/ 21558 h 517436"/>
                      <a:gd name="connsiteX23" fmla="*/ 110898 w 406538"/>
                      <a:gd name="connsiteY23" fmla="*/ 21558 h 517436"/>
                      <a:gd name="connsiteX24" fmla="*/ 110898 w 406538"/>
                      <a:gd name="connsiteY24" fmla="*/ 43117 h 517436"/>
                      <a:gd name="connsiteX25" fmla="*/ 104532 w 406538"/>
                      <a:gd name="connsiteY25" fmla="*/ 55793 h 517436"/>
                      <a:gd name="connsiteX26" fmla="*/ 92420 w 406538"/>
                      <a:gd name="connsiteY26" fmla="*/ 84077 h 517436"/>
                      <a:gd name="connsiteX27" fmla="*/ 104560 w 406538"/>
                      <a:gd name="connsiteY27" fmla="*/ 112394 h 517436"/>
                      <a:gd name="connsiteX28" fmla="*/ 110898 w 406538"/>
                      <a:gd name="connsiteY28" fmla="*/ 124930 h 517436"/>
                      <a:gd name="connsiteX29" fmla="*/ 104532 w 406538"/>
                      <a:gd name="connsiteY29" fmla="*/ 137607 h 517436"/>
                      <a:gd name="connsiteX30" fmla="*/ 98534 w 406538"/>
                      <a:gd name="connsiteY30" fmla="*/ 187177 h 517436"/>
                      <a:gd name="connsiteX31" fmla="*/ 104532 w 406538"/>
                      <a:gd name="connsiteY31" fmla="*/ 194176 h 517436"/>
                      <a:gd name="connsiteX32" fmla="*/ 110925 w 406538"/>
                      <a:gd name="connsiteY32" fmla="*/ 206960 h 517436"/>
                      <a:gd name="connsiteX33" fmla="*/ 104569 w 406538"/>
                      <a:gd name="connsiteY33" fmla="*/ 219625 h 517436"/>
                      <a:gd name="connsiteX34" fmla="*/ 92420 w 406538"/>
                      <a:gd name="connsiteY34" fmla="*/ 247920 h 517436"/>
                      <a:gd name="connsiteX35" fmla="*/ 92420 w 406538"/>
                      <a:gd name="connsiteY35" fmla="*/ 323374 h 517436"/>
                      <a:gd name="connsiteX36" fmla="*/ 118561 w 406538"/>
                      <a:gd name="connsiteY36" fmla="*/ 355712 h 517436"/>
                      <a:gd name="connsiteX37" fmla="*/ 120137 w 406538"/>
                      <a:gd name="connsiteY37" fmla="*/ 355712 h 517436"/>
                      <a:gd name="connsiteX38" fmla="*/ 138614 w 406538"/>
                      <a:gd name="connsiteY38" fmla="*/ 355712 h 517436"/>
                      <a:gd name="connsiteX39" fmla="*/ 166330 w 406538"/>
                      <a:gd name="connsiteY39" fmla="*/ 325212 h 517436"/>
                      <a:gd name="connsiteX40" fmla="*/ 166330 w 406538"/>
                      <a:gd name="connsiteY40" fmla="*/ 323374 h 517436"/>
                      <a:gd name="connsiteX41" fmla="*/ 166330 w 406538"/>
                      <a:gd name="connsiteY41" fmla="*/ 269479 h 517436"/>
                      <a:gd name="connsiteX42" fmla="*/ 140189 w 406538"/>
                      <a:gd name="connsiteY42" fmla="*/ 237141 h 517436"/>
                      <a:gd name="connsiteX43" fmla="*/ 138614 w 406538"/>
                      <a:gd name="connsiteY43" fmla="*/ 237141 h 517436"/>
                      <a:gd name="connsiteX44" fmla="*/ 129375 w 406538"/>
                      <a:gd name="connsiteY44" fmla="*/ 247920 h 517436"/>
                      <a:gd name="connsiteX45" fmla="*/ 138614 w 406538"/>
                      <a:gd name="connsiteY45" fmla="*/ 258700 h 517436"/>
                      <a:gd name="connsiteX46" fmla="*/ 147853 w 406538"/>
                      <a:gd name="connsiteY46" fmla="*/ 267551 h 517436"/>
                      <a:gd name="connsiteX47" fmla="*/ 147853 w 406538"/>
                      <a:gd name="connsiteY47" fmla="*/ 269479 h 517436"/>
                      <a:gd name="connsiteX48" fmla="*/ 147853 w 406538"/>
                      <a:gd name="connsiteY48" fmla="*/ 291037 h 517436"/>
                      <a:gd name="connsiteX49" fmla="*/ 110898 w 406538"/>
                      <a:gd name="connsiteY49" fmla="*/ 291037 h 517436"/>
                      <a:gd name="connsiteX50" fmla="*/ 110898 w 406538"/>
                      <a:gd name="connsiteY50" fmla="*/ 247920 h 517436"/>
                      <a:gd name="connsiteX51" fmla="*/ 117263 w 406538"/>
                      <a:gd name="connsiteY51" fmla="*/ 235244 h 517436"/>
                      <a:gd name="connsiteX52" fmla="*/ 123257 w 406538"/>
                      <a:gd name="connsiteY52" fmla="*/ 185550 h 517436"/>
                      <a:gd name="connsiteX53" fmla="*/ 117263 w 406538"/>
                      <a:gd name="connsiteY53" fmla="*/ 178557 h 517436"/>
                      <a:gd name="connsiteX54" fmla="*/ 110907 w 406538"/>
                      <a:gd name="connsiteY54" fmla="*/ 165891 h 517436"/>
                      <a:gd name="connsiteX55" fmla="*/ 117263 w 406538"/>
                      <a:gd name="connsiteY55" fmla="*/ 153226 h 517436"/>
                      <a:gd name="connsiteX56" fmla="*/ 123345 w 406538"/>
                      <a:gd name="connsiteY56" fmla="*/ 103839 h 517436"/>
                      <a:gd name="connsiteX57" fmla="*/ 117263 w 406538"/>
                      <a:gd name="connsiteY57" fmla="*/ 96743 h 517436"/>
                      <a:gd name="connsiteX58" fmla="*/ 110898 w 406538"/>
                      <a:gd name="connsiteY58" fmla="*/ 84077 h 517436"/>
                      <a:gd name="connsiteX59" fmla="*/ 117254 w 406538"/>
                      <a:gd name="connsiteY59" fmla="*/ 71412 h 517436"/>
                      <a:gd name="connsiteX60" fmla="*/ 129375 w 406538"/>
                      <a:gd name="connsiteY60" fmla="*/ 43117 h 517436"/>
                      <a:gd name="connsiteX61" fmla="*/ 129375 w 406538"/>
                      <a:gd name="connsiteY61" fmla="*/ 10779 h 517436"/>
                      <a:gd name="connsiteX62" fmla="*/ 120137 w 406538"/>
                      <a:gd name="connsiteY62" fmla="*/ 0 h 517436"/>
                      <a:gd name="connsiteX63" fmla="*/ 46226 w 406538"/>
                      <a:gd name="connsiteY63" fmla="*/ 0 h 517436"/>
                      <a:gd name="connsiteX64" fmla="*/ 33 w 406538"/>
                      <a:gd name="connsiteY64" fmla="*/ 53896 h 517436"/>
                      <a:gd name="connsiteX65" fmla="*/ 33 w 406538"/>
                      <a:gd name="connsiteY65" fmla="*/ 463503 h 517436"/>
                      <a:gd name="connsiteX66" fmla="*/ 42855 w 406538"/>
                      <a:gd name="connsiteY66" fmla="*/ 517399 h 517436"/>
                      <a:gd name="connsiteX67" fmla="*/ 46226 w 406538"/>
                      <a:gd name="connsiteY67" fmla="*/ 517399 h 517436"/>
                      <a:gd name="connsiteX68" fmla="*/ 360345 w 406538"/>
                      <a:gd name="connsiteY68" fmla="*/ 517399 h 517436"/>
                      <a:gd name="connsiteX69" fmla="*/ 406538 w 406538"/>
                      <a:gd name="connsiteY69" fmla="*/ 463503 h 517436"/>
                      <a:gd name="connsiteX70" fmla="*/ 406538 w 406538"/>
                      <a:gd name="connsiteY70" fmla="*/ 140129 h 517436"/>
                      <a:gd name="connsiteX71" fmla="*/ 403831 w 406538"/>
                      <a:gd name="connsiteY71" fmla="*/ 132508 h 517436"/>
                      <a:gd name="connsiteX72" fmla="*/ 147853 w 406538"/>
                      <a:gd name="connsiteY72" fmla="*/ 312595 h 517436"/>
                      <a:gd name="connsiteX73" fmla="*/ 147853 w 406538"/>
                      <a:gd name="connsiteY73" fmla="*/ 323374 h 517436"/>
                      <a:gd name="connsiteX74" fmla="*/ 140266 w 406538"/>
                      <a:gd name="connsiteY74" fmla="*/ 334154 h 517436"/>
                      <a:gd name="connsiteX75" fmla="*/ 138614 w 406538"/>
                      <a:gd name="connsiteY75" fmla="*/ 334154 h 517436"/>
                      <a:gd name="connsiteX76" fmla="*/ 120137 w 406538"/>
                      <a:gd name="connsiteY76" fmla="*/ 334154 h 517436"/>
                      <a:gd name="connsiteX77" fmla="*/ 110898 w 406538"/>
                      <a:gd name="connsiteY77" fmla="*/ 325302 h 517436"/>
                      <a:gd name="connsiteX78" fmla="*/ 110898 w 406538"/>
                      <a:gd name="connsiteY78" fmla="*/ 323374 h 517436"/>
                      <a:gd name="connsiteX79" fmla="*/ 110898 w 406538"/>
                      <a:gd name="connsiteY79" fmla="*/ 312595 h 5174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</a:cxnLst>
                    <a:rect l="l" t="t" r="r" b="b"/>
                    <a:pathLst>
                      <a:path w="406538" h="517436">
                        <a:moveTo>
                          <a:pt x="403831" y="132508"/>
                        </a:moveTo>
                        <a:lnTo>
                          <a:pt x="292966" y="3158"/>
                        </a:lnTo>
                        <a:cubicBezTo>
                          <a:pt x="291229" y="1146"/>
                          <a:pt x="288883" y="11"/>
                          <a:pt x="286434" y="0"/>
                        </a:cubicBezTo>
                        <a:lnTo>
                          <a:pt x="166330" y="0"/>
                        </a:lnTo>
                        <a:cubicBezTo>
                          <a:pt x="161228" y="0"/>
                          <a:pt x="157092" y="4826"/>
                          <a:pt x="157092" y="10779"/>
                        </a:cubicBezTo>
                        <a:cubicBezTo>
                          <a:pt x="157092" y="16732"/>
                          <a:pt x="161228" y="21558"/>
                          <a:pt x="166330" y="21558"/>
                        </a:cubicBezTo>
                        <a:lnTo>
                          <a:pt x="277196" y="21558"/>
                        </a:lnTo>
                        <a:lnTo>
                          <a:pt x="277196" y="97012"/>
                        </a:lnTo>
                        <a:cubicBezTo>
                          <a:pt x="277226" y="126764"/>
                          <a:pt x="297890" y="150872"/>
                          <a:pt x="323390" y="150908"/>
                        </a:cubicBezTo>
                        <a:lnTo>
                          <a:pt x="341867" y="150908"/>
                        </a:lnTo>
                        <a:cubicBezTo>
                          <a:pt x="346970" y="150908"/>
                          <a:pt x="351106" y="146082"/>
                          <a:pt x="351106" y="140129"/>
                        </a:cubicBezTo>
                        <a:cubicBezTo>
                          <a:pt x="351106" y="134176"/>
                          <a:pt x="346970" y="129350"/>
                          <a:pt x="341867" y="129350"/>
                        </a:cubicBezTo>
                        <a:lnTo>
                          <a:pt x="323390" y="129350"/>
                        </a:lnTo>
                        <a:cubicBezTo>
                          <a:pt x="308082" y="129350"/>
                          <a:pt x="295673" y="114872"/>
                          <a:pt x="295673" y="97012"/>
                        </a:cubicBezTo>
                        <a:lnTo>
                          <a:pt x="295673" y="36800"/>
                        </a:lnTo>
                        <a:lnTo>
                          <a:pt x="388061" y="144591"/>
                        </a:lnTo>
                        <a:lnTo>
                          <a:pt x="388061" y="463503"/>
                        </a:lnTo>
                        <a:cubicBezTo>
                          <a:pt x="388061" y="481363"/>
                          <a:pt x="375652" y="495841"/>
                          <a:pt x="360345" y="495841"/>
                        </a:cubicBezTo>
                        <a:lnTo>
                          <a:pt x="46226" y="495841"/>
                        </a:lnTo>
                        <a:cubicBezTo>
                          <a:pt x="31695" y="496746"/>
                          <a:pt x="19286" y="483736"/>
                          <a:pt x="18510" y="466781"/>
                        </a:cubicBezTo>
                        <a:cubicBezTo>
                          <a:pt x="18460" y="465689"/>
                          <a:pt x="18460" y="464595"/>
                          <a:pt x="18510" y="463503"/>
                        </a:cubicBezTo>
                        <a:lnTo>
                          <a:pt x="18510" y="53896"/>
                        </a:lnTo>
                        <a:cubicBezTo>
                          <a:pt x="18510" y="36036"/>
                          <a:pt x="30919" y="21558"/>
                          <a:pt x="46226" y="21558"/>
                        </a:cubicBezTo>
                        <a:lnTo>
                          <a:pt x="110898" y="21558"/>
                        </a:lnTo>
                        <a:lnTo>
                          <a:pt x="110898" y="43117"/>
                        </a:lnTo>
                        <a:cubicBezTo>
                          <a:pt x="110898" y="48506"/>
                          <a:pt x="108948" y="50899"/>
                          <a:pt x="104532" y="55793"/>
                        </a:cubicBezTo>
                        <a:cubicBezTo>
                          <a:pt x="97021" y="62584"/>
                          <a:pt x="92565" y="72992"/>
                          <a:pt x="92420" y="84077"/>
                        </a:cubicBezTo>
                        <a:cubicBezTo>
                          <a:pt x="92566" y="95179"/>
                          <a:pt x="97033" y="105600"/>
                          <a:pt x="104560" y="112394"/>
                        </a:cubicBezTo>
                        <a:cubicBezTo>
                          <a:pt x="108958" y="117245"/>
                          <a:pt x="110898" y="119627"/>
                          <a:pt x="110898" y="124930"/>
                        </a:cubicBezTo>
                        <a:cubicBezTo>
                          <a:pt x="110898" y="130234"/>
                          <a:pt x="108948" y="132713"/>
                          <a:pt x="104532" y="137607"/>
                        </a:cubicBezTo>
                        <a:cubicBezTo>
                          <a:pt x="91143" y="149362"/>
                          <a:pt x="88458" y="171555"/>
                          <a:pt x="98534" y="187177"/>
                        </a:cubicBezTo>
                        <a:cubicBezTo>
                          <a:pt x="100242" y="189825"/>
                          <a:pt x="102261" y="192181"/>
                          <a:pt x="104532" y="194176"/>
                        </a:cubicBezTo>
                        <a:cubicBezTo>
                          <a:pt x="108967" y="199102"/>
                          <a:pt x="110925" y="201495"/>
                          <a:pt x="110925" y="206960"/>
                        </a:cubicBezTo>
                        <a:cubicBezTo>
                          <a:pt x="110925" y="212425"/>
                          <a:pt x="108976" y="214731"/>
                          <a:pt x="104569" y="219625"/>
                        </a:cubicBezTo>
                        <a:cubicBezTo>
                          <a:pt x="97040" y="226408"/>
                          <a:pt x="92568" y="236823"/>
                          <a:pt x="92420" y="247920"/>
                        </a:cubicBezTo>
                        <a:lnTo>
                          <a:pt x="92420" y="323374"/>
                        </a:lnTo>
                        <a:cubicBezTo>
                          <a:pt x="91985" y="340727"/>
                          <a:pt x="103689" y="355204"/>
                          <a:pt x="118561" y="355712"/>
                        </a:cubicBezTo>
                        <a:cubicBezTo>
                          <a:pt x="119086" y="355730"/>
                          <a:pt x="119612" y="355730"/>
                          <a:pt x="120137" y="355712"/>
                        </a:cubicBezTo>
                        <a:lnTo>
                          <a:pt x="138614" y="355712"/>
                        </a:lnTo>
                        <a:cubicBezTo>
                          <a:pt x="153487" y="356220"/>
                          <a:pt x="165895" y="342565"/>
                          <a:pt x="166330" y="325212"/>
                        </a:cubicBezTo>
                        <a:cubicBezTo>
                          <a:pt x="166346" y="324600"/>
                          <a:pt x="166346" y="323987"/>
                          <a:pt x="166330" y="323374"/>
                        </a:cubicBezTo>
                        <a:lnTo>
                          <a:pt x="166330" y="269479"/>
                        </a:lnTo>
                        <a:cubicBezTo>
                          <a:pt x="166766" y="252126"/>
                          <a:pt x="155062" y="237649"/>
                          <a:pt x="140189" y="237141"/>
                        </a:cubicBezTo>
                        <a:cubicBezTo>
                          <a:pt x="139665" y="237123"/>
                          <a:pt x="139139" y="237123"/>
                          <a:pt x="138614" y="237141"/>
                        </a:cubicBezTo>
                        <a:cubicBezTo>
                          <a:pt x="133512" y="237141"/>
                          <a:pt x="129375" y="241967"/>
                          <a:pt x="129375" y="247920"/>
                        </a:cubicBezTo>
                        <a:cubicBezTo>
                          <a:pt x="129375" y="253874"/>
                          <a:pt x="133512" y="258700"/>
                          <a:pt x="138614" y="258700"/>
                        </a:cubicBezTo>
                        <a:cubicBezTo>
                          <a:pt x="143260" y="258167"/>
                          <a:pt x="147396" y="262131"/>
                          <a:pt x="147853" y="267551"/>
                        </a:cubicBezTo>
                        <a:cubicBezTo>
                          <a:pt x="147906" y="268193"/>
                          <a:pt x="147906" y="268838"/>
                          <a:pt x="147853" y="269479"/>
                        </a:cubicBezTo>
                        <a:lnTo>
                          <a:pt x="147853" y="291037"/>
                        </a:lnTo>
                        <a:lnTo>
                          <a:pt x="110898" y="291037"/>
                        </a:lnTo>
                        <a:lnTo>
                          <a:pt x="110898" y="247920"/>
                        </a:lnTo>
                        <a:cubicBezTo>
                          <a:pt x="110898" y="242531"/>
                          <a:pt x="112847" y="240138"/>
                          <a:pt x="117263" y="235244"/>
                        </a:cubicBezTo>
                        <a:cubicBezTo>
                          <a:pt x="130680" y="223453"/>
                          <a:pt x="133364" y="201205"/>
                          <a:pt x="123257" y="185550"/>
                        </a:cubicBezTo>
                        <a:cubicBezTo>
                          <a:pt x="121549" y="182904"/>
                          <a:pt x="119531" y="180550"/>
                          <a:pt x="117263" y="178557"/>
                        </a:cubicBezTo>
                        <a:cubicBezTo>
                          <a:pt x="112856" y="173663"/>
                          <a:pt x="110907" y="171270"/>
                          <a:pt x="110907" y="165891"/>
                        </a:cubicBezTo>
                        <a:cubicBezTo>
                          <a:pt x="110907" y="160512"/>
                          <a:pt x="112856" y="158119"/>
                          <a:pt x="117263" y="153226"/>
                        </a:cubicBezTo>
                        <a:cubicBezTo>
                          <a:pt x="130632" y="141547"/>
                          <a:pt x="133354" y="119436"/>
                          <a:pt x="123345" y="103839"/>
                        </a:cubicBezTo>
                        <a:cubicBezTo>
                          <a:pt x="121618" y="101148"/>
                          <a:pt x="119570" y="98758"/>
                          <a:pt x="117263" y="96743"/>
                        </a:cubicBezTo>
                        <a:cubicBezTo>
                          <a:pt x="112847" y="91849"/>
                          <a:pt x="110898" y="89467"/>
                          <a:pt x="110898" y="84077"/>
                        </a:cubicBezTo>
                        <a:cubicBezTo>
                          <a:pt x="110898" y="78688"/>
                          <a:pt x="112847" y="76306"/>
                          <a:pt x="117254" y="71412"/>
                        </a:cubicBezTo>
                        <a:cubicBezTo>
                          <a:pt x="124773" y="64622"/>
                          <a:pt x="129234" y="54208"/>
                          <a:pt x="129375" y="43117"/>
                        </a:cubicBezTo>
                        <a:lnTo>
                          <a:pt x="129375" y="10779"/>
                        </a:lnTo>
                        <a:cubicBezTo>
                          <a:pt x="129375" y="4826"/>
                          <a:pt x="125239" y="0"/>
                          <a:pt x="120137" y="0"/>
                        </a:cubicBezTo>
                        <a:lnTo>
                          <a:pt x="46226" y="0"/>
                        </a:lnTo>
                        <a:cubicBezTo>
                          <a:pt x="20727" y="36"/>
                          <a:pt x="63" y="24145"/>
                          <a:pt x="33" y="53896"/>
                        </a:cubicBezTo>
                        <a:lnTo>
                          <a:pt x="33" y="463503"/>
                        </a:lnTo>
                        <a:cubicBezTo>
                          <a:pt x="-898" y="492183"/>
                          <a:pt x="18274" y="516312"/>
                          <a:pt x="42855" y="517399"/>
                        </a:cubicBezTo>
                        <a:cubicBezTo>
                          <a:pt x="43978" y="517449"/>
                          <a:pt x="45103" y="517449"/>
                          <a:pt x="46226" y="517399"/>
                        </a:cubicBezTo>
                        <a:lnTo>
                          <a:pt x="360345" y="517399"/>
                        </a:lnTo>
                        <a:cubicBezTo>
                          <a:pt x="385845" y="517363"/>
                          <a:pt x="406508" y="493255"/>
                          <a:pt x="406538" y="463503"/>
                        </a:cubicBezTo>
                        <a:lnTo>
                          <a:pt x="406538" y="140129"/>
                        </a:lnTo>
                        <a:cubicBezTo>
                          <a:pt x="406538" y="137270"/>
                          <a:pt x="405565" y="134529"/>
                          <a:pt x="403831" y="132508"/>
                        </a:cubicBezTo>
                        <a:close/>
                        <a:moveTo>
                          <a:pt x="147853" y="312595"/>
                        </a:moveTo>
                        <a:lnTo>
                          <a:pt x="147853" y="323374"/>
                        </a:lnTo>
                        <a:cubicBezTo>
                          <a:pt x="148309" y="328795"/>
                          <a:pt x="144912" y="333621"/>
                          <a:pt x="140266" y="334154"/>
                        </a:cubicBezTo>
                        <a:cubicBezTo>
                          <a:pt x="139716" y="334216"/>
                          <a:pt x="139163" y="334216"/>
                          <a:pt x="138614" y="334154"/>
                        </a:cubicBezTo>
                        <a:lnTo>
                          <a:pt x="120137" y="334154"/>
                        </a:lnTo>
                        <a:cubicBezTo>
                          <a:pt x="115490" y="334686"/>
                          <a:pt x="111354" y="330723"/>
                          <a:pt x="110898" y="325302"/>
                        </a:cubicBezTo>
                        <a:cubicBezTo>
                          <a:pt x="110844" y="324660"/>
                          <a:pt x="110844" y="324015"/>
                          <a:pt x="110898" y="323374"/>
                        </a:cubicBezTo>
                        <a:lnTo>
                          <a:pt x="110898" y="312595"/>
                        </a:lnTo>
                        <a:close/>
                      </a:path>
                    </a:pathLst>
                  </a:custGeom>
                  <a:solidFill>
                    <a:srgbClr val="474C54"/>
                  </a:solidFill>
                  <a:ln w="912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defTabSz="4572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pic>
            <p:nvPicPr>
              <p:cNvPr id="39" name="圖形 38">
                <a:extLst>
                  <a:ext uri="{FF2B5EF4-FFF2-40B4-BE49-F238E27FC236}">
                    <a16:creationId xmlns:a16="http://schemas.microsoft.com/office/drawing/2014/main" id="{78B7E182-6DAC-62D7-F187-BA73C0E4C5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3518515" y="417698"/>
                <a:ext cx="165186" cy="165186"/>
              </a:xfrm>
              <a:prstGeom prst="rect">
                <a:avLst/>
              </a:prstGeom>
            </p:spPr>
          </p:pic>
        </p:grp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6019965F-4315-C68A-96F1-40A9A36D7FF6}"/>
                </a:ext>
              </a:extLst>
            </p:cNvPr>
            <p:cNvSpPr/>
            <p:nvPr/>
          </p:nvSpPr>
          <p:spPr>
            <a:xfrm>
              <a:off x="3393452" y="2168969"/>
              <a:ext cx="2189693" cy="12639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3D32FACD-102F-C193-E71F-86E5C92D34E0}"/>
              </a:ext>
            </a:extLst>
          </p:cNvPr>
          <p:cNvSpPr txBox="1"/>
          <p:nvPr/>
        </p:nvSpPr>
        <p:spPr>
          <a:xfrm>
            <a:off x="2024146" y="3978575"/>
            <a:ext cx="48522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Lato" panose="020B0604020202020204" charset="0"/>
              </a:rPr>
              <a:t>Roughly 1 minute to unpack 132 KB using Simon </a:t>
            </a:r>
          </a:p>
          <a:p>
            <a:pPr algn="ctr"/>
            <a:r>
              <a:rPr lang="en-US" dirty="0">
                <a:solidFill>
                  <a:schemeClr val="accent1"/>
                </a:solidFill>
                <a:latin typeface="Lato" panose="020B0604020202020204" charset="0"/>
              </a:rPr>
              <a:t>(5 minutes using AES)</a:t>
            </a:r>
          </a:p>
        </p:txBody>
      </p: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FD02064A-7CD1-74C6-8905-74C0C610FC32}"/>
              </a:ext>
            </a:extLst>
          </p:cNvPr>
          <p:cNvGrpSpPr/>
          <p:nvPr/>
        </p:nvGrpSpPr>
        <p:grpSpPr>
          <a:xfrm>
            <a:off x="2753331" y="4496130"/>
            <a:ext cx="4329553" cy="307777"/>
            <a:chOff x="4770756" y="4357601"/>
            <a:chExt cx="4329553" cy="307777"/>
          </a:xfrm>
        </p:grpSpPr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EAB91F9F-D0E3-EA1D-B3CF-CC005831BF3D}"/>
                </a:ext>
              </a:extLst>
            </p:cNvPr>
            <p:cNvSpPr txBox="1"/>
            <p:nvPr/>
          </p:nvSpPr>
          <p:spPr>
            <a:xfrm>
              <a:off x="5073156" y="4357601"/>
              <a:ext cx="40271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b="1" dirty="0">
                  <a:solidFill>
                    <a:schemeClr val="accent1"/>
                  </a:solidFill>
                  <a:latin typeface="Lato" panose="020B0604020202020204" charset="0"/>
                </a:rPr>
                <a:t>Slower, but defeats anti-virus tools!</a:t>
              </a:r>
            </a:p>
          </p:txBody>
        </p:sp>
        <p:sp>
          <p:nvSpPr>
            <p:cNvPr id="50" name="箭號: 向右 49">
              <a:extLst>
                <a:ext uri="{FF2B5EF4-FFF2-40B4-BE49-F238E27FC236}">
                  <a16:creationId xmlns:a16="http://schemas.microsoft.com/office/drawing/2014/main" id="{AD6CBC6F-2B35-4B93-CB44-D7C7CDC763C0}"/>
                </a:ext>
              </a:extLst>
            </p:cNvPr>
            <p:cNvSpPr/>
            <p:nvPr/>
          </p:nvSpPr>
          <p:spPr>
            <a:xfrm>
              <a:off x="4770756" y="4418536"/>
              <a:ext cx="330488" cy="197451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951025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B9358-5070-82AA-6BB2-112D14B56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weird gates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33C29E-41D5-C641-254F-2EC739C628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Branches and memory operations are not scalable</a:t>
            </a:r>
          </a:p>
          <a:p>
            <a:r>
              <a:rPr lang="en-US" dirty="0">
                <a:solidFill>
                  <a:schemeClr val="bg2"/>
                </a:solidFill>
              </a:rPr>
              <a:t>A weird register can only store 1 bit</a:t>
            </a:r>
          </a:p>
          <a:p>
            <a:r>
              <a:rPr lang="en-US" dirty="0">
                <a:solidFill>
                  <a:schemeClr val="bg2"/>
                </a:solidFill>
              </a:rPr>
              <a:t>A weird gate can only compute 4 bits at a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8A3406-84EE-BEC1-4BBD-CC2717D1B9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24</a:t>
            </a:fld>
            <a:endParaRPr lang="zh-TW" altLang="en-US"/>
          </a:p>
        </p:txBody>
      </p:sp>
      <p:sp>
        <p:nvSpPr>
          <p:cNvPr id="6" name="文字方塊 4">
            <a:extLst>
              <a:ext uri="{FF2B5EF4-FFF2-40B4-BE49-F238E27FC236}">
                <a16:creationId xmlns:a16="http://schemas.microsoft.com/office/drawing/2014/main" id="{D87C2F65-3883-300D-9A56-1125BE8F179B}"/>
              </a:ext>
            </a:extLst>
          </p:cNvPr>
          <p:cNvSpPr txBox="1"/>
          <p:nvPr/>
        </p:nvSpPr>
        <p:spPr>
          <a:xfrm>
            <a:off x="1894076" y="3030561"/>
            <a:ext cx="36270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Lato" panose="020B0604020202020204" charset="0"/>
              </a:rPr>
              <a:t>🤔 Can we make </a:t>
            </a:r>
            <a:r>
              <a:rPr lang="en-US" dirty="0" err="1">
                <a:solidFill>
                  <a:schemeClr val="bg2"/>
                </a:solidFill>
                <a:latin typeface="Lato" panose="020B0604020202020204" charset="0"/>
              </a:rPr>
              <a:t>μWMs</a:t>
            </a:r>
            <a:r>
              <a:rPr lang="en-US" dirty="0">
                <a:solidFill>
                  <a:schemeClr val="bg2"/>
                </a:solidFill>
                <a:latin typeface="Lato" panose="020B0604020202020204" charset="0"/>
              </a:rPr>
              <a:t> more powerful?</a:t>
            </a:r>
          </a:p>
        </p:txBody>
      </p:sp>
    </p:spTree>
    <p:extLst>
      <p:ext uri="{BB962C8B-B14F-4D97-AF65-F5344CB8AC3E}">
        <p14:creationId xmlns:p14="http://schemas.microsoft.com/office/powerpoint/2010/main" val="8994097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7847E-820F-2B13-894A-2E2EB932B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AAA79-E431-A029-8199-0B2451903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450" y="1757402"/>
            <a:ext cx="7688400" cy="1244700"/>
          </a:xfrm>
        </p:spPr>
        <p:txBody>
          <a:bodyPr/>
          <a:lstStyle/>
          <a:p>
            <a:r>
              <a:rPr lang="en-US" sz="5400" dirty="0"/>
              <a:t>Transient Arch Exec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2E33FE-2C3A-B2F4-4D35-09900E126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50" y="3267182"/>
            <a:ext cx="7688400" cy="586106"/>
          </a:xfrm>
        </p:spPr>
        <p:txBody>
          <a:bodyPr lIns="0"/>
          <a:lstStyle/>
          <a:p>
            <a:pPr marL="146050" indent="0">
              <a:buNone/>
            </a:pPr>
            <a:r>
              <a:rPr lang="en-US" sz="2400" dirty="0"/>
              <a:t>From weird gates to weird programs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49BB6B-140A-6941-154F-9CD8FADD9A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25560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C9B89-D96A-7B49-D82C-670541D86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C1DE3E-7442-F084-96C7-0DC2C02B104E}"/>
              </a:ext>
            </a:extLst>
          </p:cNvPr>
          <p:cNvSpPr/>
          <p:nvPr/>
        </p:nvSpPr>
        <p:spPr>
          <a:xfrm>
            <a:off x="650875" y="1640512"/>
            <a:ext cx="2790825" cy="9366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EA1ADC-E9A7-554A-7372-F9D72BD37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Transient arch exec: </a:t>
            </a:r>
            <a:r>
              <a:rPr lang="en-US" dirty="0">
                <a:solidFill>
                  <a:schemeClr val="accent3"/>
                </a:solidFill>
              </a:rPr>
              <a:t>μArch </a:t>
            </a:r>
            <a:r>
              <a:rPr lang="en-US" dirty="0"/>
              <a:t>state + </a:t>
            </a:r>
            <a:r>
              <a:rPr lang="en-US" altLang="zh-TW" dirty="0">
                <a:solidFill>
                  <a:schemeClr val="tx1"/>
                </a:solidFill>
              </a:rPr>
              <a:t>Arch</a:t>
            </a:r>
            <a:r>
              <a:rPr lang="en-US" dirty="0"/>
              <a:t> compute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99F514-3E0F-4867-D88E-4A6ABA6A48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26</a:t>
            </a:fld>
            <a:endParaRPr lang="zh-TW" altLang="en-US"/>
          </a:p>
        </p:txBody>
      </p:sp>
      <p:pic>
        <p:nvPicPr>
          <p:cNvPr id="1026" name="Picture 2" descr="CPUのイラスト（コンピューター）">
            <a:extLst>
              <a:ext uri="{FF2B5EF4-FFF2-40B4-BE49-F238E27FC236}">
                <a16:creationId xmlns:a16="http://schemas.microsoft.com/office/drawing/2014/main" id="{7B20A973-17CF-B05B-345A-77146D177F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416538">
            <a:off x="727075" y="1703219"/>
            <a:ext cx="983789" cy="848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793567-6F7B-98B6-5042-EA418B31DEDF}"/>
              </a:ext>
            </a:extLst>
          </p:cNvPr>
          <p:cNvSpPr txBox="1"/>
          <p:nvPr/>
        </p:nvSpPr>
        <p:spPr>
          <a:xfrm>
            <a:off x="1720849" y="1640512"/>
            <a:ext cx="1584325" cy="93662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en-US" altLang="zh-TW" sz="1600" b="1" dirty="0">
                <a:solidFill>
                  <a:schemeClr val="bg1"/>
                </a:solidFill>
                <a:latin typeface="Lato" panose="020B0604020202020204" charset="0"/>
              </a:rPr>
              <a:t>Architectural Computation</a:t>
            </a:r>
            <a:endParaRPr lang="en-US" sz="1600" b="1" dirty="0">
              <a:solidFill>
                <a:schemeClr val="bg1"/>
              </a:solidFill>
              <a:latin typeface="Lato" panose="020B060402020202020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8FC4B0-DFF5-6ACD-E626-36A3ABFF1B5F}"/>
              </a:ext>
            </a:extLst>
          </p:cNvPr>
          <p:cNvSpPr/>
          <p:nvPr/>
        </p:nvSpPr>
        <p:spPr>
          <a:xfrm>
            <a:off x="650873" y="2577137"/>
            <a:ext cx="2790825" cy="1600200"/>
          </a:xfrm>
          <a:prstGeom prst="rect">
            <a:avLst/>
          </a:prstGeom>
          <a:solidFill>
            <a:srgbClr val="E7EFED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ACD2CF-E0A9-C9C1-B120-0C88B49B4165}"/>
              </a:ext>
            </a:extLst>
          </p:cNvPr>
          <p:cNvSpPr txBox="1"/>
          <p:nvPr/>
        </p:nvSpPr>
        <p:spPr>
          <a:xfrm>
            <a:off x="650873" y="2669417"/>
            <a:ext cx="425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Lato" panose="020B0604020202020204" charset="0"/>
              </a:rPr>
              <a:t>✅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824BC9-5979-4A0F-6EEB-513F237A2CF4}"/>
              </a:ext>
            </a:extLst>
          </p:cNvPr>
          <p:cNvSpPr txBox="1"/>
          <p:nvPr/>
        </p:nvSpPr>
        <p:spPr>
          <a:xfrm>
            <a:off x="1044573" y="2669335"/>
            <a:ext cx="23971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Lato" panose="020B0604020202020204" charset="0"/>
              </a:rPr>
              <a:t>State: registers and memory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A4841B-2B7F-94F5-7C07-25940C143154}"/>
              </a:ext>
            </a:extLst>
          </p:cNvPr>
          <p:cNvSpPr txBox="1"/>
          <p:nvPr/>
        </p:nvSpPr>
        <p:spPr>
          <a:xfrm>
            <a:off x="1044573" y="2871306"/>
            <a:ext cx="20097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Architecturally visible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627C81-BD12-6320-233C-E4052729430E}"/>
              </a:ext>
            </a:extLst>
          </p:cNvPr>
          <p:cNvSpPr txBox="1"/>
          <p:nvPr/>
        </p:nvSpPr>
        <p:spPr>
          <a:xfrm>
            <a:off x="650873" y="3413776"/>
            <a:ext cx="425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Lato" panose="020B0604020202020204" charset="0"/>
              </a:rPr>
              <a:t>✅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68A867-96DD-5365-6590-57247A98C9B2}"/>
              </a:ext>
            </a:extLst>
          </p:cNvPr>
          <p:cNvSpPr txBox="1"/>
          <p:nvPr/>
        </p:nvSpPr>
        <p:spPr>
          <a:xfrm>
            <a:off x="1044572" y="3421132"/>
            <a:ext cx="23971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Lato" panose="020B0604020202020204" charset="0"/>
              </a:rPr>
              <a:t>Compute: ISA instructions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ED1826-C78F-EA3C-2D5E-E68CAB3D8123}"/>
              </a:ext>
            </a:extLst>
          </p:cNvPr>
          <p:cNvSpPr txBox="1"/>
          <p:nvPr/>
        </p:nvSpPr>
        <p:spPr>
          <a:xfrm>
            <a:off x="1044574" y="3642690"/>
            <a:ext cx="20097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ADD, AND, MOV, JMP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9D72B6A-188D-71A6-DC23-0E2814A4999F}"/>
              </a:ext>
            </a:extLst>
          </p:cNvPr>
          <p:cNvSpPr/>
          <p:nvPr/>
        </p:nvSpPr>
        <p:spPr>
          <a:xfrm>
            <a:off x="5017605" y="1640512"/>
            <a:ext cx="3352793" cy="9366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8964AA9-47CF-1CD8-1B8C-3E0F55D9E189}"/>
              </a:ext>
            </a:extLst>
          </p:cNvPr>
          <p:cNvSpPr txBox="1"/>
          <p:nvPr/>
        </p:nvSpPr>
        <p:spPr>
          <a:xfrm>
            <a:off x="6087579" y="1640512"/>
            <a:ext cx="2282820" cy="93662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en-US" altLang="zh-TW" sz="1600" b="1" dirty="0">
                <a:solidFill>
                  <a:schemeClr val="bg1"/>
                </a:solidFill>
                <a:latin typeface="Lato" panose="020B0604020202020204" charset="0"/>
              </a:rPr>
              <a:t>Microarchitectural “Weird” Computation</a:t>
            </a:r>
            <a:endParaRPr lang="en-US" sz="1600" b="1" dirty="0">
              <a:solidFill>
                <a:schemeClr val="bg1"/>
              </a:solidFill>
              <a:latin typeface="Lato" panose="020B060402020202020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F1B4B1-E125-0B0F-82BE-3B0C7F03730D}"/>
              </a:ext>
            </a:extLst>
          </p:cNvPr>
          <p:cNvSpPr/>
          <p:nvPr/>
        </p:nvSpPr>
        <p:spPr>
          <a:xfrm>
            <a:off x="5017603" y="2577137"/>
            <a:ext cx="3352795" cy="1600200"/>
          </a:xfrm>
          <a:prstGeom prst="rect">
            <a:avLst/>
          </a:prstGeom>
          <a:solidFill>
            <a:srgbClr val="FFECE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0C3532C-7D92-1481-AF52-81149E8EDDCD}"/>
              </a:ext>
            </a:extLst>
          </p:cNvPr>
          <p:cNvSpPr txBox="1"/>
          <p:nvPr/>
        </p:nvSpPr>
        <p:spPr>
          <a:xfrm>
            <a:off x="5017603" y="2669417"/>
            <a:ext cx="425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Lato" panose="020B0604020202020204" charset="0"/>
              </a:rPr>
              <a:t>🔥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0B021A-7865-8878-7CAC-F62F78AF9804}"/>
              </a:ext>
            </a:extLst>
          </p:cNvPr>
          <p:cNvSpPr txBox="1"/>
          <p:nvPr/>
        </p:nvSpPr>
        <p:spPr>
          <a:xfrm>
            <a:off x="5411303" y="2669335"/>
            <a:ext cx="30477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Lato" panose="020B0604020202020204" charset="0"/>
              </a:rPr>
              <a:t>State: </a:t>
            </a:r>
            <a:r>
              <a:rPr lang="en-US" sz="1200" b="1" dirty="0">
                <a:solidFill>
                  <a:schemeClr val="accent3"/>
                </a:solidFill>
                <a:latin typeface="Lato" panose="020B0604020202020204" charset="0"/>
              </a:rPr>
              <a:t>“weird” registers</a:t>
            </a:r>
            <a:r>
              <a:rPr lang="en-US" sz="1200" b="1" dirty="0">
                <a:latin typeface="Lato" panose="020B0604020202020204" charset="0"/>
              </a:rPr>
              <a:t> using μArch state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6FD1E3-3890-113E-A81F-434064586211}"/>
              </a:ext>
            </a:extLst>
          </p:cNvPr>
          <p:cNvSpPr txBox="1"/>
          <p:nvPr/>
        </p:nvSpPr>
        <p:spPr>
          <a:xfrm>
            <a:off x="5411303" y="2871306"/>
            <a:ext cx="2921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Cached = 1</a:t>
            </a:r>
          </a:p>
          <a:p>
            <a:r>
              <a:rPr lang="en-US" sz="1200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 cached = 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C813C2-B242-775D-E3AC-DA1B3507DCCC}"/>
              </a:ext>
            </a:extLst>
          </p:cNvPr>
          <p:cNvSpPr txBox="1"/>
          <p:nvPr/>
        </p:nvSpPr>
        <p:spPr>
          <a:xfrm>
            <a:off x="5017603" y="3413776"/>
            <a:ext cx="425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" panose="020B0604020202020204" charset="0"/>
              </a:rPr>
              <a:t>🔥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689D748-92CD-1481-8684-7C4A601EA309}"/>
              </a:ext>
            </a:extLst>
          </p:cNvPr>
          <p:cNvSpPr txBox="1"/>
          <p:nvPr/>
        </p:nvSpPr>
        <p:spPr>
          <a:xfrm>
            <a:off x="5411303" y="3421132"/>
            <a:ext cx="29590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Lato" panose="020B0604020202020204" charset="0"/>
              </a:rPr>
              <a:t>Compute: hardware side-effects</a:t>
            </a:r>
            <a:endParaRPr lang="en-US" sz="1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A5DBF4C-552B-DF4B-0CB1-E6113CA7E3D8}"/>
              </a:ext>
            </a:extLst>
          </p:cNvPr>
          <p:cNvSpPr txBox="1"/>
          <p:nvPr/>
        </p:nvSpPr>
        <p:spPr>
          <a:xfrm>
            <a:off x="5411305" y="3642690"/>
            <a:ext cx="2959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“Weird gates”</a:t>
            </a:r>
            <a:r>
              <a:rPr lang="en-US" sz="1200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compute with transient memory operations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FEC6464A-6BE6-B01A-DB32-CE52AC587B0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218" t="1440" r="18599" b="54162"/>
          <a:stretch>
            <a:fillRect/>
          </a:stretch>
        </p:blipFill>
        <p:spPr>
          <a:xfrm>
            <a:off x="5131900" y="1695076"/>
            <a:ext cx="898527" cy="770005"/>
          </a:xfrm>
          <a:prstGeom prst="rect">
            <a:avLst/>
          </a:prstGeom>
        </p:spPr>
      </p:pic>
      <p:sp>
        <p:nvSpPr>
          <p:cNvPr id="32" name="文字方塊 10">
            <a:extLst>
              <a:ext uri="{FF2B5EF4-FFF2-40B4-BE49-F238E27FC236}">
                <a16:creationId xmlns:a16="http://schemas.microsoft.com/office/drawing/2014/main" id="{D9A8B7A5-FBA1-0904-5748-B2889A2421D8}"/>
              </a:ext>
            </a:extLst>
          </p:cNvPr>
          <p:cNvSpPr txBox="1"/>
          <p:nvPr/>
        </p:nvSpPr>
        <p:spPr>
          <a:xfrm>
            <a:off x="0" y="4859675"/>
            <a:ext cx="15604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  <a:latin typeface="Lato" panose="020B0604020202020204" charset="0"/>
              </a:rPr>
              <a:t>Credit: irasutoya.com</a:t>
            </a:r>
          </a:p>
        </p:txBody>
      </p:sp>
      <p:sp>
        <p:nvSpPr>
          <p:cNvPr id="3" name="Multiplication Sign 2">
            <a:extLst>
              <a:ext uri="{FF2B5EF4-FFF2-40B4-BE49-F238E27FC236}">
                <a16:creationId xmlns:a16="http://schemas.microsoft.com/office/drawing/2014/main" id="{49CC82E7-A512-1F6E-BABD-D7413A0C4BD2}"/>
              </a:ext>
            </a:extLst>
          </p:cNvPr>
          <p:cNvSpPr/>
          <p:nvPr/>
        </p:nvSpPr>
        <p:spPr>
          <a:xfrm>
            <a:off x="6193973" y="3347237"/>
            <a:ext cx="1000053" cy="845530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D38F318-3ADC-D072-F82A-2D3003D1141C}"/>
              </a:ext>
            </a:extLst>
          </p:cNvPr>
          <p:cNvGrpSpPr/>
          <p:nvPr/>
        </p:nvGrpSpPr>
        <p:grpSpPr>
          <a:xfrm>
            <a:off x="3178139" y="2693417"/>
            <a:ext cx="1989762" cy="316388"/>
            <a:chOff x="3178139" y="2693417"/>
            <a:chExt cx="1989762" cy="316388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D486D8CF-DCA0-C9F4-296B-154C463089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78139" y="3009805"/>
              <a:ext cx="1989762" cy="0"/>
            </a:xfrm>
            <a:prstGeom prst="straightConnector1">
              <a:avLst/>
            </a:prstGeom>
            <a:ln w="28575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8BD210E-B38B-9974-77F8-D0B5A1216F3A}"/>
                </a:ext>
              </a:extLst>
            </p:cNvPr>
            <p:cNvSpPr txBox="1"/>
            <p:nvPr/>
          </p:nvSpPr>
          <p:spPr>
            <a:xfrm>
              <a:off x="3261749" y="2693417"/>
              <a:ext cx="187015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3"/>
                  </a:solidFill>
                  <a:latin typeface="Lato" panose="020B0604020202020204" charset="0"/>
                </a:rPr>
                <a:t>1️⃣ μArch </a:t>
              </a:r>
              <a:r>
                <a:rPr lang="en-US" dirty="0">
                  <a:latin typeface="Lato" panose="020B0604020202020204" charset="0"/>
                </a:rPr>
                <a:t>to </a:t>
              </a:r>
              <a:r>
                <a:rPr lang="en-US" dirty="0">
                  <a:solidFill>
                    <a:schemeClr val="tx1"/>
                  </a:solidFill>
                  <a:latin typeface="Lato" panose="020B0604020202020204" charset="0"/>
                </a:rPr>
                <a:t>Arch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4E7F315B-5E7F-AA09-132F-1687520A0A3C}"/>
              </a:ext>
            </a:extLst>
          </p:cNvPr>
          <p:cNvSpPr txBox="1"/>
          <p:nvPr/>
        </p:nvSpPr>
        <p:spPr>
          <a:xfrm>
            <a:off x="695393" y="3910918"/>
            <a:ext cx="24197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3"/>
                </a:solidFill>
                <a:latin typeface="Lato" panose="020B0604020202020204" charset="0"/>
              </a:rPr>
              <a:t>2️⃣ </a:t>
            </a:r>
            <a:r>
              <a:rPr lang="en-US" dirty="0">
                <a:solidFill>
                  <a:schemeClr val="tx1"/>
                </a:solidFill>
                <a:latin typeface="Lato" panose="020B0604020202020204" charset="0"/>
              </a:rPr>
              <a:t>Arch</a:t>
            </a:r>
            <a:r>
              <a:rPr lang="en-US" dirty="0">
                <a:latin typeface="Lato" panose="020B0604020202020204" charset="0"/>
              </a:rPr>
              <a:t> compute</a:t>
            </a:r>
            <a:endParaRPr lang="en-US" dirty="0">
              <a:solidFill>
                <a:schemeClr val="tx1"/>
              </a:solidFill>
              <a:latin typeface="Lato" panose="020B060402020202020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2FED2F5-C6BE-6E60-4D0E-953663B1239D}"/>
              </a:ext>
            </a:extLst>
          </p:cNvPr>
          <p:cNvSpPr/>
          <p:nvPr/>
        </p:nvSpPr>
        <p:spPr>
          <a:xfrm>
            <a:off x="695393" y="3394530"/>
            <a:ext cx="2308086" cy="546088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DAE408C-3C04-21C1-01BE-328A068BE223}"/>
              </a:ext>
            </a:extLst>
          </p:cNvPr>
          <p:cNvGrpSpPr/>
          <p:nvPr/>
        </p:nvGrpSpPr>
        <p:grpSpPr>
          <a:xfrm>
            <a:off x="3178139" y="3113070"/>
            <a:ext cx="1989762" cy="795763"/>
            <a:chOff x="3178139" y="3113070"/>
            <a:chExt cx="1989762" cy="795763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D97FD2AA-5F29-2C21-232B-4DFF8BFDFB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78139" y="3113070"/>
              <a:ext cx="1989762" cy="608483"/>
            </a:xfrm>
            <a:prstGeom prst="straightConnector1">
              <a:avLst/>
            </a:prstGeom>
            <a:ln w="28575">
              <a:solidFill>
                <a:schemeClr val="bg2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E104678-E9D3-16FB-AFBA-787FB66DF9E1}"/>
                </a:ext>
              </a:extLst>
            </p:cNvPr>
            <p:cNvSpPr txBox="1"/>
            <p:nvPr/>
          </p:nvSpPr>
          <p:spPr>
            <a:xfrm>
              <a:off x="3261749" y="3601056"/>
              <a:ext cx="187015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3"/>
                  </a:solidFill>
                  <a:latin typeface="Lato" panose="020B0604020202020204" charset="0"/>
                </a:rPr>
                <a:t>3️⃣ </a:t>
              </a:r>
              <a:r>
                <a:rPr lang="en-US" dirty="0">
                  <a:solidFill>
                    <a:schemeClr val="tx1"/>
                  </a:solidFill>
                  <a:latin typeface="Lato" panose="020B0604020202020204" charset="0"/>
                </a:rPr>
                <a:t>Arch</a:t>
              </a:r>
              <a:r>
                <a:rPr lang="en-US" dirty="0">
                  <a:latin typeface="Lato" panose="020B0604020202020204" charset="0"/>
                </a:rPr>
                <a:t> to</a:t>
              </a:r>
              <a:r>
                <a:rPr lang="en-US" dirty="0">
                  <a:solidFill>
                    <a:schemeClr val="tx1"/>
                  </a:solidFill>
                  <a:latin typeface="Lato" panose="020B0604020202020204" charset="0"/>
                </a:rPr>
                <a:t> </a:t>
              </a:r>
              <a:r>
                <a:rPr lang="en-US" dirty="0">
                  <a:solidFill>
                    <a:schemeClr val="accent3"/>
                  </a:solidFill>
                  <a:latin typeface="Lato" panose="020B0604020202020204" charset="0"/>
                </a:rPr>
                <a:t>μArch</a:t>
              </a:r>
              <a:endParaRPr lang="en-US" dirty="0">
                <a:latin typeface="Lato" panose="020B0604020202020204" charset="0"/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606F4AAC-C436-1C46-6C19-C0C53904F20C}"/>
              </a:ext>
            </a:extLst>
          </p:cNvPr>
          <p:cNvSpPr txBox="1"/>
          <p:nvPr/>
        </p:nvSpPr>
        <p:spPr>
          <a:xfrm>
            <a:off x="1400658" y="4366517"/>
            <a:ext cx="58391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Lato" panose="020B0604020202020204" charset="0"/>
              </a:rPr>
              <a:t>Plan: run 1️⃣2️⃣3️⃣ in one transient execution window</a:t>
            </a:r>
          </a:p>
        </p:txBody>
      </p:sp>
    </p:spTree>
    <p:extLst>
      <p:ext uri="{BB962C8B-B14F-4D97-AF65-F5344CB8AC3E}">
        <p14:creationId xmlns:p14="http://schemas.microsoft.com/office/powerpoint/2010/main" val="3904970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0" grpId="0"/>
      <p:bldP spid="33" grpId="0" animBg="1"/>
      <p:bldP spid="3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9E39C-57A3-2054-63A0-7F39EFD38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34B16-F99D-E65E-63A7-701D80965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 </a:t>
            </a:r>
            <a:r>
              <a:rPr lang="en-US" dirty="0">
                <a:solidFill>
                  <a:schemeClr val="accent3"/>
                </a:solidFill>
              </a:rPr>
              <a:t>cache states</a:t>
            </a:r>
            <a:r>
              <a:rPr lang="en-US" dirty="0"/>
              <a:t> to </a:t>
            </a:r>
            <a:r>
              <a:rPr lang="en-US" dirty="0">
                <a:solidFill>
                  <a:schemeClr val="tx1"/>
                </a:solidFill>
              </a:rPr>
              <a:t>Arch states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421B62-15F2-00FC-E215-03300330F8C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27</a:t>
            </a:fld>
            <a:endParaRPr lang="zh-TW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E7D46B-D4C2-EE1D-4731-91FBBB58AEDB}"/>
              </a:ext>
            </a:extLst>
          </p:cNvPr>
          <p:cNvSpPr txBox="1"/>
          <p:nvPr/>
        </p:nvSpPr>
        <p:spPr>
          <a:xfrm>
            <a:off x="535775" y="2345762"/>
            <a:ext cx="3659506" cy="1359346"/>
          </a:xfrm>
          <a:prstGeom prst="rect">
            <a:avLst/>
          </a:prstGeom>
          <a:solidFill>
            <a:srgbClr val="FFF2CC"/>
          </a:solidFill>
        </p:spPr>
        <p:txBody>
          <a:bodyPr wrap="square" rtlCol="0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sz="1800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cache2arch</a:t>
            </a: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input) {</a:t>
            </a:r>
          </a:p>
          <a:p>
            <a:pPr>
              <a:buNone/>
            </a:pP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(input[</a:t>
            </a:r>
            <a:r>
              <a:rPr lang="en-US" sz="1800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]) </a:t>
            </a:r>
            <a:r>
              <a:rPr lang="en-US" sz="18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C01A803-B4BE-5677-B141-7F92EA761D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1" y="2046516"/>
            <a:ext cx="4224454" cy="2135432"/>
          </a:xfrm>
        </p:spPr>
        <p:txBody>
          <a:bodyPr/>
          <a:lstStyle/>
          <a:p>
            <a:r>
              <a:rPr lang="en-US" dirty="0">
                <a:solidFill>
                  <a:srgbClr val="657B83"/>
                </a:solidFill>
                <a:latin typeface="Consolas" panose="020B0609020204030204" pitchFamily="49" charset="0"/>
              </a:rPr>
              <a:t>input[</a:t>
            </a:r>
            <a:r>
              <a:rPr lang="en-US" dirty="0">
                <a:solidFill>
                  <a:srgbClr val="D33682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657B83"/>
                </a:solidFill>
                <a:latin typeface="Consolas" panose="020B0609020204030204" pitchFamily="49" charset="0"/>
              </a:rPr>
              <a:t>]</a:t>
            </a:r>
            <a:r>
              <a:rPr lang="en-US" dirty="0">
                <a:solidFill>
                  <a:schemeClr val="bg2"/>
                </a:solidFill>
              </a:rPr>
              <a:t> is set to 0 architecturally</a:t>
            </a:r>
          </a:p>
          <a:p>
            <a:r>
              <a:rPr lang="en-US" dirty="0">
                <a:solidFill>
                  <a:schemeClr val="bg2"/>
                </a:solidFill>
              </a:rPr>
              <a:t>Return value (during transient execution):</a:t>
            </a:r>
          </a:p>
          <a:p>
            <a:pPr lvl="1"/>
            <a:r>
              <a:rPr lang="en-US" dirty="0">
                <a:solidFill>
                  <a:srgbClr val="657B83"/>
                </a:solidFill>
                <a:latin typeface="Consolas" panose="020B0609020204030204" pitchFamily="49" charset="0"/>
              </a:rPr>
              <a:t>input</a:t>
            </a:r>
            <a:r>
              <a:rPr lang="en-US" dirty="0">
                <a:solidFill>
                  <a:schemeClr val="bg2"/>
                </a:solidFill>
              </a:rPr>
              <a:t> is </a:t>
            </a:r>
            <a:r>
              <a:rPr lang="en-US" dirty="0">
                <a:solidFill>
                  <a:schemeClr val="tx1"/>
                </a:solidFill>
              </a:rPr>
              <a:t>cached</a:t>
            </a:r>
            <a:r>
              <a:rPr lang="en-US" dirty="0">
                <a:solidFill>
                  <a:schemeClr val="bg2"/>
                </a:solidFill>
              </a:rPr>
              <a:t>: return </a:t>
            </a:r>
            <a:r>
              <a:rPr lang="en-US" dirty="0">
                <a:solidFill>
                  <a:schemeClr val="tx1"/>
                </a:solidFill>
              </a:rPr>
              <a:t>1</a:t>
            </a:r>
          </a:p>
          <a:p>
            <a:pPr lvl="1"/>
            <a:r>
              <a:rPr lang="en-US" dirty="0">
                <a:solidFill>
                  <a:srgbClr val="657B83"/>
                </a:solidFill>
                <a:latin typeface="Consolas" panose="020B0609020204030204" pitchFamily="49" charset="0"/>
              </a:rPr>
              <a:t>input</a:t>
            </a:r>
            <a:r>
              <a:rPr lang="en-US" dirty="0">
                <a:solidFill>
                  <a:schemeClr val="bg2"/>
                </a:solidFill>
              </a:rPr>
              <a:t> is </a:t>
            </a:r>
            <a:r>
              <a:rPr lang="en-US" dirty="0">
                <a:solidFill>
                  <a:schemeClr val="accent3"/>
                </a:solidFill>
              </a:rPr>
              <a:t>not cached</a:t>
            </a:r>
            <a:r>
              <a:rPr lang="en-US" dirty="0">
                <a:solidFill>
                  <a:schemeClr val="bg2"/>
                </a:solidFill>
              </a:rPr>
              <a:t>: return </a:t>
            </a:r>
            <a:r>
              <a:rPr lang="en-US" dirty="0">
                <a:solidFill>
                  <a:schemeClr val="accent3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964558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E7A42-38C7-035D-CE9C-CEBD9BD44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A0D48-1F2A-72BF-8306-D903FE750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 </a:t>
            </a:r>
            <a:r>
              <a:rPr lang="en-US" dirty="0">
                <a:solidFill>
                  <a:schemeClr val="accent3"/>
                </a:solidFill>
              </a:rPr>
              <a:t>cache states</a:t>
            </a:r>
            <a:r>
              <a:rPr lang="en-US" dirty="0"/>
              <a:t> to </a:t>
            </a:r>
            <a:r>
              <a:rPr lang="en-US" dirty="0">
                <a:solidFill>
                  <a:schemeClr val="tx1"/>
                </a:solidFill>
              </a:rPr>
              <a:t>Arch states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03D90-AF80-9485-2812-58EB1764DAA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28</a:t>
            </a:fld>
            <a:endParaRPr lang="zh-TW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1D7D2B-61BB-3A86-0AF6-BB6035662916}"/>
              </a:ext>
            </a:extLst>
          </p:cNvPr>
          <p:cNvSpPr txBox="1"/>
          <p:nvPr/>
        </p:nvSpPr>
        <p:spPr>
          <a:xfrm>
            <a:off x="535775" y="2345759"/>
            <a:ext cx="3659506" cy="1359346"/>
          </a:xfrm>
          <a:prstGeom prst="rect">
            <a:avLst/>
          </a:prstGeom>
          <a:solidFill>
            <a:srgbClr val="FFF2CC"/>
          </a:solidFill>
        </p:spPr>
        <p:txBody>
          <a:bodyPr wrap="square" rtlCol="0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sz="1800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cache2arch</a:t>
            </a: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input) {</a:t>
            </a:r>
          </a:p>
          <a:p>
            <a:pPr>
              <a:buNone/>
            </a:pP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(input[</a:t>
            </a:r>
            <a:r>
              <a:rPr lang="en-US" sz="1800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]) </a:t>
            </a:r>
            <a:r>
              <a:rPr lang="en-US" sz="18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71EB36-1622-1A91-53B7-CA07E3EAA4AB}"/>
              </a:ext>
            </a:extLst>
          </p:cNvPr>
          <p:cNvSpPr txBox="1"/>
          <p:nvPr/>
        </p:nvSpPr>
        <p:spPr>
          <a:xfrm>
            <a:off x="4702626" y="2345759"/>
            <a:ext cx="3659506" cy="1359346"/>
          </a:xfrm>
          <a:prstGeom prst="rect">
            <a:avLst/>
          </a:prstGeom>
          <a:solidFill>
            <a:srgbClr val="FFF2CC"/>
          </a:solidFill>
        </p:spPr>
        <p:txBody>
          <a:bodyPr wrap="square" rtlCol="0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sz="1800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cache2arch</a:t>
            </a: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input) {</a:t>
            </a:r>
          </a:p>
          <a:p>
            <a:pPr>
              <a:buNone/>
            </a:pP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(input[</a:t>
            </a:r>
            <a:r>
              <a:rPr lang="en-US" sz="1800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]) </a:t>
            </a:r>
            <a:r>
              <a:rPr lang="en-US" sz="18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8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文字方塊 6">
            <a:extLst>
              <a:ext uri="{FF2B5EF4-FFF2-40B4-BE49-F238E27FC236}">
                <a16:creationId xmlns:a16="http://schemas.microsoft.com/office/drawing/2014/main" id="{697E9F3C-6297-15C8-566F-9CB8155AE845}"/>
              </a:ext>
            </a:extLst>
          </p:cNvPr>
          <p:cNvSpPr txBox="1"/>
          <p:nvPr/>
        </p:nvSpPr>
        <p:spPr>
          <a:xfrm>
            <a:off x="535775" y="3705105"/>
            <a:ext cx="36595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dirty="0">
                <a:solidFill>
                  <a:schemeClr val="tx1"/>
                </a:solidFill>
                <a:latin typeface="Lato" panose="020B0604020202020204" charset="0"/>
              </a:rPr>
              <a:t>Cached</a:t>
            </a:r>
            <a:endParaRPr lang="en-US" b="1" dirty="0">
              <a:solidFill>
                <a:schemeClr val="tx1"/>
              </a:solidFill>
              <a:latin typeface="Lato" panose="020B0604020202020204" charset="0"/>
            </a:endParaRPr>
          </a:p>
        </p:txBody>
      </p:sp>
      <p:sp>
        <p:nvSpPr>
          <p:cNvPr id="11" name="文字方塊 6">
            <a:extLst>
              <a:ext uri="{FF2B5EF4-FFF2-40B4-BE49-F238E27FC236}">
                <a16:creationId xmlns:a16="http://schemas.microsoft.com/office/drawing/2014/main" id="{1D6A378D-E338-FD31-70D8-842A4B988EFD}"/>
              </a:ext>
            </a:extLst>
          </p:cNvPr>
          <p:cNvSpPr txBox="1"/>
          <p:nvPr/>
        </p:nvSpPr>
        <p:spPr>
          <a:xfrm>
            <a:off x="4702626" y="3705105"/>
            <a:ext cx="36595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dirty="0">
                <a:solidFill>
                  <a:schemeClr val="accent3"/>
                </a:solidFill>
                <a:latin typeface="Lato" panose="020B0604020202020204" charset="0"/>
              </a:rPr>
              <a:t>Not cached</a:t>
            </a:r>
            <a:endParaRPr lang="en-US" b="1" dirty="0">
              <a:solidFill>
                <a:schemeClr val="accent3"/>
              </a:solidFill>
              <a:latin typeface="Lato" panose="020B060402020202020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41BB5A2-B5F0-D57E-9F71-2D1CA8ED08DF}"/>
              </a:ext>
            </a:extLst>
          </p:cNvPr>
          <p:cNvGrpSpPr/>
          <p:nvPr/>
        </p:nvGrpSpPr>
        <p:grpSpPr>
          <a:xfrm>
            <a:off x="1618342" y="2558791"/>
            <a:ext cx="1066802" cy="561777"/>
            <a:chOff x="1618342" y="2558791"/>
            <a:chExt cx="1066802" cy="561777"/>
          </a:xfrm>
        </p:grpSpPr>
        <p:cxnSp>
          <p:nvCxnSpPr>
            <p:cNvPr id="13" name="Connector: Elbow 12">
              <a:extLst>
                <a:ext uri="{FF2B5EF4-FFF2-40B4-BE49-F238E27FC236}">
                  <a16:creationId xmlns:a16="http://schemas.microsoft.com/office/drawing/2014/main" id="{43389FB7-FEBF-3658-8FF6-BE70C84078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02971" y="2724147"/>
              <a:ext cx="268515" cy="142421"/>
            </a:xfrm>
            <a:prstGeom prst="bentConnector3">
              <a:avLst>
                <a:gd name="adj1" fmla="val -1351"/>
              </a:avLst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39D2925-6978-944C-0878-32090219380A}"/>
                </a:ext>
              </a:extLst>
            </p:cNvPr>
            <p:cNvCxnSpPr>
              <a:cxnSpLocks/>
            </p:cNvCxnSpPr>
            <p:nvPr/>
          </p:nvCxnSpPr>
          <p:spPr>
            <a:xfrm>
              <a:off x="1618342" y="3120568"/>
              <a:ext cx="1008743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文字方塊 6">
              <a:extLst>
                <a:ext uri="{FF2B5EF4-FFF2-40B4-BE49-F238E27FC236}">
                  <a16:creationId xmlns:a16="http://schemas.microsoft.com/office/drawing/2014/main" id="{5147E09E-BFD9-2D74-CDFD-0A88F28EE1FE}"/>
                </a:ext>
              </a:extLst>
            </p:cNvPr>
            <p:cNvSpPr txBox="1"/>
            <p:nvPr/>
          </p:nvSpPr>
          <p:spPr>
            <a:xfrm>
              <a:off x="2271486" y="2558791"/>
              <a:ext cx="4136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dirty="0">
                  <a:solidFill>
                    <a:srgbClr val="FF0000"/>
                  </a:solidFill>
                  <a:latin typeface="Lato" panose="020B0604020202020204" charset="0"/>
                </a:rPr>
                <a:t>0</a:t>
              </a:r>
              <a:endParaRPr lang="en-US" dirty="0">
                <a:solidFill>
                  <a:srgbClr val="FF0000"/>
                </a:solidFill>
                <a:latin typeface="Lato" panose="020B0604020202020204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35873AB-1051-1CD7-9AB7-57204058B944}"/>
              </a:ext>
            </a:extLst>
          </p:cNvPr>
          <p:cNvGrpSpPr/>
          <p:nvPr/>
        </p:nvGrpSpPr>
        <p:grpSpPr>
          <a:xfrm>
            <a:off x="899886" y="2960911"/>
            <a:ext cx="1930400" cy="413657"/>
            <a:chOff x="899886" y="2960911"/>
            <a:chExt cx="1930400" cy="413657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1A1C186E-5B7E-17E0-3D00-D3201715D0FB}"/>
                </a:ext>
              </a:extLst>
            </p:cNvPr>
            <p:cNvSpPr/>
            <p:nvPr/>
          </p:nvSpPr>
          <p:spPr>
            <a:xfrm>
              <a:off x="899886" y="2960911"/>
              <a:ext cx="210457" cy="290286"/>
            </a:xfrm>
            <a:custGeom>
              <a:avLst/>
              <a:gdLst>
                <a:gd name="csX0" fmla="*/ 181428 w 210457"/>
                <a:gd name="csY0" fmla="*/ 0 h 290286"/>
                <a:gd name="csX1" fmla="*/ 0 w 210457"/>
                <a:gd name="csY1" fmla="*/ 0 h 290286"/>
                <a:gd name="csX2" fmla="*/ 0 w 210457"/>
                <a:gd name="csY2" fmla="*/ 290286 h 290286"/>
                <a:gd name="csX3" fmla="*/ 210457 w 210457"/>
                <a:gd name="csY3" fmla="*/ 290286 h 2902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0457" h="290286">
                  <a:moveTo>
                    <a:pt x="181428" y="0"/>
                  </a:moveTo>
                  <a:lnTo>
                    <a:pt x="0" y="0"/>
                  </a:lnTo>
                  <a:lnTo>
                    <a:pt x="0" y="290286"/>
                  </a:lnTo>
                  <a:lnTo>
                    <a:pt x="210457" y="290286"/>
                  </a:lnTo>
                </a:path>
              </a:pathLst>
            </a:custGeom>
            <a:noFill/>
            <a:ln w="1905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26094AA-A85F-119F-6B08-1F617855779E}"/>
                </a:ext>
              </a:extLst>
            </p:cNvPr>
            <p:cNvCxnSpPr>
              <a:cxnSpLocks/>
            </p:cNvCxnSpPr>
            <p:nvPr/>
          </p:nvCxnSpPr>
          <p:spPr>
            <a:xfrm>
              <a:off x="1741713" y="3374568"/>
              <a:ext cx="1088573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1BFD0A1-24CA-E4F1-917B-D7415CF9CD02}"/>
              </a:ext>
            </a:extLst>
          </p:cNvPr>
          <p:cNvGrpSpPr/>
          <p:nvPr/>
        </p:nvGrpSpPr>
        <p:grpSpPr>
          <a:xfrm>
            <a:off x="5783940" y="2558791"/>
            <a:ext cx="1219200" cy="561777"/>
            <a:chOff x="5783940" y="2558791"/>
            <a:chExt cx="1219200" cy="561777"/>
          </a:xfrm>
        </p:grpSpPr>
        <p:cxnSp>
          <p:nvCxnSpPr>
            <p:cNvPr id="37" name="Connector: Elbow 36">
              <a:extLst>
                <a:ext uri="{FF2B5EF4-FFF2-40B4-BE49-F238E27FC236}">
                  <a16:creationId xmlns:a16="http://schemas.microsoft.com/office/drawing/2014/main" id="{B05B0C33-ACDF-1B06-847F-F9332C75C4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68569" y="2724147"/>
              <a:ext cx="268515" cy="142421"/>
            </a:xfrm>
            <a:prstGeom prst="bentConnector3">
              <a:avLst>
                <a:gd name="adj1" fmla="val -1351"/>
              </a:avLst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4A5F452-0BE1-883E-FD8E-3B4BB38542A9}"/>
                </a:ext>
              </a:extLst>
            </p:cNvPr>
            <p:cNvCxnSpPr>
              <a:cxnSpLocks/>
            </p:cNvCxnSpPr>
            <p:nvPr/>
          </p:nvCxnSpPr>
          <p:spPr>
            <a:xfrm>
              <a:off x="5783940" y="3120568"/>
              <a:ext cx="1008743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字方塊 6">
              <a:extLst>
                <a:ext uri="{FF2B5EF4-FFF2-40B4-BE49-F238E27FC236}">
                  <a16:creationId xmlns:a16="http://schemas.microsoft.com/office/drawing/2014/main" id="{B51EDC95-B38A-53A6-EA4C-47D4C16C4305}"/>
                </a:ext>
              </a:extLst>
            </p:cNvPr>
            <p:cNvSpPr txBox="1"/>
            <p:nvPr/>
          </p:nvSpPr>
          <p:spPr>
            <a:xfrm>
              <a:off x="6437084" y="2558791"/>
              <a:ext cx="5660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dirty="0">
                  <a:solidFill>
                    <a:srgbClr val="FF0000"/>
                  </a:solidFill>
                  <a:latin typeface="Lato" panose="020B0604020202020204" charset="0"/>
                </a:rPr>
                <a:t>???</a:t>
              </a:r>
              <a:endParaRPr lang="en-US" dirty="0">
                <a:solidFill>
                  <a:srgbClr val="FF0000"/>
                </a:solidFill>
                <a:latin typeface="Lato" panose="020B0604020202020204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8C19D23-9F52-0CB7-CC29-4EB3BCDDD814}"/>
              </a:ext>
            </a:extLst>
          </p:cNvPr>
          <p:cNvGrpSpPr/>
          <p:nvPr/>
        </p:nvGrpSpPr>
        <p:grpSpPr>
          <a:xfrm>
            <a:off x="6836778" y="2570258"/>
            <a:ext cx="1525354" cy="550310"/>
            <a:chOff x="6836778" y="2570258"/>
            <a:chExt cx="1525354" cy="550310"/>
          </a:xfrm>
        </p:grpSpPr>
        <p:cxnSp>
          <p:nvCxnSpPr>
            <p:cNvPr id="40" name="接點: 肘形 41">
              <a:extLst>
                <a:ext uri="{FF2B5EF4-FFF2-40B4-BE49-F238E27FC236}">
                  <a16:creationId xmlns:a16="http://schemas.microsoft.com/office/drawing/2014/main" id="{C9E48D1C-DD13-EC90-8E4B-6417DF8AD29B}"/>
                </a:ext>
              </a:extLst>
            </p:cNvPr>
            <p:cNvCxnSpPr>
              <a:cxnSpLocks/>
            </p:cNvCxnSpPr>
            <p:nvPr/>
          </p:nvCxnSpPr>
          <p:spPr>
            <a:xfrm>
              <a:off x="6836778" y="2724147"/>
              <a:ext cx="243425" cy="178204"/>
            </a:xfrm>
            <a:prstGeom prst="bentConnector3">
              <a:avLst>
                <a:gd name="adj1" fmla="val 100518"/>
              </a:avLst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字方塊 42">
              <a:extLst>
                <a:ext uri="{FF2B5EF4-FFF2-40B4-BE49-F238E27FC236}">
                  <a16:creationId xmlns:a16="http://schemas.microsoft.com/office/drawing/2014/main" id="{C57EC6B2-A0BE-FA70-D685-0330ED740788}"/>
                </a:ext>
              </a:extLst>
            </p:cNvPr>
            <p:cNvSpPr txBox="1"/>
            <p:nvPr/>
          </p:nvSpPr>
          <p:spPr>
            <a:xfrm>
              <a:off x="7080203" y="2570258"/>
              <a:ext cx="12819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dirty="0">
                  <a:solidFill>
                    <a:srgbClr val="FF0000"/>
                  </a:solidFill>
                  <a:latin typeface="Lato" panose="020B0604020202020204" charset="0"/>
                </a:rPr>
                <a:t>Misprediction</a:t>
              </a: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AC07D90-B587-FDB2-23FD-181EAA16F11A}"/>
                </a:ext>
              </a:extLst>
            </p:cNvPr>
            <p:cNvCxnSpPr>
              <a:cxnSpLocks/>
            </p:cNvCxnSpPr>
            <p:nvPr/>
          </p:nvCxnSpPr>
          <p:spPr>
            <a:xfrm>
              <a:off x="7072946" y="3120568"/>
              <a:ext cx="1008743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68400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4B6C4-20A0-DC8C-EA1B-34F725C4C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Weird functions: new computational abilities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01DCAB-F477-D51E-AF1A-F50A85C2D8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29</a:t>
            </a:fld>
            <a:endParaRPr lang="zh-TW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B1BF2C-37C0-E67B-A877-F9606A2C9F2C}"/>
              </a:ext>
            </a:extLst>
          </p:cNvPr>
          <p:cNvSpPr txBox="1"/>
          <p:nvPr/>
        </p:nvSpPr>
        <p:spPr>
          <a:xfrm>
            <a:off x="535775" y="2298341"/>
            <a:ext cx="3881792" cy="1169551"/>
          </a:xfrm>
          <a:prstGeom prst="rect">
            <a:avLst/>
          </a:prstGeom>
          <a:solidFill>
            <a:srgbClr val="FFF2CC"/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condition</a:t>
            </a:r>
            <a:r>
              <a:rPr 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pPr>
              <a:buNone/>
            </a:pPr>
            <a:r>
              <a:rPr 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tmp_in1 </a:t>
            </a:r>
            <a:r>
              <a:rPr lang="en-US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cache2arch</a:t>
            </a:r>
            <a:r>
              <a:rPr 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(in1);</a:t>
            </a:r>
          </a:p>
          <a:p>
            <a:pPr>
              <a:buNone/>
            </a:pPr>
            <a:r>
              <a:rPr 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tmp_in2 </a:t>
            </a:r>
            <a:r>
              <a:rPr lang="en-US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cache2arch</a:t>
            </a:r>
            <a:r>
              <a:rPr 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(in2);</a:t>
            </a:r>
          </a:p>
          <a:p>
            <a:pPr>
              <a:buNone/>
            </a:pPr>
            <a:r>
              <a:rPr 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(tmp_in1 </a:t>
            </a:r>
            <a:r>
              <a:rPr lang="en-US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^</a:t>
            </a:r>
            <a:r>
              <a:rPr 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tmp_in2) </a:t>
            </a:r>
            <a:r>
              <a:rPr lang="en-US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(out);</a:t>
            </a:r>
          </a:p>
          <a:p>
            <a:pPr>
              <a:buNone/>
            </a:pPr>
            <a:r>
              <a:rPr 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文字方塊 14">
            <a:extLst>
              <a:ext uri="{FF2B5EF4-FFF2-40B4-BE49-F238E27FC236}">
                <a16:creationId xmlns:a16="http://schemas.microsoft.com/office/drawing/2014/main" id="{B16C5DE6-FDD0-B4B1-D33F-8F8C2380D9EB}"/>
              </a:ext>
            </a:extLst>
          </p:cNvPr>
          <p:cNvSpPr txBox="1"/>
          <p:nvPr/>
        </p:nvSpPr>
        <p:spPr>
          <a:xfrm>
            <a:off x="4921260" y="2105230"/>
            <a:ext cx="36149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Lato" panose="020B0604020202020204" charset="0"/>
              </a:rPr>
              <a:t>✨ Powerful instructions (e.g., AES-NI)! </a:t>
            </a:r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CBC58ABC-BFB7-75A3-316C-BE55B2523D5C}"/>
              </a:ext>
            </a:extLst>
          </p:cNvPr>
          <p:cNvSpPr txBox="1"/>
          <p:nvPr/>
        </p:nvSpPr>
        <p:spPr>
          <a:xfrm>
            <a:off x="4921259" y="2412179"/>
            <a:ext cx="3614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Lato" panose="020B0604020202020204" charset="0"/>
              </a:rPr>
              <a:t>✨ Branch instructions!</a:t>
            </a:r>
          </a:p>
        </p:txBody>
      </p:sp>
      <p:sp>
        <p:nvSpPr>
          <p:cNvPr id="8" name="文字方塊 14">
            <a:extLst>
              <a:ext uri="{FF2B5EF4-FFF2-40B4-BE49-F238E27FC236}">
                <a16:creationId xmlns:a16="http://schemas.microsoft.com/office/drawing/2014/main" id="{14A76CBB-C976-2315-DE96-0ADCA2089EB5}"/>
              </a:ext>
            </a:extLst>
          </p:cNvPr>
          <p:cNvSpPr txBox="1"/>
          <p:nvPr/>
        </p:nvSpPr>
        <p:spPr>
          <a:xfrm>
            <a:off x="4921261" y="2719956"/>
            <a:ext cx="36149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Lato" panose="020B0604020202020204" charset="0"/>
              </a:rPr>
              <a:t>✨ Dynamically access weird registers!</a:t>
            </a:r>
          </a:p>
        </p:txBody>
      </p:sp>
      <p:sp>
        <p:nvSpPr>
          <p:cNvPr id="9" name="文字方塊 5">
            <a:extLst>
              <a:ext uri="{FF2B5EF4-FFF2-40B4-BE49-F238E27FC236}">
                <a16:creationId xmlns:a16="http://schemas.microsoft.com/office/drawing/2014/main" id="{B9B1195C-51EF-D2DF-3C75-3FDFC218BDA5}"/>
              </a:ext>
            </a:extLst>
          </p:cNvPr>
          <p:cNvSpPr txBox="1"/>
          <p:nvPr/>
        </p:nvSpPr>
        <p:spPr>
          <a:xfrm>
            <a:off x="4921260" y="3026905"/>
            <a:ext cx="3614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chemeClr val="bg2"/>
                </a:solidFill>
                <a:latin typeface="Lato" panose="020B0604020202020204" charset="0"/>
              </a:rPr>
              <a:t>✨ Access to the (read-only) main memory!</a:t>
            </a:r>
          </a:p>
        </p:txBody>
      </p:sp>
      <p:sp>
        <p:nvSpPr>
          <p:cNvPr id="11" name="文字方塊 5">
            <a:extLst>
              <a:ext uri="{FF2B5EF4-FFF2-40B4-BE49-F238E27FC236}">
                <a16:creationId xmlns:a16="http://schemas.microsoft.com/office/drawing/2014/main" id="{A1EBECB1-D336-F245-5E59-FB34C4965A6F}"/>
              </a:ext>
            </a:extLst>
          </p:cNvPr>
          <p:cNvSpPr txBox="1"/>
          <p:nvPr/>
        </p:nvSpPr>
        <p:spPr>
          <a:xfrm>
            <a:off x="4921260" y="3333854"/>
            <a:ext cx="3614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chemeClr val="bg2"/>
                </a:solidFill>
                <a:latin typeface="Lato" panose="020B0604020202020204" charset="0"/>
              </a:rPr>
              <a:t>✨ Can be composed </a:t>
            </a:r>
            <a:r>
              <a:rPr lang="en-US">
                <a:solidFill>
                  <a:schemeClr val="bg2"/>
                </a:solidFill>
                <a:latin typeface="Lato" panose="020B0604020202020204" charset="0"/>
              </a:rPr>
              <a:t>into weird programs!</a:t>
            </a:r>
            <a:endParaRPr lang="en-US" dirty="0">
              <a:solidFill>
                <a:schemeClr val="bg2"/>
              </a:solidFill>
              <a:latin typeface="Lato" panose="020B0604020202020204" charset="0"/>
            </a:endParaRPr>
          </a:p>
        </p:txBody>
      </p:sp>
      <p:grpSp>
        <p:nvGrpSpPr>
          <p:cNvPr id="3" name="群組 47">
            <a:extLst>
              <a:ext uri="{FF2B5EF4-FFF2-40B4-BE49-F238E27FC236}">
                <a16:creationId xmlns:a16="http://schemas.microsoft.com/office/drawing/2014/main" id="{421E85B1-84F0-AF7D-D499-9171F7010451}"/>
              </a:ext>
            </a:extLst>
          </p:cNvPr>
          <p:cNvGrpSpPr/>
          <p:nvPr/>
        </p:nvGrpSpPr>
        <p:grpSpPr>
          <a:xfrm>
            <a:off x="5064389" y="3816810"/>
            <a:ext cx="2221782" cy="307777"/>
            <a:chOff x="4770756" y="4357601"/>
            <a:chExt cx="2221782" cy="307777"/>
          </a:xfrm>
        </p:grpSpPr>
        <p:sp>
          <p:nvSpPr>
            <p:cNvPr id="10" name="文字方塊 48">
              <a:extLst>
                <a:ext uri="{FF2B5EF4-FFF2-40B4-BE49-F238E27FC236}">
                  <a16:creationId xmlns:a16="http://schemas.microsoft.com/office/drawing/2014/main" id="{CE745F34-1A19-2C71-9395-7745DF3497C4}"/>
                </a:ext>
              </a:extLst>
            </p:cNvPr>
            <p:cNvSpPr txBox="1"/>
            <p:nvPr/>
          </p:nvSpPr>
          <p:spPr>
            <a:xfrm>
              <a:off x="5073156" y="4357601"/>
              <a:ext cx="19193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1"/>
                  </a:solidFill>
                  <a:latin typeface="Lato" panose="020B0604020202020204" charset="0"/>
                </a:rPr>
                <a:t>Details in our paper!</a:t>
              </a:r>
            </a:p>
          </p:txBody>
        </p:sp>
        <p:sp>
          <p:nvSpPr>
            <p:cNvPr id="12" name="箭號: 向右 49">
              <a:extLst>
                <a:ext uri="{FF2B5EF4-FFF2-40B4-BE49-F238E27FC236}">
                  <a16:creationId xmlns:a16="http://schemas.microsoft.com/office/drawing/2014/main" id="{EDE9F831-4ADB-1314-110D-C9CE3B058B5B}"/>
                </a:ext>
              </a:extLst>
            </p:cNvPr>
            <p:cNvSpPr/>
            <p:nvPr/>
          </p:nvSpPr>
          <p:spPr>
            <a:xfrm>
              <a:off x="4770756" y="4418536"/>
              <a:ext cx="330488" cy="197451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67883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/>
      <p:bldP spid="9" grpId="0"/>
      <p:bldP spid="1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8">
            <a:extLst>
              <a:ext uri="{FF2B5EF4-FFF2-40B4-BE49-F238E27FC236}">
                <a16:creationId xmlns:a16="http://schemas.microsoft.com/office/drawing/2014/main" id="{92648904-2911-F305-0F84-5F82534051C1}"/>
              </a:ext>
            </a:extLst>
          </p:cNvPr>
          <p:cNvSpPr txBox="1"/>
          <p:nvPr/>
        </p:nvSpPr>
        <p:spPr>
          <a:xfrm>
            <a:off x="434889" y="1610889"/>
            <a:ext cx="60599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chemeClr val="accent1"/>
                </a:solidFill>
                <a:latin typeface="Lato" panose="020B0604020202020204" charset="0"/>
              </a:rPr>
              <a:t>✨ Flexo: fast and accurate weird gates with compiler support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53614CB-13A4-EDD3-241A-382199AFE4F0}"/>
              </a:ext>
            </a:extLst>
          </p:cNvPr>
          <p:cNvSpPr txBox="1"/>
          <p:nvPr/>
        </p:nvSpPr>
        <p:spPr>
          <a:xfrm>
            <a:off x="404067" y="4072710"/>
            <a:ext cx="6394000" cy="841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  <a:latin typeface="Lato" panose="020B0604020202020204" charset="0"/>
              </a:rPr>
              <a:t>Bending microarchitectural weird machines towards practicality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1"/>
                </a:solidFill>
                <a:latin typeface="Lato" panose="020B0604020202020204" charset="0"/>
              </a:rPr>
              <a:t>Transient architectural </a:t>
            </a:r>
            <a:r>
              <a:rPr lang="en-US" dirty="0">
                <a:solidFill>
                  <a:schemeClr val="accent1"/>
                </a:solidFill>
                <a:latin typeface="Lato" panose="020B0604020202020204" charset="0"/>
              </a:rPr>
              <a:t>e</a:t>
            </a:r>
            <a:r>
              <a:rPr lang="en-US">
                <a:solidFill>
                  <a:schemeClr val="accent1"/>
                </a:solidFill>
                <a:latin typeface="Lato" panose="020B0604020202020204" charset="0"/>
              </a:rPr>
              <a:t>xecution: from weird </a:t>
            </a:r>
            <a:r>
              <a:rPr lang="en-US" dirty="0">
                <a:solidFill>
                  <a:schemeClr val="accent1"/>
                </a:solidFill>
                <a:latin typeface="Lato" panose="020B0604020202020204" charset="0"/>
              </a:rPr>
              <a:t>g</a:t>
            </a:r>
            <a:r>
              <a:rPr lang="en-US">
                <a:solidFill>
                  <a:schemeClr val="accent1"/>
                </a:solidFill>
                <a:latin typeface="Lato" panose="020B0604020202020204" charset="0"/>
              </a:rPr>
              <a:t>ates to weird </a:t>
            </a:r>
            <a:r>
              <a:rPr lang="en-US" dirty="0">
                <a:solidFill>
                  <a:schemeClr val="accent1"/>
                </a:solidFill>
                <a:latin typeface="Lato" panose="020B0604020202020204" charset="0"/>
              </a:rPr>
              <a:t>p</a:t>
            </a:r>
            <a:r>
              <a:rPr lang="en-US">
                <a:solidFill>
                  <a:schemeClr val="accent1"/>
                </a:solidFill>
                <a:latin typeface="Lato" panose="020B0604020202020204" charset="0"/>
              </a:rPr>
              <a:t>rograms</a:t>
            </a:r>
            <a:endParaRPr lang="en-US" dirty="0">
              <a:solidFill>
                <a:schemeClr val="accent1"/>
              </a:solidFill>
              <a:latin typeface="Lato" panose="020B0604020202020204" charset="0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  <a:latin typeface="Lato" panose="020B0604020202020204" charset="0"/>
              </a:rPr>
              <a:t>Contact: Ping-Lun Wang, pinglunw@andrew.cmu.edu</a:t>
            </a:r>
          </a:p>
        </p:txBody>
      </p:sp>
      <p:sp>
        <p:nvSpPr>
          <p:cNvPr id="13" name="文字方塊 8">
            <a:extLst>
              <a:ext uri="{FF2B5EF4-FFF2-40B4-BE49-F238E27FC236}">
                <a16:creationId xmlns:a16="http://schemas.microsoft.com/office/drawing/2014/main" id="{DFA20EDB-193B-7AB1-199B-D3FDFE846624}"/>
              </a:ext>
            </a:extLst>
          </p:cNvPr>
          <p:cNvSpPr txBox="1"/>
          <p:nvPr/>
        </p:nvSpPr>
        <p:spPr>
          <a:xfrm>
            <a:off x="434888" y="2107000"/>
            <a:ext cx="639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chemeClr val="accent1"/>
                </a:solidFill>
                <a:latin typeface="Lato" panose="020B0604020202020204" charset="0"/>
              </a:rPr>
              <a:t>✨ Transient Arch Exec: weird programs with powerful computational abilities</a:t>
            </a:r>
          </a:p>
        </p:txBody>
      </p:sp>
      <p:sp>
        <p:nvSpPr>
          <p:cNvPr id="14" name="文字方塊 8">
            <a:extLst>
              <a:ext uri="{FF2B5EF4-FFF2-40B4-BE49-F238E27FC236}">
                <a16:creationId xmlns:a16="http://schemas.microsoft.com/office/drawing/2014/main" id="{EF8D5DC7-8736-51E5-2B1B-12A26974E7B6}"/>
              </a:ext>
            </a:extLst>
          </p:cNvPr>
          <p:cNvSpPr txBox="1"/>
          <p:nvPr/>
        </p:nvSpPr>
        <p:spPr>
          <a:xfrm>
            <a:off x="434889" y="2603111"/>
            <a:ext cx="60599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chemeClr val="accent1"/>
                </a:solidFill>
                <a:latin typeface="Lato" panose="020B0604020202020204" charset="0"/>
              </a:rPr>
              <a:t>✨ μWMs are practical for program obfuscation or other attacks</a:t>
            </a:r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4DB49719-998D-6125-3FFC-F99DDAA41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775" y="780125"/>
            <a:ext cx="8000400" cy="535200"/>
          </a:xfrm>
        </p:spPr>
        <p:txBody>
          <a:bodyPr/>
          <a:lstStyle/>
          <a:p>
            <a:r>
              <a:rPr lang="en-US" dirty="0"/>
              <a:t>Takeaways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EEA50F89-4B17-43F7-9C56-D4BDD2E279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6792" y="2716924"/>
            <a:ext cx="1691810" cy="80562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D0C2730-58B0-51F0-4866-719593338F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3062" y="3581400"/>
            <a:ext cx="1373676" cy="750038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69FB3C81-A2E5-F8EF-937D-6787275AAA56}"/>
              </a:ext>
            </a:extLst>
          </p:cNvPr>
          <p:cNvGrpSpPr/>
          <p:nvPr/>
        </p:nvGrpSpPr>
        <p:grpSpPr>
          <a:xfrm>
            <a:off x="6875256" y="4448745"/>
            <a:ext cx="2121482" cy="440031"/>
            <a:chOff x="5710850" y="4203983"/>
            <a:chExt cx="3104376" cy="64389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65F565D-97B0-80CB-CF62-DC070949D9D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60076"/>
            <a:stretch>
              <a:fillRect/>
            </a:stretch>
          </p:blipFill>
          <p:spPr>
            <a:xfrm>
              <a:off x="5710850" y="4203983"/>
              <a:ext cx="1345916" cy="643899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D69C5DE-602C-DC13-5541-43879E4BCE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50380"/>
            <a:stretch>
              <a:fillRect/>
            </a:stretch>
          </p:blipFill>
          <p:spPr>
            <a:xfrm>
              <a:off x="7143964" y="4204567"/>
              <a:ext cx="1671262" cy="643315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7A51A6B-ECB5-6D17-280B-DD19E0E032D5}"/>
              </a:ext>
            </a:extLst>
          </p:cNvPr>
          <p:cNvGrpSpPr/>
          <p:nvPr/>
        </p:nvGrpSpPr>
        <p:grpSpPr>
          <a:xfrm>
            <a:off x="5847624" y="268296"/>
            <a:ext cx="1487521" cy="1671026"/>
            <a:chOff x="5847624" y="268296"/>
            <a:chExt cx="1487521" cy="1671026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1989C97-98AC-9C52-0971-952F55728F8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47624" y="268296"/>
              <a:ext cx="1487521" cy="1487521"/>
            </a:xfrm>
            <a:prstGeom prst="rect">
              <a:avLst/>
            </a:prstGeom>
          </p:spPr>
        </p:pic>
        <p:sp>
          <p:nvSpPr>
            <p:cNvPr id="16" name="文字方塊 6">
              <a:extLst>
                <a:ext uri="{FF2B5EF4-FFF2-40B4-BE49-F238E27FC236}">
                  <a16:creationId xmlns:a16="http://schemas.microsoft.com/office/drawing/2014/main" id="{5FC9CB3F-CB42-A8BD-07A1-ED45B985D377}"/>
                </a:ext>
              </a:extLst>
            </p:cNvPr>
            <p:cNvSpPr txBox="1"/>
            <p:nvPr/>
          </p:nvSpPr>
          <p:spPr>
            <a:xfrm>
              <a:off x="5988226" y="1631545"/>
              <a:ext cx="12063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dirty="0">
                  <a:solidFill>
                    <a:schemeClr val="bg2"/>
                  </a:solidFill>
                  <a:latin typeface="Lato" panose="020B0604020202020204" charset="0"/>
                </a:rPr>
                <a:t>▲ Flexo</a:t>
              </a:r>
              <a:endParaRPr lang="en-US" dirty="0">
                <a:solidFill>
                  <a:schemeClr val="bg2"/>
                </a:solidFill>
                <a:latin typeface="Lato" panose="020B0604020202020204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DF1BDA7-89FF-4464-002A-AC5E07A97E9E}"/>
              </a:ext>
            </a:extLst>
          </p:cNvPr>
          <p:cNvGrpSpPr/>
          <p:nvPr/>
        </p:nvGrpSpPr>
        <p:grpSpPr>
          <a:xfrm>
            <a:off x="7630319" y="355434"/>
            <a:ext cx="1347115" cy="1583888"/>
            <a:chOff x="7630319" y="355434"/>
            <a:chExt cx="1347115" cy="1583888"/>
          </a:xfrm>
        </p:grpSpPr>
        <p:sp>
          <p:nvSpPr>
            <p:cNvPr id="17" name="文字方塊 6">
              <a:extLst>
                <a:ext uri="{FF2B5EF4-FFF2-40B4-BE49-F238E27FC236}">
                  <a16:creationId xmlns:a16="http://schemas.microsoft.com/office/drawing/2014/main" id="{FD9AD5D5-0843-012F-1542-7429A5EFC006}"/>
                </a:ext>
              </a:extLst>
            </p:cNvPr>
            <p:cNvSpPr txBox="1"/>
            <p:nvPr/>
          </p:nvSpPr>
          <p:spPr>
            <a:xfrm>
              <a:off x="7700714" y="1631545"/>
              <a:ext cx="12063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dirty="0">
                  <a:solidFill>
                    <a:schemeClr val="bg2"/>
                  </a:solidFill>
                  <a:latin typeface="Lato" panose="020B0604020202020204" charset="0"/>
                </a:rPr>
                <a:t>▲ TAE</a:t>
              </a:r>
              <a:endParaRPr lang="en-US" dirty="0">
                <a:solidFill>
                  <a:schemeClr val="bg2"/>
                </a:solidFill>
                <a:latin typeface="Lato" panose="020B0604020202020204" charset="0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3E44F0E-9E0F-33DE-B128-3BBDDAA24E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6674" t="8426" r="7105" b="7521"/>
            <a:stretch>
              <a:fillRect/>
            </a:stretch>
          </p:blipFill>
          <p:spPr>
            <a:xfrm>
              <a:off x="7630319" y="355434"/>
              <a:ext cx="1347115" cy="13132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59220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 smtClean="0">
            <a:latin typeface="Lato" panose="020B060402020202020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10411</TotalTime>
  <Words>2324</Words>
  <Application>Microsoft Office PowerPoint</Application>
  <PresentationFormat>On-screen Show (16:9)</PresentationFormat>
  <Paragraphs>508</Paragraphs>
  <Slides>30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Consolas</vt:lpstr>
      <vt:lpstr>UD Digi Kyokasho N-B</vt:lpstr>
      <vt:lpstr>Lato</vt:lpstr>
      <vt:lpstr>Courier New</vt:lpstr>
      <vt:lpstr>Raleway</vt:lpstr>
      <vt:lpstr>MS PGothic</vt:lpstr>
      <vt:lpstr>Arial</vt:lpstr>
      <vt:lpstr>Calibri</vt:lpstr>
      <vt:lpstr>Streamline</vt:lpstr>
      <vt:lpstr>Encryption in the microarchitectural world</vt:lpstr>
      <vt:lpstr>Arch vs. μArch components</vt:lpstr>
      <vt:lpstr>μWMs: hidden computers in the CPU</vt:lpstr>
      <vt:lpstr>Existing µWMs need improvements…</vt:lpstr>
      <vt:lpstr>Our work: Flexo and Transient Arch Execution</vt:lpstr>
      <vt:lpstr>Background</vt:lpstr>
      <vt:lpstr>From Arch to μArch “weird” computation</vt:lpstr>
      <vt:lpstr>The construction of a weird gate</vt:lpstr>
      <vt:lpstr>The construction of a weird gate</vt:lpstr>
      <vt:lpstr>The construction of a weird gate</vt:lpstr>
      <vt:lpstr>The construction of a weird gate</vt:lpstr>
      <vt:lpstr>Prior work’s AND gate</vt:lpstr>
      <vt:lpstr>Prior work’s other types of gates</vt:lpstr>
      <vt:lpstr>Compose weird gates into weird circuits</vt:lpstr>
      <vt:lpstr>Flexo</vt:lpstr>
      <vt:lpstr>Flexo’s construction: differential encoding</vt:lpstr>
      <vt:lpstr>Differential encoding → many benefits!</vt:lpstr>
      <vt:lpstr>Applying Flexo’s differential encoding</vt:lpstr>
      <vt:lpstr>Applying Flexo’s differential encoding</vt:lpstr>
      <vt:lpstr>New encoding → much more scalable gates!</vt:lpstr>
      <vt:lpstr>Error correction with dynamic voting</vt:lpstr>
      <vt:lpstr>Flexo’s compiler: the first compiler for μWMs</vt:lpstr>
      <vt:lpstr>UPX + Flexo: the first μWM binary packer</vt:lpstr>
      <vt:lpstr>Limitations of weird gates</vt:lpstr>
      <vt:lpstr>Transient Arch Exec</vt:lpstr>
      <vt:lpstr>Transient arch exec: μArch state + Arch compute</vt:lpstr>
      <vt:lpstr>Convert cache states to Arch states</vt:lpstr>
      <vt:lpstr>Convert cache states to Arch states</vt:lpstr>
      <vt:lpstr>Weird functions: new computational abilities</vt:lpstr>
      <vt:lpstr>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ghost is the machine: Weird machines in transient execution</dc:title>
  <cp:lastModifiedBy>Joey Wang</cp:lastModifiedBy>
  <cp:revision>1427</cp:revision>
  <dcterms:modified xsi:type="dcterms:W3CDTF">2026-03-08T02:05:02Z</dcterms:modified>
</cp:coreProperties>
</file>